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88" r:id="rId4"/>
  </p:sldMasterIdLst>
  <p:notesMasterIdLst>
    <p:notesMasterId r:id="rId26"/>
  </p:notesMasterIdLst>
  <p:sldIdLst>
    <p:sldId id="278" r:id="rId5"/>
    <p:sldId id="4114" r:id="rId6"/>
    <p:sldId id="4118" r:id="rId7"/>
    <p:sldId id="4121" r:id="rId8"/>
    <p:sldId id="4128" r:id="rId9"/>
    <p:sldId id="4135" r:id="rId10"/>
    <p:sldId id="4129" r:id="rId11"/>
    <p:sldId id="4130" r:id="rId12"/>
    <p:sldId id="4131" r:id="rId13"/>
    <p:sldId id="4132" r:id="rId14"/>
    <p:sldId id="4136" r:id="rId15"/>
    <p:sldId id="4134" r:id="rId16"/>
    <p:sldId id="4133" r:id="rId17"/>
    <p:sldId id="4127" r:id="rId18"/>
    <p:sldId id="4126" r:id="rId19"/>
    <p:sldId id="4125" r:id="rId20"/>
    <p:sldId id="4137" r:id="rId21"/>
    <p:sldId id="4124" r:id="rId22"/>
    <p:sldId id="4138" r:id="rId23"/>
    <p:sldId id="4123" r:id="rId24"/>
    <p:sldId id="411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6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088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1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946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420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46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953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743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862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957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56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268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124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254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872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371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643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031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72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773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09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51EA-40F1-042D-56ED-B70F350DF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D080D-C19D-00FD-5006-500F3F67A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35D78-F745-AAAD-0074-681EA78C2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403F7-462F-654E-79FC-96BE43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41D2-8D9E-E76F-5B81-C6259827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58BE-554B-1DE7-4912-F3D912A8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1F566-0BF5-CC04-0D39-7C9EB8C6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9DF3-5CD2-9D75-59A0-65F6139A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C416D-1DEA-2072-1D2D-FF7D7449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1602-A7BB-3E4E-C935-92695F16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2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C2B2-7BE9-163F-9C39-6DC2A52A3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278A6-FC17-7BE6-94B8-52A036D5B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5B86-4AAC-551A-CF01-5E8513E9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60C06-F0F2-C266-5E07-99C3931E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3EE7-7BB5-C98A-1325-016C4325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5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AA62-9F74-233A-69AF-BA8DAD0E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8F59-CCE7-2B35-943B-AC8597729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8EF73-6533-6741-224E-F235452D2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AA60D-8C8C-7453-7C0F-F7D8D6C6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7E0E9-6B5B-3729-8341-EDC49CB0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30D96-8433-0AB0-14CB-F924102F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4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ABF3-CA58-D7CC-9380-BF1E6EBD9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060F0-E99A-7811-9462-FD043E2A6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71D8-8176-BD26-B097-F3C0924C5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4DC5C-4F86-F903-09B7-56ECB6876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1BDB9-FF0B-0DEB-F884-8E663FCB7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7CA072-65EB-50B4-1098-BB2207C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36FB4-FC97-32B5-1549-3C9955295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308D96-044C-3A09-C7B0-0D989EEC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70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77C2-B650-8362-924A-841093EA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374029-0078-27C3-E021-A0B94770E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88188-8963-8A55-3E75-E7A3ECFD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8F92A-0E4F-07B9-1D67-74B895B6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1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67433-4F05-3620-4088-40CAD87D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3C635-81B9-96CE-8FFC-5EEBD339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FF2F8-7B18-22A7-56E4-F3DD2C2B8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785F-2F41-2E10-BEC6-312D5F6C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A06C4-BBBB-CA33-7233-F7C0760EC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D1210-3644-9B54-3C9C-10C82DBF2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D7D7D-C0D2-4B01-5497-950A60E3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55376-0067-2160-B479-AD69C66D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03F41-6815-1729-ACC9-635968B3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89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5780-2559-23A5-BC8D-7A740238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F0093-876C-E15D-E31C-5C5503B5C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85DFC-C372-B076-38CE-EE8038F55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A555-4472-D476-9783-9B542BFB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ED8D2-6062-2A0A-D6F5-BAC9FF60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FC12-0CCA-F6DA-AE1E-EB04FD23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1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57A4-F321-716C-A236-DB05C6E6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D75F0-29A7-50D2-EC51-59CBA89A7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AA2A2-C61F-CAE0-5321-501FC1B4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8952-E622-CF59-8C0C-B5C1A6B7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625F8-AFF4-85A2-D462-FA6DC59E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4987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B7B4A-7E49-96A4-E24F-C9CEBCF799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3BD46-D8CB-C85B-3C78-096A76B13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0FC3-97DC-2172-B524-828A32F3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2C7F5-7426-F116-3AEA-8BFF322E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4EA9-751B-3168-4AD8-C208438D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594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B4EEA-942A-3C56-03F4-2F8A71A4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52287-078F-FA69-6BCD-3BE7E1F0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95A1-9541-08A8-7215-FFB50128A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0505D-DF78-3B3B-CA81-A94321BE9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351C6-C019-F1D0-72C3-17134E772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1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.libretexts.org/Bookshelves/Algebra/Algebra_and_Trigonometry_1e_(OpenStax)/02%3A_Equations_and_Inequalities/06%3A_Quadratic_Equatio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yjusfutureschool.com/blog/what-practical-applications-do-quadratic-equations-have-in-real-lif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66" y="163107"/>
            <a:ext cx="11158331" cy="5283536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QUADRATIC EQUATIONS</a:t>
            </a:r>
            <a:br>
              <a:rPr lang="en-UG" dirty="0"/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3</a:t>
            </a:r>
            <a:r>
              <a:rPr lang="en-US" sz="2700" b="1" baseline="30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ST</a:t>
            </a:r>
            <a:r>
              <a:rPr lang="en-US" sz="27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 OCTOBER 2026</a:t>
            </a:r>
            <a:br>
              <a:rPr lang="en-UG" sz="49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endParaRPr lang="en-US" sz="44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4" r="43228"/>
          <a:stretch/>
        </p:blipFill>
        <p:spPr>
          <a:xfrm>
            <a:off x="11264297" y="0"/>
            <a:ext cx="927704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EC4FC-B239-705F-F5B7-7A84794B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886" y="6069419"/>
            <a:ext cx="6851977" cy="625475"/>
          </a:xfrm>
        </p:spPr>
        <p:txBody>
          <a:bodyPr/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Arinda Shaman</a:t>
            </a:r>
          </a:p>
          <a:p>
            <a:endParaRPr 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60A58B-5BBD-4AF1-8E8A-66B8DDD28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81011" cy="2663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BF84CA-D404-41DE-947E-FBD3DB0E1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63687"/>
            <a:ext cx="60674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50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Introduction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quadratic equation is an equation that has a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 degree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equation that has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(2)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highest power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its variable(s).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be easily defined as a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expression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(consisting of variables, constants, and exponents combined by mathematical operations).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quadratic equation takes the form;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b="1" i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1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c = 0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Where a, and b are coefficients and c is a constant. To be more specific,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 coefficient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quadratic equation;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 and c can be zero (0) but not a (a≠0). </a:t>
            </a:r>
            <a:endParaRPr lang="en-UG" sz="24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5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Examples of quadratic equations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include;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+11X-35=0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=3X-17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=8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above examples can be re-written into the form;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i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c = 0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easy solving.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are different methods of solving quadratic equations, such as;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graphical, factorization,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quadratic formula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quadratic equation can have;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 solutions,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 solution or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 solution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explained in sections below.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64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Graphical solution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plot a quadratic function, say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Y=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b="1" i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c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compute values of Y for different assumed values of X to come up with coordinates (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aseline="-25000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which can be plotted on a graph.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02920" algn="l"/>
              </a:tabLst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graph of a quadratic equation is a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PARABOLA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(U-shaped curve) and it’s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solutions of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i="1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bX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c = 0 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the values of X where the parabola touches the X-axis.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ü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important to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the parabola can touch the X -axis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twice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 at all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illustrated in the following figures (though not conclusive).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9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Graphical solution (Illustrations for a Parabola)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7709B8-48D6-4C78-8348-A4808D006F6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3669" y="1298716"/>
            <a:ext cx="11257514" cy="467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62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226DD-9351-46C7-B937-469905AE4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458" y="0"/>
            <a:ext cx="10742612" cy="108029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02920" algn="l"/>
              </a:tabLst>
            </a:pP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Plot the equation 3X</a:t>
            </a:r>
            <a:r>
              <a:rPr lang="en-US" sz="26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+5X-2=0 on a graph</a:t>
            </a:r>
            <a:endParaRPr lang="en-UG" sz="2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83B16-E070-44CF-A2DD-E6D0E52D8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140" y="874643"/>
            <a:ext cx="6543844" cy="5726976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One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Compute the different coordinates (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of the function 3X</a:t>
            </a:r>
            <a:r>
              <a:rPr lang="en-US" sz="24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+5X-2=0 to plot the graph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endParaRPr lang="en-UG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G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553F51F5-A796-43C2-88F2-0E05E9F3A89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0251508"/>
              </p:ext>
            </p:extLst>
          </p:nvPr>
        </p:nvGraphicFramePr>
        <p:xfrm>
          <a:off x="1404192" y="2102841"/>
          <a:ext cx="1637665" cy="4513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1005887485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602216161"/>
                    </a:ext>
                  </a:extLst>
                </a:gridCol>
              </a:tblGrid>
              <a:tr h="1924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8776274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99421140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54999053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73724122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9881455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4243610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7323202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28564936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9533156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9810569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21621737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1959631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04490124"/>
                  </a:ext>
                </a:extLst>
              </a:tr>
              <a:tr h="19240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</a:t>
                      </a:r>
                      <a:endParaRPr lang="en-UG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G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  <a:endParaRPr lang="en-UG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25021439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0764" y="2095786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10C60FD2-59D2-42A6-88AC-03ACD93315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30887" y="831693"/>
                <a:ext cx="5241441" cy="572697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502920" algn="l"/>
                  </a:tabLst>
                </a:pPr>
                <a:r>
                  <a:rPr 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Two</a:t>
                </a:r>
                <a:r>
                  <a:rPr lang="en-US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Plot the function</a:t>
                </a:r>
                <a:endParaRPr lang="en-UG" sz="18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502920" algn="l"/>
                  </a:tabLst>
                </a:pP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  <a:tabLst>
                    <a:tab pos="50292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Thus, the values of X are;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and -2 as traced in the above graph. </a:t>
                </a:r>
                <a:endParaRPr lang="en-UG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G" dirty="0"/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10C60FD2-59D2-42A6-88AC-03ACD9331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887" y="831693"/>
                <a:ext cx="5241441" cy="5726976"/>
              </a:xfrm>
              <a:prstGeom prst="rect">
                <a:avLst/>
              </a:prstGeom>
              <a:blipFill>
                <a:blip r:embed="rId3"/>
                <a:stretch>
                  <a:fillRect l="-1279" r="-1163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6DD5BE-D1D8-494B-9E5B-4172F1086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583" y="1713268"/>
            <a:ext cx="4884238" cy="33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25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Exercise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 the quadratic functions below on a graph.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UcPeriod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Y= 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+2x+5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5X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+11X-35=0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U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Y= 4X- 3X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69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0"/>
            <a:ext cx="11811266" cy="752352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FACTORIZATION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02920" algn="l"/>
              </a:tabLst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Factorization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the process of finding expressions that can be multiplied to get the expression on one side of the equation.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Factoring operates on the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zero-product property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states; If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A* B= 0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then, either A= 0 or B= 0; where A and B are real numbers or expressions. This is because any number multiplied by a zero, the product is zero.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method is only used when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quadratic equation can be factorized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otherwise not.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cases where it can’t be factorized, it is advisable to use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quadratic formula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solve a quadratic equation, it is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first note whether the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leading coefficient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equal to one (a=1)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if it’s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 or equal two (a ≥2).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two scenarios call for different approaches as explained in the examples below.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5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020"/>
            <a:ext cx="12049804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(Solve the quadratic equations in the table below using the factorization method)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245CA97-7EFA-45D0-80A5-1D2263DBA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688729"/>
              </p:ext>
            </p:extLst>
          </p:nvPr>
        </p:nvGraphicFramePr>
        <p:xfrm>
          <a:off x="318052" y="755377"/>
          <a:ext cx="11555896" cy="5845810"/>
        </p:xfrm>
        <a:graphic>
          <a:graphicData uri="http://schemas.openxmlformats.org/drawingml/2006/table">
            <a:tbl>
              <a:tblPr firstRow="1" firstCol="1" bandRow="1"/>
              <a:tblGrid>
                <a:gridCol w="7116418">
                  <a:extLst>
                    <a:ext uri="{9D8B030D-6E8A-4147-A177-3AD203B41FA5}">
                      <a16:colId xmlns:a16="http://schemas.microsoft.com/office/drawing/2014/main" val="45407205"/>
                    </a:ext>
                  </a:extLst>
                </a:gridCol>
                <a:gridCol w="4439478">
                  <a:extLst>
                    <a:ext uri="{9D8B030D-6E8A-4147-A177-3AD203B41FA5}">
                      <a16:colId xmlns:a16="http://schemas.microsoft.com/office/drawing/2014/main" val="3398418888"/>
                    </a:ext>
                  </a:extLst>
                </a:gridCol>
              </a:tblGrid>
              <a:tr h="8382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i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 the leading coefficient is one (a=1)</a:t>
                      </a:r>
                      <a:endParaRPr lang="en-UG" sz="2000" i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63279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Solve X</a:t>
                      </a:r>
                      <a:r>
                        <a:rPr lang="en-US" sz="2000" b="1" i="0" baseline="300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i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+X-6=0</a:t>
                      </a:r>
                      <a:endParaRPr lang="en-UG" sz="2000" b="1" i="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1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Find two numbers whose product equals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 (-6)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whose sum equals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 (1)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a=1, b=1, c= -6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Factors of -6: 1*-6= -6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2*-3 = -6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-2*3= -6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 choose numbers -2 and 3; since -2*3= -6 and -2+3= 1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2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Then use those numbers to write two factors of the form (</a:t>
                      </a:r>
                      <a:r>
                        <a:rPr lang="en-US" sz="2000" i="0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x+k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or (x-k), where k is one of the numbers found in step 1 above. </a:t>
                      </a:r>
                      <a:r>
                        <a:rPr lang="en-US" sz="20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 the numbers exactly as they are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two factors are: (x+3) and (X-2) 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3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Solve by using the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zero-product rule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by equating each factor to zero. 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 product rule: 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A*B=0; where either A=0 or B=0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Thus; (x+3) (X-2) = 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 either (X-2) = 0 or (x+3)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X-2= 0 and x+3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u="wavy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X=2 and x= -3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670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00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020"/>
            <a:ext cx="12049804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(Solve the quadratic equations in the table below using the factorization method)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83E5BED-EB69-42D0-87A7-BBA49A93E6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562037"/>
              </p:ext>
            </p:extLst>
          </p:nvPr>
        </p:nvGraphicFramePr>
        <p:xfrm>
          <a:off x="142196" y="554990"/>
          <a:ext cx="11758256" cy="6098514"/>
        </p:xfrm>
        <a:graphic>
          <a:graphicData uri="http://schemas.openxmlformats.org/drawingml/2006/table">
            <a:tbl>
              <a:tblPr firstRow="1" firstCol="1" bandRow="1"/>
              <a:tblGrid>
                <a:gridCol w="5768274">
                  <a:extLst>
                    <a:ext uri="{9D8B030D-6E8A-4147-A177-3AD203B41FA5}">
                      <a16:colId xmlns:a16="http://schemas.microsoft.com/office/drawing/2014/main" val="1938630246"/>
                    </a:ext>
                  </a:extLst>
                </a:gridCol>
                <a:gridCol w="5989982">
                  <a:extLst>
                    <a:ext uri="{9D8B030D-6E8A-4147-A177-3AD203B41FA5}">
                      <a16:colId xmlns:a16="http://schemas.microsoft.com/office/drawing/2014/main" val="2331563854"/>
                    </a:ext>
                  </a:extLst>
                </a:gridCol>
              </a:tblGrid>
              <a:tr h="39414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When the leading coefficient is greater or equal to two (a ≥2)</a:t>
                      </a:r>
                      <a:endParaRPr lang="en-UG" sz="2000" i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332334"/>
                  </a:ext>
                </a:extLst>
              </a:tr>
              <a:tr h="5690209">
                <a:tc>
                  <a:txBody>
                    <a:bodyPr/>
                    <a:lstStyle/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Solve 2X</a:t>
                      </a:r>
                      <a:r>
                        <a:rPr lang="en-US" sz="2000" b="1" i="0" baseline="300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b="1" i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+9X+4=0</a:t>
                      </a:r>
                      <a:endParaRPr lang="en-UG" sz="2000" i="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1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Find two numbers whose product equals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ac(2*4)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whose sum equals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 (9)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a=2, b=9, c=4; thus ac=8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Factors of 8: 1*8= 8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2*4 = 8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 choose numbers 1 and 8; since 1*8= 8 and 1+8= 9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2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Re-write the equation replacing </a:t>
                      </a:r>
                      <a:r>
                        <a:rPr lang="en-US" sz="2000" b="1" i="0" dirty="0" err="1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bX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term with the two terms using the numbers found in step 1 above as coefficients of X. 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2X</a:t>
                      </a:r>
                      <a:r>
                        <a:rPr lang="en-US" sz="2000" i="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+1X +8X+4=0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u="none" strike="noStrike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3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Factor the first two terms and then factor the last two terms.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Note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that the expressions in the parentheses (brackets) must exactly be the same to use </a:t>
                      </a:r>
                      <a:r>
                        <a:rPr lang="en-US" sz="2000" b="1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GROUPING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(2X</a:t>
                      </a:r>
                      <a:r>
                        <a:rPr lang="en-US" sz="2000" i="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+1X) +(8X+4)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X(2X+1) +4(2X+1)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4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Factor out the expression in parentheses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(2X+1) (X+4)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u="sng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Step 5</a:t>
                      </a:r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i="0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Set the expressions equal to zero and solve for the variable (using the zero-product rule).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Thus; (2X+1) = 0 and (X+4)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 2X+1 = 0 and X+4 =0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0" u="wavy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X= -0.5 and x=-4</a:t>
                      </a:r>
                      <a:endParaRPr lang="en-UG" sz="2000" i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875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74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Exercise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r>
              <a:rPr lang="en-US" sz="3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the quadratic functions below by factorization.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02920" algn="l"/>
              </a:tabLst>
            </a:pP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02920" algn="l"/>
              </a:tabLst>
            </a:pP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02920" algn="l"/>
              </a:tabLst>
            </a:pP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02920" algn="l"/>
              </a:tabLst>
            </a:pPr>
            <a:endParaRPr lang="en-UG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300" b="1" u="sng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33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more examples on factorization, follow the link below: </a:t>
            </a:r>
            <a:endParaRPr lang="en-UG" sz="33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i="1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https://math.libretexts.org/Bookshelves/Algebra/Algebra_and_Trigonometry_1e_(OpenStax)/02%3A_Equations_and_Inequalities/06%3A_Quadratic_Equations</a:t>
            </a:r>
            <a:endParaRPr lang="en-UG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8B8FEE-C1C7-4A96-A775-2B4BD369A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581500"/>
              </p:ext>
            </p:extLst>
          </p:nvPr>
        </p:nvGraphicFramePr>
        <p:xfrm>
          <a:off x="3233419" y="1658317"/>
          <a:ext cx="5725160" cy="1851787"/>
        </p:xfrm>
        <a:graphic>
          <a:graphicData uri="http://schemas.openxmlformats.org/drawingml/2006/table">
            <a:tbl>
              <a:tblPr firstRow="1" firstCol="1" bandRow="1"/>
              <a:tblGrid>
                <a:gridCol w="2862580">
                  <a:extLst>
                    <a:ext uri="{9D8B030D-6E8A-4147-A177-3AD203B41FA5}">
                      <a16:colId xmlns:a16="http://schemas.microsoft.com/office/drawing/2014/main" val="281860747"/>
                    </a:ext>
                  </a:extLst>
                </a:gridCol>
                <a:gridCol w="2862580">
                  <a:extLst>
                    <a:ext uri="{9D8B030D-6E8A-4147-A177-3AD203B41FA5}">
                      <a16:colId xmlns:a16="http://schemas.microsoft.com/office/drawing/2014/main" val="1764554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2X</a:t>
                      </a:r>
                      <a:r>
                        <a:rPr lang="en-US" sz="28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+10X+12=0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4X</a:t>
                      </a:r>
                      <a:r>
                        <a:rPr lang="en-US" sz="28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-25=0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+4X=0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8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-9=0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28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+6Y+9=10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02920" algn="l"/>
                        </a:tabLs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57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59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THE QUADRATIC FORMULA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196" y="503583"/>
                <a:ext cx="11907608" cy="635441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502920" algn="l"/>
                  </a:tabLst>
                </a:pP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It is worth noting that in case a quadratic equation 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can’t be factorized</a:t>
                </a: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we can apply the 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quadratic formula</a:t>
                </a: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solve it. </a:t>
                </a:r>
                <a:endParaRPr lang="en-UG" sz="2400" dirty="0">
                  <a:solidFill>
                    <a:srgbClr val="0070C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502920" algn="l"/>
                  </a:tabLs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a quadratic equation aX</a:t>
                </a:r>
                <a:r>
                  <a:rPr lang="en-US" baseline="30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bX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c = 0</a:t>
                </a:r>
                <a:r>
                  <a:rPr lang="en-US" i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solution (values of X) can be computed by substituting a, b and c in the quadratic formula below;</a:t>
                </a:r>
                <a:endParaRPr lang="en-UG" sz="24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502920" algn="l"/>
                  </a:tabLst>
                </a:pPr>
                <a:r>
                  <a:rPr lang="en-US" sz="34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X=</a:t>
                </a:r>
                <a14:m>
                  <m:oMath xmlns:m="http://schemas.openxmlformats.org/officeDocument/2006/math">
                    <m:r>
                      <a:rPr lang="en-US" sz="36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G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G" sz="36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  <m:r>
                              <a:rPr lang="en-US" sz="36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²</m:t>
                            </m:r>
                          </m:e>
                        </m:rad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𝒂𝒄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sz="3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en-UG" sz="2400" b="1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spcAft>
                    <a:spcPts val="0"/>
                  </a:spcAft>
                  <a:buNone/>
                  <a:tabLst>
                    <a:tab pos="502920" algn="l"/>
                  </a:tabLst>
                </a:pPr>
                <a:r>
                  <a:rPr lang="en-US" b="1" u="sng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NOTE: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number of solutions for the quadratic equation depends on the value of 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b="1" baseline="30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- 4ac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that is;</a:t>
                </a:r>
                <a:endParaRPr lang="en-UG" sz="24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lvl="0" indent="-51435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  <a:tabLst>
                    <a:tab pos="502920" algn="l"/>
                  </a:tabLst>
                </a:pP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b</a:t>
                </a:r>
                <a:r>
                  <a:rPr lang="en-US" baseline="30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-4ac is 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negative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 we have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no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real solution since we cannot compute a square root of a negative number.</a:t>
                </a:r>
                <a:endParaRPr lang="en-UG" sz="2400" dirty="0">
                  <a:solidFill>
                    <a:srgbClr val="7030A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lvl="0" indent="-51435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  <a:tabLst>
                    <a:tab pos="502920" algn="l"/>
                  </a:tabLst>
                </a:pP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b</a:t>
                </a:r>
                <a:r>
                  <a:rPr lang="en-US" baseline="30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-4ac is 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zero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 we have only 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one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solution</a:t>
                </a:r>
                <a:endParaRPr lang="en-UG" sz="2400" dirty="0">
                  <a:solidFill>
                    <a:srgbClr val="7030A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lvl="0" indent="-514350" algn="just">
                  <a:lnSpc>
                    <a:spcPct val="150000"/>
                  </a:lnSpc>
                  <a:spcAft>
                    <a:spcPts val="0"/>
                  </a:spcAft>
                  <a:buFont typeface="+mj-lt"/>
                  <a:buAutoNum type="arabicPeriod"/>
                  <a:tabLst>
                    <a:tab pos="502920" algn="l"/>
                  </a:tabLst>
                </a:pP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b</a:t>
                </a:r>
                <a:r>
                  <a:rPr lang="en-US" baseline="3000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-4ac is 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positive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(greater than zero) then we have 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two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solutions since ± in the numerator ensures that.</a:t>
                </a:r>
                <a:endParaRPr lang="en-UG" sz="2400" dirty="0">
                  <a:solidFill>
                    <a:srgbClr val="7030A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G" dirty="0"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F395E6-7EFA-46ED-80BE-B4681ACDB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196" y="503583"/>
                <a:ext cx="11907608" cy="6354417"/>
              </a:xfrm>
              <a:blipFill>
                <a:blip r:embed="rId3"/>
                <a:stretch>
                  <a:fillRect l="-665" r="-614"/>
                </a:stretch>
              </a:blipFill>
            </p:spPr>
            <p:txBody>
              <a:bodyPr/>
              <a:lstStyle/>
              <a:p>
                <a:r>
                  <a:rPr lang="en-U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46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020"/>
            <a:ext cx="12192000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800" b="1" dirty="0">
                <a:latin typeface="Century Gothic" panose="020B0502020202020204" pitchFamily="34" charset="0"/>
              </a:rPr>
              <a:t>Examples (Solve the following equations using the quadratic formula)</a:t>
            </a:r>
            <a:br>
              <a:rPr lang="en-UG" sz="2800" b="1" dirty="0">
                <a:latin typeface="Century Gothic" panose="020B0502020202020204" pitchFamily="34" charset="0"/>
              </a:rPr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3A98E139-E2E2-4AD4-A092-A07E7967293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270901"/>
                  </p:ext>
                </p:extLst>
              </p:nvPr>
            </p:nvGraphicFramePr>
            <p:xfrm>
              <a:off x="142875" y="636589"/>
              <a:ext cx="11705039" cy="611539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059142">
                      <a:extLst>
                        <a:ext uri="{9D8B030D-6E8A-4147-A177-3AD203B41FA5}">
                          <a16:colId xmlns:a16="http://schemas.microsoft.com/office/drawing/2014/main" val="25589496"/>
                        </a:ext>
                      </a:extLst>
                    </a:gridCol>
                    <a:gridCol w="5645897">
                      <a:extLst>
                        <a:ext uri="{9D8B030D-6E8A-4147-A177-3AD203B41FA5}">
                          <a16:colId xmlns:a16="http://schemas.microsoft.com/office/drawing/2014/main" val="2058023580"/>
                        </a:ext>
                      </a:extLst>
                    </a:gridCol>
                  </a:tblGrid>
                  <a:tr h="6115392">
                    <a:tc>
                      <a:txBody>
                        <a:bodyPr/>
                        <a:lstStyle/>
                        <a:p>
                          <a:pPr marL="342900" lvl="0" indent="-342900"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Font typeface="+mj-lt"/>
                            <a:buAutoNum type="alphaUcPeriod"/>
                            <a:tabLst>
                              <a:tab pos="502920" algn="l"/>
                            </a:tabLst>
                          </a:pP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3X</a:t>
                          </a:r>
                          <a:r>
                            <a:rPr lang="en-US" sz="2400" b="1" baseline="300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+5X-2=0</a:t>
                          </a:r>
                          <a:endParaRPr lang="en-UG" sz="20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Using the formula 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²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−4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𝑎𝑐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; where a=3,b=5,c=-2</a:t>
                          </a:r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[5²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−(4∗3∗−2)]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2∗3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[25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−(−24)]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[25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+24)]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49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502920" algn="l"/>
                            </a:tabLst>
                            <a:defRPr/>
                          </a:pP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Thus; X=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−5+7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b="1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or X=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−5−7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8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18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en-US" sz="1600" b="1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Font typeface="+mj-lt"/>
                            <a:buNone/>
                            <a:tabLst>
                              <a:tab pos="502920" algn="l"/>
                            </a:tabLst>
                          </a:pP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B.   8X +4X</a:t>
                          </a:r>
                          <a:r>
                            <a:rPr lang="en-US" sz="2400" b="1" baseline="300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-5</a:t>
                          </a:r>
                          <a:endParaRPr lang="en-UG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Using the formula 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²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−4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𝑎𝑐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; </a:t>
                          </a:r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Re-write 8X +4X</a:t>
                          </a:r>
                          <a:r>
                            <a:rPr lang="en-US" sz="18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= -5 into the form 4X</a:t>
                          </a:r>
                          <a:r>
                            <a:rPr lang="en-US" sz="18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+ 8X +5= 0</a:t>
                          </a:r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where a=4, b=8, c=5</a:t>
                          </a:r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−8±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[8²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−(4∗4∗5)]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2∗3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[64</m:t>
                                      </m:r>
                                    </m:e>
                                  </m:rad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−(80)]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X=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G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−5±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G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−16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Thus, the equation has no real solutions since b</a:t>
                          </a:r>
                          <a:r>
                            <a:rPr lang="en-US" sz="20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-4ac is negative.</a:t>
                          </a:r>
                          <a:endParaRPr lang="en-UG" sz="18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tabLst>
                              <a:tab pos="502920" algn="l"/>
                            </a:tabLs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G" sz="1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7778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3A98E139-E2E2-4AD4-A092-A07E7967293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270901"/>
                  </p:ext>
                </p:extLst>
              </p:nvPr>
            </p:nvGraphicFramePr>
            <p:xfrm>
              <a:off x="142875" y="636589"/>
              <a:ext cx="11705039" cy="611539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059142">
                      <a:extLst>
                        <a:ext uri="{9D8B030D-6E8A-4147-A177-3AD203B41FA5}">
                          <a16:colId xmlns:a16="http://schemas.microsoft.com/office/drawing/2014/main" val="25589496"/>
                        </a:ext>
                      </a:extLst>
                    </a:gridCol>
                    <a:gridCol w="5645897">
                      <a:extLst>
                        <a:ext uri="{9D8B030D-6E8A-4147-A177-3AD203B41FA5}">
                          <a16:colId xmlns:a16="http://schemas.microsoft.com/office/drawing/2014/main" val="2058023580"/>
                        </a:ext>
                      </a:extLst>
                    </a:gridCol>
                  </a:tblGrid>
                  <a:tr h="6115392"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" t="-100" r="-93461" b="-1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G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BFBFB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7335" t="-100" r="-216" b="-1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07778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744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latin typeface="Century Gothic" panose="020B0502020202020204" pitchFamily="34" charset="0"/>
              </a:rPr>
              <a:t>Exercise</a:t>
            </a: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Solve the following using the quadratic formula;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+6X+9=0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7M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+6M=-1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2X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+4X+2=0</a:t>
            </a: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927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Quadratic simultaneous equations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636104"/>
            <a:ext cx="11907609" cy="608937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Quadratic simultaneous equations refer to a set of two or more equations that share variables raised to the power of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(2)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utmost.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Examples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such equations;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1A5F45-10AA-4853-A556-0ACBCE947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40794"/>
              </p:ext>
            </p:extLst>
          </p:nvPr>
        </p:nvGraphicFramePr>
        <p:xfrm>
          <a:off x="1881809" y="3344767"/>
          <a:ext cx="8521148" cy="2625980"/>
        </p:xfrm>
        <a:graphic>
          <a:graphicData uri="http://schemas.openxmlformats.org/drawingml/2006/table">
            <a:tbl>
              <a:tblPr firstRow="1" firstCol="1" bandRow="1"/>
              <a:tblGrid>
                <a:gridCol w="4260574">
                  <a:extLst>
                    <a:ext uri="{9D8B030D-6E8A-4147-A177-3AD203B41FA5}">
                      <a16:colId xmlns:a16="http://schemas.microsoft.com/office/drawing/2014/main" val="4203240473"/>
                    </a:ext>
                  </a:extLst>
                </a:gridCol>
                <a:gridCol w="4260574">
                  <a:extLst>
                    <a:ext uri="{9D8B030D-6E8A-4147-A177-3AD203B41FA5}">
                      <a16:colId xmlns:a16="http://schemas.microsoft.com/office/drawing/2014/main" val="828352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100"/>
                        <a:buFont typeface="Times New Roman" panose="02020603050405020304" pitchFamily="18" charset="0"/>
                        <a:buNone/>
                        <a:tabLst>
                          <a:tab pos="50292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A.       Y= X+2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0292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Y=X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+5x-7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100"/>
                        <a:buFont typeface="Times New Roman" panose="02020603050405020304" pitchFamily="18" charset="0"/>
                        <a:buNone/>
                        <a:tabLst>
                          <a:tab pos="50292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B.        Y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=29-X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0292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Y=X+5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08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100"/>
                        <a:buFont typeface="Times New Roman" panose="02020603050405020304" pitchFamily="18" charset="0"/>
                        <a:buNone/>
                        <a:tabLst>
                          <a:tab pos="50292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C.  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+6X+9=Y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+6X+1=Y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+4X+2=Y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  <a:buSzPts val="1100"/>
                        <a:buFont typeface="Times New Roman" panose="02020603050405020304" pitchFamily="18" charset="0"/>
                        <a:buNone/>
                        <a:tabLst>
                          <a:tab pos="502920" algn="l"/>
                        </a:tabLs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D.  Y=2X2+10X+12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=4X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-25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Y=X</a:t>
                      </a:r>
                      <a:r>
                        <a:rPr lang="en-US" sz="24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+4X</a:t>
                      </a:r>
                      <a:endParaRPr lang="en-UG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03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00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08"/>
            <a:ext cx="10515600" cy="661519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Quadratic simultaneous equations (</a:t>
            </a:r>
            <a:r>
              <a:rPr lang="en-US" sz="3200" b="1" dirty="0" err="1">
                <a:latin typeface="Century Gothic" panose="020B0502020202020204" pitchFamily="34" charset="0"/>
              </a:rPr>
              <a:t>Ct’d</a:t>
            </a:r>
            <a:r>
              <a:rPr lang="en-US" sz="3200" b="1" dirty="0">
                <a:latin typeface="Century Gothic" panose="020B0502020202020204" pitchFamily="34" charset="0"/>
              </a:rPr>
              <a:t>)</a:t>
            </a:r>
            <a:br>
              <a:rPr lang="en-UG" sz="36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sz="4000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4" y="808383"/>
            <a:ext cx="7889185" cy="5857460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important to note that under Quadratic simultaneous equations, one can get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solutions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since the graphs can intersect on a number of points.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q"/>
              <a:tabLst>
                <a:tab pos="50292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Take a look at the diagram (plot of a linear equation and a quadratic equation) on the side; we have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right answers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since we have two points of intersection.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solve Quadratic simultaneous equations we borrow the same methods that we used in solving systems of linear simultaneous equations (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graphical, elimination and substitution methods) in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CHAPTER 5.</a:t>
            </a:r>
            <a:endParaRPr lang="en-UG" sz="2000" dirty="0">
              <a:solidFill>
                <a:srgbClr val="7030A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  <a:tabLst>
                <a:tab pos="502920" algn="l"/>
              </a:tabLst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27DA48-2A1F-4B7B-BE9C-F9119173B6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062925" y="986872"/>
            <a:ext cx="4129075" cy="4598505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41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"/>
            <a:ext cx="11811266" cy="629164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Polynomials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424070"/>
            <a:ext cx="11907609" cy="630140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defined as a mathematical expression that consists of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variable(s)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constant(s)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exponent(s)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combined by </a:t>
            </a:r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or more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mathematical operations. </a:t>
            </a:r>
            <a:endParaRPr lang="en-UG" sz="2400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can also be defined as a mathematical term or a combination of two or more terms by mathematical operations (a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a constant or product of a constant and one or more variables)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polynomial can be either a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monomial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binomial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trinomial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there is are no special names for polynomials with more than three terms; they are just broadly categorized as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G" sz="2400" dirty="0">
              <a:solidFill>
                <a:srgbClr val="0070C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15000"/>
              </a:lnSpc>
              <a:spcAft>
                <a:spcPts val="0"/>
              </a:spcAft>
              <a:buNone/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721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9488"/>
            <a:ext cx="11811266" cy="629164"/>
          </a:xfrm>
        </p:spPr>
        <p:txBody>
          <a:bodyPr>
            <a:noAutofit/>
          </a:bodyPr>
          <a:lstStyle/>
          <a:p>
            <a:pPr algn="ctr"/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latin typeface="Century Gothic" panose="020B0502020202020204" pitchFamily="34" charset="0"/>
              </a:rPr>
              <a:t>Polynomials (</a:t>
            </a:r>
            <a:r>
              <a:rPr lang="en-US" sz="3200" b="1" dirty="0" err="1">
                <a:latin typeface="Century Gothic" panose="020B0502020202020204" pitchFamily="34" charset="0"/>
              </a:rPr>
              <a:t>Ct’d</a:t>
            </a:r>
            <a:r>
              <a:rPr lang="en-US" sz="3200" b="1" dirty="0">
                <a:latin typeface="Century Gothic" panose="020B0502020202020204" pitchFamily="34" charset="0"/>
              </a:rPr>
              <a:t>)</a:t>
            </a:r>
            <a:br>
              <a:rPr lang="en-UG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195" y="424070"/>
            <a:ext cx="11907609" cy="630140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Note that there is are no special names for polynomials with more than three terms; they are just broadly categorized as </a:t>
            </a:r>
            <a:r>
              <a:rPr lang="en-US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polynomials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G" sz="2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Monomial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A polynomial with exactly one term </a:t>
            </a:r>
            <a:r>
              <a:rPr lang="en-US" sz="2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4;  4X;  2X</a:t>
            </a:r>
            <a:r>
              <a:rPr lang="en-US" sz="26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G" sz="2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Binomial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A polynomial with exactly two terms </a:t>
            </a:r>
            <a:r>
              <a:rPr lang="en-US" sz="2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2+ 4X;  2X</a:t>
            </a:r>
            <a:r>
              <a:rPr lang="en-US" sz="26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endParaRPr lang="en-UG" sz="2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Trinomial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A polynomial with exactly three terms </a:t>
            </a:r>
            <a:r>
              <a:rPr lang="en-US" sz="2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3X</a:t>
            </a:r>
            <a:r>
              <a:rPr lang="en-US" sz="26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+3+ 4X;  2X</a:t>
            </a:r>
            <a:r>
              <a:rPr lang="en-US" sz="26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+X+4X</a:t>
            </a:r>
            <a:r>
              <a:rPr lang="en-US" sz="2600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G" sz="2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2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a combination of either one or two or all of the above plus as many other terms as possible. </a:t>
            </a:r>
            <a:r>
              <a:rPr lang="en-US" sz="26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example</a:t>
            </a:r>
            <a:r>
              <a:rPr lang="en-US" sz="2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G" sz="26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"/>
            </a:pPr>
            <a:endParaRPr lang="en-UG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E3D9AA3-7964-466E-ACAA-661F8F7BF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144319"/>
              </p:ext>
            </p:extLst>
          </p:nvPr>
        </p:nvGraphicFramePr>
        <p:xfrm>
          <a:off x="3584989" y="5138928"/>
          <a:ext cx="8128000" cy="1719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277606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64866116"/>
                    </a:ext>
                  </a:extLst>
                </a:gridCol>
              </a:tblGrid>
              <a:tr h="920915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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X+1</a:t>
                      </a:r>
                      <a:endParaRPr lang="en-UG" sz="20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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4M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-5M+2</a:t>
                      </a:r>
                      <a:endParaRPr lang="en-UG" sz="20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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+X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+4X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-3X+2</a:t>
                      </a:r>
                      <a:endParaRPr lang="en-UG" sz="20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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2X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+9XY</a:t>
                      </a:r>
                      <a:endParaRPr lang="en-UG" sz="2000" dirty="0"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"/>
                      </a:pP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6M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-M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+9M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+7MX</a:t>
                      </a:r>
                      <a:r>
                        <a:rPr lang="en-US" sz="2400" baseline="300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MX+1</a:t>
                      </a:r>
                    </a:p>
                    <a:p>
                      <a:endParaRPr lang="en-U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042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926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8" y="106020"/>
            <a:ext cx="11811266" cy="649357"/>
          </a:xfrm>
        </p:spPr>
        <p:txBody>
          <a:bodyPr>
            <a:noAutofit/>
          </a:bodyPr>
          <a:lstStyle/>
          <a:p>
            <a:pPr marL="457200" marR="0" lvl="1" algn="ctr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Agricultural Application and solving related problems</a:t>
            </a:r>
            <a:br>
              <a:rPr lang="en-UG" sz="1300" kern="1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G" dirty="0"/>
            </a:br>
            <a:br>
              <a:rPr lang="en-US" dirty="0"/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7A428CC-9977-409B-A4F2-DAE08F7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1805673"/>
            <a:ext cx="675246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G" altLang="en-U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G" altLang="en-U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395E6-7EFA-46ED-80BE-B4681ACD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36104"/>
            <a:ext cx="12192000" cy="6221896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Quadratic equations are used in day-to-day life in the following circumstances;</a:t>
            </a:r>
            <a:endParaRPr lang="en-UG" sz="3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fontAlgn="base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the area of a square; Area = a* a = a^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G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fontAlgn="base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determination (from either one or more products)</a:t>
            </a:r>
            <a:endParaRPr lang="en-UG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Profit= Revenue- Cost; But in cases where the profit per product (say X) is known for quantity q sold;</a:t>
            </a:r>
            <a:endParaRPr lang="en-UG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(q) =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Xq</a:t>
            </a:r>
            <a:endParaRPr lang="en-UG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scenarios where you have many products sold</a:t>
            </a:r>
            <a:endParaRPr lang="en-UG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40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qj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Xiqj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X1q1 + X2q2 + X3q3 + ……………………. +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Xnqn</a:t>
            </a:r>
            <a:endParaRPr lang="en-UG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profit function can be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nonlinear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(because profit does not scale linearly for all quantities). </a:t>
            </a:r>
            <a:endParaRPr lang="en-UG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more applications of quadratic equations, follow the link below; </a:t>
            </a:r>
            <a:r>
              <a:rPr lang="en-US" sz="3400" i="1" u="sng" dirty="0">
                <a:solidFill>
                  <a:srgbClr val="0563C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https://www.byjusfutureschool.com/blog/what-practical-applications-do-quadratic-equations-have-in-real-life/</a:t>
            </a:r>
            <a:endParaRPr lang="en-UG" sz="3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G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B491C8-92B8-41F5-B707-5AADC8318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17" y="702201"/>
            <a:ext cx="1109568" cy="110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05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28" y="453007"/>
            <a:ext cx="9261021" cy="744461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8" y="690407"/>
            <a:ext cx="9538701" cy="5541266"/>
          </a:xfrm>
        </p:spPr>
        <p:txBody>
          <a:bodyPr>
            <a:normAutofit fontScale="92500" lnSpcReduction="10000"/>
          </a:bodyPr>
          <a:lstStyle/>
          <a:p>
            <a:pPr marL="514350" indent="-51435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Font typeface="Wingdings" panose="05000000000000000000" pitchFamily="2" charset="2"/>
              <a:buChar char=""/>
            </a:pPr>
            <a:endParaRPr lang="en-US" sz="31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endParaRPr lang="en-US" sz="7200" dirty="0"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r>
              <a:rPr lang="en-US" sz="11500" b="1" dirty="0">
                <a:effectLst/>
                <a:latin typeface="Freestyle Script" panose="030804020302050B04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ct val="130000"/>
              <a:buNone/>
            </a:pPr>
            <a:r>
              <a:rPr lang="en-US" sz="11500" b="1" dirty="0">
                <a:latin typeface="Freestyle Script" panose="030804020302050B04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@ASK</a:t>
            </a:r>
            <a:endParaRPr lang="en-US" sz="11500" b="1" dirty="0">
              <a:effectLst/>
              <a:latin typeface="Freestyle Script" panose="030804020302050B0404" pitchFamily="66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7952509" y="775984"/>
            <a:ext cx="3997608" cy="562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5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5357</TotalTime>
  <Words>2194</Words>
  <Application>Microsoft Office PowerPoint</Application>
  <PresentationFormat>Widescreen</PresentationFormat>
  <Paragraphs>242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Century Gothic</vt:lpstr>
      <vt:lpstr>Freestyle Script</vt:lpstr>
      <vt:lpstr>Times New Roman</vt:lpstr>
      <vt:lpstr>Wingdings</vt:lpstr>
      <vt:lpstr>Office Theme</vt:lpstr>
      <vt:lpstr>     QUADRATIC EQUATIONS    3ST OCTOBER 2026 </vt:lpstr>
      <vt:lpstr>PowerPoint Presentation</vt:lpstr>
      <vt:lpstr>   Introduction   </vt:lpstr>
      <vt:lpstr>    Examples of quadratic equations    </vt:lpstr>
      <vt:lpstr>    Graphical solution    </vt:lpstr>
      <vt:lpstr>    Graphical solution (Illustrations for a Parabola)    </vt:lpstr>
      <vt:lpstr>PowerPoint Presentation</vt:lpstr>
      <vt:lpstr>   Exercise   </vt:lpstr>
      <vt:lpstr>    FACTORIZATION    </vt:lpstr>
      <vt:lpstr>   Examples (Solve the quadratic equations in the table below using the factorization method)   </vt:lpstr>
      <vt:lpstr>   Examples (Solve the quadratic equations in the table below using the factorization method)   </vt:lpstr>
      <vt:lpstr>   Exercise   </vt:lpstr>
      <vt:lpstr>    THE QUADRATIC FORMULA    </vt:lpstr>
      <vt:lpstr>   Examples (Solve the following equations using the quadratic formula)   </vt:lpstr>
      <vt:lpstr>   Exercise   </vt:lpstr>
      <vt:lpstr>    Quadratic simultaneous equations    </vt:lpstr>
      <vt:lpstr>    Quadratic simultaneous equations (Ct’d)    </vt:lpstr>
      <vt:lpstr>    Polynomials    </vt:lpstr>
      <vt:lpstr>    Polynomials (Ct’d)    </vt:lpstr>
      <vt:lpstr>   Agricultural Application and solving related problems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IMPLICATIONS OF MAINSTREAMING UGANDA COFFEE DEVELOPMENT AUTHORITY INTO THE MAAIF.</dc:title>
  <dc:creator>Chris Kyerere</dc:creator>
  <cp:lastModifiedBy>ASk</cp:lastModifiedBy>
  <cp:revision>218</cp:revision>
  <dcterms:created xsi:type="dcterms:W3CDTF">2022-08-24T21:51:22Z</dcterms:created>
  <dcterms:modified xsi:type="dcterms:W3CDTF">2026-09-30T18:35:27Z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