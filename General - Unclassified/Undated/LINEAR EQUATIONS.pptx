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88" r:id="rId4"/>
  </p:sldMasterIdLst>
  <p:notesMasterIdLst>
    <p:notesMasterId r:id="rId25"/>
  </p:notesMasterIdLst>
  <p:sldIdLst>
    <p:sldId id="278" r:id="rId5"/>
    <p:sldId id="4132" r:id="rId6"/>
    <p:sldId id="4131" r:id="rId7"/>
    <p:sldId id="4130" r:id="rId8"/>
    <p:sldId id="4137" r:id="rId9"/>
    <p:sldId id="4133" r:id="rId10"/>
    <p:sldId id="4129" r:id="rId11"/>
    <p:sldId id="4128" r:id="rId12"/>
    <p:sldId id="4140" r:id="rId13"/>
    <p:sldId id="4127" r:id="rId14"/>
    <p:sldId id="4141" r:id="rId15"/>
    <p:sldId id="4126" r:id="rId16"/>
    <p:sldId id="4125" r:id="rId17"/>
    <p:sldId id="4124" r:id="rId18"/>
    <p:sldId id="4134" r:id="rId19"/>
    <p:sldId id="4135" r:id="rId20"/>
    <p:sldId id="4136" r:id="rId21"/>
    <p:sldId id="4138" r:id="rId22"/>
    <p:sldId id="4123" r:id="rId23"/>
    <p:sldId id="411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5" autoAdjust="0"/>
    <p:restoredTop sz="94619" autoAdjust="0"/>
  </p:normalViewPr>
  <p:slideViewPr>
    <p:cSldViewPr snapToGrid="0">
      <p:cViewPr varScale="1">
        <p:scale>
          <a:sx n="63" d="100"/>
          <a:sy n="63" d="100"/>
        </p:scale>
        <p:origin x="68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9/24/2026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4959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5584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8010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9238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9675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5066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9537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8574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511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44658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7616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81851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9934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1037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50301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7344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16376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22395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3094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251EA-40F1-042D-56ED-B70F350DF6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2D080D-C19D-00FD-5006-500F3F67AF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C35D78-F745-AAAD-0074-681EA78C2494}"/>
              </a:ext>
            </a:extLst>
          </p:cNvPr>
          <p:cNvSpPr>
            <a:spLocks noGrp="1"/>
          </p:cNvSpPr>
          <p:nvPr>
            <p:ph type="dt" sz="half" idx="10"/>
          </p:nvPr>
        </p:nvSpPr>
        <p:spPr/>
        <p:txBody>
          <a:bodyPr/>
          <a:lstStyle/>
          <a:p>
            <a:fld id="{88D38747-4367-4BD2-8D51-C97E202738E2}" type="datetime1">
              <a:rPr lang="en-US" smtClean="0"/>
              <a:t>9/24/2026</a:t>
            </a:fld>
            <a:endParaRPr lang="en-US" dirty="0"/>
          </a:p>
        </p:txBody>
      </p:sp>
      <p:sp>
        <p:nvSpPr>
          <p:cNvPr id="5" name="Footer Placeholder 4">
            <a:extLst>
              <a:ext uri="{FF2B5EF4-FFF2-40B4-BE49-F238E27FC236}">
                <a16:creationId xmlns:a16="http://schemas.microsoft.com/office/drawing/2014/main" id="{800403F7-462F-654E-79FC-96BE43B907B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9A41D2-8D9E-E76F-5B81-C6259827B50D}"/>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778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058BE-554B-1DE7-4912-F3D912A847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41F566-0BF5-CC04-0D39-7C9EB8C643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B69DF3-5CD2-9D75-59A0-65F6139AC6C1}"/>
              </a:ext>
            </a:extLst>
          </p:cNvPr>
          <p:cNvSpPr>
            <a:spLocks noGrp="1"/>
          </p:cNvSpPr>
          <p:nvPr>
            <p:ph type="dt" sz="half" idx="10"/>
          </p:nvPr>
        </p:nvSpPr>
        <p:spPr/>
        <p:txBody>
          <a:bodyPr/>
          <a:lstStyle/>
          <a:p>
            <a:fld id="{73C55A3C-5767-4844-A0A3-83778C2E5409}" type="datetime1">
              <a:rPr lang="en-US" smtClean="0"/>
              <a:t>9/24/2026</a:t>
            </a:fld>
            <a:endParaRPr lang="en-US" dirty="0"/>
          </a:p>
        </p:txBody>
      </p:sp>
      <p:sp>
        <p:nvSpPr>
          <p:cNvPr id="5" name="Footer Placeholder 4">
            <a:extLst>
              <a:ext uri="{FF2B5EF4-FFF2-40B4-BE49-F238E27FC236}">
                <a16:creationId xmlns:a16="http://schemas.microsoft.com/office/drawing/2014/main" id="{0D4C416D-1DEA-2072-1D2D-FF7D7449F5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9F81602-A7BB-3E4E-C935-92695F16CB71}"/>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5042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BC2B2-7BE9-163F-9C39-6DC2A52A3B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9278A6-FC17-7BE6-94B8-52A036D5B4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1E5B86-4AAC-551A-CF01-5E8513E9668D}"/>
              </a:ext>
            </a:extLst>
          </p:cNvPr>
          <p:cNvSpPr>
            <a:spLocks noGrp="1"/>
          </p:cNvSpPr>
          <p:nvPr>
            <p:ph type="dt" sz="half" idx="10"/>
          </p:nvPr>
        </p:nvSpPr>
        <p:spPr/>
        <p:txBody>
          <a:bodyPr/>
          <a:lstStyle/>
          <a:p>
            <a:fld id="{CAE507A8-A5CF-4D38-AB86-7EDDA87A85D4}" type="datetime1">
              <a:rPr lang="en-US" smtClean="0"/>
              <a:t>9/24/2026</a:t>
            </a:fld>
            <a:endParaRPr lang="en-US" dirty="0"/>
          </a:p>
        </p:txBody>
      </p:sp>
      <p:sp>
        <p:nvSpPr>
          <p:cNvPr id="5" name="Footer Placeholder 4">
            <a:extLst>
              <a:ext uri="{FF2B5EF4-FFF2-40B4-BE49-F238E27FC236}">
                <a16:creationId xmlns:a16="http://schemas.microsoft.com/office/drawing/2014/main" id="{D0C60C06-F0F2-C266-5E07-99C3931EC2A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4EE3EE7-7BB5-C98A-1325-016C4325C25F}"/>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02351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AA62-9F74-233A-69AF-BA8DAD0E05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DB8F59-CCE7-2B35-943B-AC85977292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78EF73-6533-6741-224E-F235452D2D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1AA60D-8C8C-7453-7C0F-F7D8D6C6E94E}"/>
              </a:ext>
            </a:extLst>
          </p:cNvPr>
          <p:cNvSpPr>
            <a:spLocks noGrp="1"/>
          </p:cNvSpPr>
          <p:nvPr>
            <p:ph type="dt" sz="half" idx="10"/>
          </p:nvPr>
        </p:nvSpPr>
        <p:spPr/>
        <p:txBody>
          <a:bodyPr/>
          <a:lstStyle/>
          <a:p>
            <a:fld id="{BDFCD27C-8599-43EF-BA1D-14DDC1946E06}" type="datetime1">
              <a:rPr lang="en-US" smtClean="0"/>
              <a:t>9/24/2026</a:t>
            </a:fld>
            <a:endParaRPr lang="en-US" dirty="0"/>
          </a:p>
        </p:txBody>
      </p:sp>
      <p:sp>
        <p:nvSpPr>
          <p:cNvPr id="6" name="Footer Placeholder 5">
            <a:extLst>
              <a:ext uri="{FF2B5EF4-FFF2-40B4-BE49-F238E27FC236}">
                <a16:creationId xmlns:a16="http://schemas.microsoft.com/office/drawing/2014/main" id="{2E17E0E9-6B5B-3729-8341-EDC49CB0C6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DB30D96-8433-0AB0-14CB-F924102FD66B}"/>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9848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CABF3-CA58-D7CC-9380-BF1E6EBD96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8060F0-E99A-7811-9462-FD043E2A66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0871D8-8176-BD26-B097-F3C0924C52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A4DC5C-4F86-F903-09B7-56ECB6876B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61BDB9-FF0B-0DEB-F884-8E663FCB73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7CA072-65EB-50B4-1098-BB2207C77FFB}"/>
              </a:ext>
            </a:extLst>
          </p:cNvPr>
          <p:cNvSpPr>
            <a:spLocks noGrp="1"/>
          </p:cNvSpPr>
          <p:nvPr>
            <p:ph type="dt" sz="half" idx="10"/>
          </p:nvPr>
        </p:nvSpPr>
        <p:spPr/>
        <p:txBody>
          <a:bodyPr/>
          <a:lstStyle/>
          <a:p>
            <a:fld id="{49343D99-809A-49C0-96E5-4250D0B498EE}" type="datetime1">
              <a:rPr lang="en-US" smtClean="0"/>
              <a:t>9/24/2026</a:t>
            </a:fld>
            <a:endParaRPr lang="en-US" dirty="0"/>
          </a:p>
        </p:txBody>
      </p:sp>
      <p:sp>
        <p:nvSpPr>
          <p:cNvPr id="8" name="Footer Placeholder 7">
            <a:extLst>
              <a:ext uri="{FF2B5EF4-FFF2-40B4-BE49-F238E27FC236}">
                <a16:creationId xmlns:a16="http://schemas.microsoft.com/office/drawing/2014/main" id="{2F236FB4-FC97-32B5-1549-3C99552954F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79308D96-044C-3A09-C7B0-0D989EEC845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85708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D77C2-B650-8362-924A-841093EA72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374029-0078-27C3-E021-A0B94770ED06}"/>
              </a:ext>
            </a:extLst>
          </p:cNvPr>
          <p:cNvSpPr>
            <a:spLocks noGrp="1"/>
          </p:cNvSpPr>
          <p:nvPr>
            <p:ph type="dt" sz="half" idx="10"/>
          </p:nvPr>
        </p:nvSpPr>
        <p:spPr/>
        <p:txBody>
          <a:bodyPr/>
          <a:lstStyle/>
          <a:p>
            <a:fld id="{A143DE9B-B678-4EFB-BB7D-A4370204A0B0}" type="datetime1">
              <a:rPr lang="en-US" smtClean="0"/>
              <a:t>9/24/2026</a:t>
            </a:fld>
            <a:endParaRPr lang="en-US" dirty="0"/>
          </a:p>
        </p:txBody>
      </p:sp>
      <p:sp>
        <p:nvSpPr>
          <p:cNvPr id="4" name="Footer Placeholder 3">
            <a:extLst>
              <a:ext uri="{FF2B5EF4-FFF2-40B4-BE49-F238E27FC236}">
                <a16:creationId xmlns:a16="http://schemas.microsoft.com/office/drawing/2014/main" id="{77888188-8963-8A55-3E75-E7A3ECFDFEC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098F92A-0E4F-07B9-1D67-74B895B6CB61}"/>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2015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67433-4F05-3620-4088-40CAD87DD679}"/>
              </a:ext>
            </a:extLst>
          </p:cNvPr>
          <p:cNvSpPr>
            <a:spLocks noGrp="1"/>
          </p:cNvSpPr>
          <p:nvPr>
            <p:ph type="dt" sz="half" idx="10"/>
          </p:nvPr>
        </p:nvSpPr>
        <p:spPr/>
        <p:txBody>
          <a:bodyPr/>
          <a:lstStyle/>
          <a:p>
            <a:fld id="{E68812DA-F765-4142-A6A3-A8ED7235E082}" type="datetime1">
              <a:rPr lang="en-US" smtClean="0"/>
              <a:t>9/24/2026</a:t>
            </a:fld>
            <a:endParaRPr lang="en-US" dirty="0"/>
          </a:p>
        </p:txBody>
      </p:sp>
      <p:sp>
        <p:nvSpPr>
          <p:cNvPr id="3" name="Footer Placeholder 2">
            <a:extLst>
              <a:ext uri="{FF2B5EF4-FFF2-40B4-BE49-F238E27FC236}">
                <a16:creationId xmlns:a16="http://schemas.microsoft.com/office/drawing/2014/main" id="{2ED3C635-81B9-96CE-8FFC-5EEBD339EFE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18FF2F8-7B18-22A7-56E4-F3DD2C2B836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3119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8785F-2F41-2E10-BEC6-312D5F6C31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8A06C4-BBBB-CA33-7233-F7C0760ECC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5D1210-3644-9B54-3C9C-10C82DBF25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2D7D7D-C0D2-4B01-5497-950A60E3C2F0}"/>
              </a:ext>
            </a:extLst>
          </p:cNvPr>
          <p:cNvSpPr>
            <a:spLocks noGrp="1"/>
          </p:cNvSpPr>
          <p:nvPr>
            <p:ph type="dt" sz="half" idx="10"/>
          </p:nvPr>
        </p:nvSpPr>
        <p:spPr/>
        <p:txBody>
          <a:bodyPr/>
          <a:lstStyle/>
          <a:p>
            <a:fld id="{3E0277FD-7DE6-41D4-930D-AC99F5AFE54E}" type="datetime1">
              <a:rPr lang="en-US" smtClean="0"/>
              <a:t>9/24/2026</a:t>
            </a:fld>
            <a:endParaRPr lang="en-US" dirty="0"/>
          </a:p>
        </p:txBody>
      </p:sp>
      <p:sp>
        <p:nvSpPr>
          <p:cNvPr id="6" name="Footer Placeholder 5">
            <a:extLst>
              <a:ext uri="{FF2B5EF4-FFF2-40B4-BE49-F238E27FC236}">
                <a16:creationId xmlns:a16="http://schemas.microsoft.com/office/drawing/2014/main" id="{43355376-0067-2160-B479-AD69C66D384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8003F41-6815-1729-ACC9-635968B3A2F6}"/>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150893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5780-2559-23A5-BC8D-7A7402384D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BF0093-876C-E15D-E31C-5C5503B5CE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385DFC-C372-B076-38CE-EE8038F55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2AA555-4472-D476-9783-9B542BFB1250}"/>
              </a:ext>
            </a:extLst>
          </p:cNvPr>
          <p:cNvSpPr>
            <a:spLocks noGrp="1"/>
          </p:cNvSpPr>
          <p:nvPr>
            <p:ph type="dt" sz="half" idx="10"/>
          </p:nvPr>
        </p:nvSpPr>
        <p:spPr/>
        <p:txBody>
          <a:bodyPr/>
          <a:lstStyle/>
          <a:p>
            <a:fld id="{9EA15526-7079-4B7B-987C-1B5FAE11A0FF}" type="datetime1">
              <a:rPr lang="en-US" smtClean="0"/>
              <a:t>9/24/2026</a:t>
            </a:fld>
            <a:endParaRPr lang="en-US" dirty="0"/>
          </a:p>
        </p:txBody>
      </p:sp>
      <p:sp>
        <p:nvSpPr>
          <p:cNvPr id="6" name="Footer Placeholder 5">
            <a:extLst>
              <a:ext uri="{FF2B5EF4-FFF2-40B4-BE49-F238E27FC236}">
                <a16:creationId xmlns:a16="http://schemas.microsoft.com/office/drawing/2014/main" id="{B86ED8D2-6062-2A0A-D6F5-BAC9FF604223}"/>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863FFC12-0CCA-F6DA-AE1E-EB04FD23054E}"/>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73312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757A4-F321-716C-A236-DB05C6E610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8D75F0-29A7-50D2-EC51-59CBA89A7C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AA2A2-C61F-CAE0-5321-501FC1B48221}"/>
              </a:ext>
            </a:extLst>
          </p:cNvPr>
          <p:cNvSpPr>
            <a:spLocks noGrp="1"/>
          </p:cNvSpPr>
          <p:nvPr>
            <p:ph type="dt" sz="half" idx="10"/>
          </p:nvPr>
        </p:nvSpPr>
        <p:spPr/>
        <p:txBody>
          <a:bodyPr/>
          <a:lstStyle/>
          <a:p>
            <a:fld id="{073ED0CC-082F-4160-86E5-0D6041F12778}" type="datetime1">
              <a:rPr lang="en-US" smtClean="0"/>
              <a:t>9/24/2026</a:t>
            </a:fld>
            <a:endParaRPr lang="en-US" dirty="0"/>
          </a:p>
        </p:txBody>
      </p:sp>
      <p:sp>
        <p:nvSpPr>
          <p:cNvPr id="5" name="Footer Placeholder 4">
            <a:extLst>
              <a:ext uri="{FF2B5EF4-FFF2-40B4-BE49-F238E27FC236}">
                <a16:creationId xmlns:a16="http://schemas.microsoft.com/office/drawing/2014/main" id="{1DF18952-E622-CF59-8C0C-B5C1A6B7F21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51625F8-AFF4-85A2-D462-FA6DC59E854E}"/>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4449876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FB7B4A-7E49-96A4-E24F-C9CEBCF799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93BD46-D8CB-C85B-3C78-096A76B130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140FC3-97DC-2172-B524-828A32F322DB}"/>
              </a:ext>
            </a:extLst>
          </p:cNvPr>
          <p:cNvSpPr>
            <a:spLocks noGrp="1"/>
          </p:cNvSpPr>
          <p:nvPr>
            <p:ph type="dt" sz="half" idx="10"/>
          </p:nvPr>
        </p:nvSpPr>
        <p:spPr/>
        <p:txBody>
          <a:bodyPr/>
          <a:lstStyle/>
          <a:p>
            <a:fld id="{073ED0CC-082F-4160-86E5-0D6041F12778}" type="datetime1">
              <a:rPr lang="en-US" smtClean="0"/>
              <a:t>9/24/2026</a:t>
            </a:fld>
            <a:endParaRPr lang="en-US" dirty="0"/>
          </a:p>
        </p:txBody>
      </p:sp>
      <p:sp>
        <p:nvSpPr>
          <p:cNvPr id="5" name="Footer Placeholder 4">
            <a:extLst>
              <a:ext uri="{FF2B5EF4-FFF2-40B4-BE49-F238E27FC236}">
                <a16:creationId xmlns:a16="http://schemas.microsoft.com/office/drawing/2014/main" id="{2562C7F5-7426-F116-3AEA-8BFF322E700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DC4EA9-751B-3168-4AD8-C208438DACA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4845943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AB4EEA-942A-3C56-03F4-2F8A71A469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652287-078F-FA69-6BCD-3BE7E1F059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5E95A1-9541-08A8-7215-FFB50128AB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3ED0CC-082F-4160-86E5-0D6041F12778}" type="datetime1">
              <a:rPr lang="en-US" smtClean="0"/>
              <a:t>9/24/2026</a:t>
            </a:fld>
            <a:endParaRPr lang="en-US" dirty="0"/>
          </a:p>
        </p:txBody>
      </p:sp>
      <p:sp>
        <p:nvSpPr>
          <p:cNvPr id="5" name="Footer Placeholder 4">
            <a:extLst>
              <a:ext uri="{FF2B5EF4-FFF2-40B4-BE49-F238E27FC236}">
                <a16:creationId xmlns:a16="http://schemas.microsoft.com/office/drawing/2014/main" id="{0AC0505D-DF78-3B3B-CA81-A94321BE90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5351C6-C019-F1D0-72C3-17134E7728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021213837"/>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105966" y="163107"/>
            <a:ext cx="11158331" cy="5283536"/>
          </a:xfrm>
        </p:spPr>
        <p:txBody>
          <a:bodyPr>
            <a:normAutofit fontScale="90000"/>
          </a:bodyPr>
          <a:lstStyle/>
          <a:p>
            <a:br>
              <a:rPr lang="en-US" sz="4400" b="1" dirty="0">
                <a:solidFill>
                  <a:schemeClr val="accent2">
                    <a:lumMod val="50000"/>
                  </a:schemeClr>
                </a:solidFill>
                <a:latin typeface="Century Gothic" panose="020B0502020202020204" pitchFamily="34" charset="0"/>
              </a:rPr>
            </a:br>
            <a:br>
              <a:rPr lang="en-US" sz="4400" b="1" dirty="0">
                <a:solidFill>
                  <a:schemeClr val="accent2">
                    <a:lumMod val="50000"/>
                  </a:schemeClr>
                </a:solidFill>
                <a:latin typeface="Century Gothic" panose="020B0502020202020204" pitchFamily="34" charset="0"/>
              </a:rPr>
            </a:br>
            <a:br>
              <a:rPr lang="en-UG" dirty="0"/>
            </a:br>
            <a:r>
              <a:rPr lang="en-GB" sz="4400" b="1" dirty="0">
                <a:solidFill>
                  <a:schemeClr val="accent2">
                    <a:lumMod val="50000"/>
                  </a:schemeClr>
                </a:solidFill>
                <a:latin typeface="Century Gothic" panose="020B0502020202020204" pitchFamily="34" charset="0"/>
              </a:rPr>
              <a:t>LINEAR EQUATIONS</a:t>
            </a:r>
            <a:br>
              <a:rPr lang="en-UG" dirty="0"/>
            </a:br>
            <a:br>
              <a:rPr lang="en-US" sz="4400" b="1" dirty="0">
                <a:solidFill>
                  <a:schemeClr val="accent2">
                    <a:lumMod val="50000"/>
                  </a:schemeClr>
                </a:solidFill>
                <a:latin typeface="Century Gothic" panose="020B0502020202020204" pitchFamily="34" charset="0"/>
              </a:rPr>
            </a:br>
            <a:br>
              <a:rPr lang="en-US" sz="4400" b="1" dirty="0">
                <a:solidFill>
                  <a:schemeClr val="accent2">
                    <a:lumMod val="50000"/>
                  </a:schemeClr>
                </a:solidFill>
                <a:latin typeface="Century Gothic" panose="020B0502020202020204" pitchFamily="34" charset="0"/>
              </a:rPr>
            </a:br>
            <a:br>
              <a:rPr lang="en-US" sz="4400" b="1" dirty="0">
                <a:solidFill>
                  <a:schemeClr val="accent2">
                    <a:lumMod val="50000"/>
                  </a:schemeClr>
                </a:solidFill>
                <a:latin typeface="Century Gothic" panose="020B0502020202020204" pitchFamily="34" charset="0"/>
              </a:rPr>
            </a:br>
            <a:br>
              <a:rPr lang="en-US" sz="4400" b="1" dirty="0">
                <a:solidFill>
                  <a:schemeClr val="accent2">
                    <a:lumMod val="50000"/>
                  </a:schemeClr>
                </a:solidFill>
                <a:latin typeface="Century Gothic" panose="020B0502020202020204" pitchFamily="34" charset="0"/>
              </a:rPr>
            </a:br>
            <a:r>
              <a:rPr lang="en-US" sz="2700" b="1" dirty="0">
                <a:solidFill>
                  <a:schemeClr val="accent2">
                    <a:lumMod val="50000"/>
                  </a:schemeClr>
                </a:solidFill>
                <a:latin typeface="Century Gothic" panose="020B0502020202020204" pitchFamily="34" charset="0"/>
              </a:rPr>
              <a:t>24</a:t>
            </a:r>
            <a:r>
              <a:rPr lang="en-US" sz="2700" b="1" baseline="30000" dirty="0">
                <a:solidFill>
                  <a:schemeClr val="accent2">
                    <a:lumMod val="50000"/>
                  </a:schemeClr>
                </a:solidFill>
                <a:latin typeface="Century Gothic" panose="020B0502020202020204" pitchFamily="34" charset="0"/>
              </a:rPr>
              <a:t>th</a:t>
            </a:r>
            <a:r>
              <a:rPr lang="en-US" sz="2700" b="1" dirty="0">
                <a:solidFill>
                  <a:schemeClr val="accent2">
                    <a:lumMod val="50000"/>
                  </a:schemeClr>
                </a:solidFill>
                <a:latin typeface="Century Gothic" panose="020B0502020202020204" pitchFamily="34" charset="0"/>
              </a:rPr>
              <a:t> SEPT 2026</a:t>
            </a:r>
            <a:br>
              <a:rPr lang="en-UG" sz="4900" b="1" dirty="0">
                <a:solidFill>
                  <a:schemeClr val="accent2">
                    <a:lumMod val="50000"/>
                  </a:schemeClr>
                </a:solidFill>
                <a:latin typeface="Century Gothic" panose="020B0502020202020204" pitchFamily="34" charset="0"/>
              </a:rPr>
            </a:br>
            <a:endParaRPr lang="en-US" sz="4400" b="1" dirty="0">
              <a:solidFill>
                <a:schemeClr val="accent2">
                  <a:lumMod val="50000"/>
                </a:schemeClr>
              </a:solidFill>
              <a:latin typeface="Century Gothic" panose="020B0502020202020204" pitchFamily="34" charset="0"/>
            </a:endParaRPr>
          </a:p>
        </p:txBody>
      </p:sp>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7864" r="43228"/>
          <a:stretch/>
        </p:blipFill>
        <p:spPr>
          <a:xfrm>
            <a:off x="11264297" y="0"/>
            <a:ext cx="927704" cy="685800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3" name="Footer Placeholder 2">
            <a:extLst>
              <a:ext uri="{FF2B5EF4-FFF2-40B4-BE49-F238E27FC236}">
                <a16:creationId xmlns:a16="http://schemas.microsoft.com/office/drawing/2014/main" id="{BFCEC4FC-B239-705F-F5B7-7A84794BF45D}"/>
              </a:ext>
            </a:extLst>
          </p:cNvPr>
          <p:cNvSpPr>
            <a:spLocks noGrp="1"/>
          </p:cNvSpPr>
          <p:nvPr>
            <p:ph type="ftr" sz="quarter" idx="11"/>
          </p:nvPr>
        </p:nvSpPr>
        <p:spPr>
          <a:xfrm>
            <a:off x="3378886" y="6069419"/>
            <a:ext cx="6851977" cy="625475"/>
          </a:xfrm>
        </p:spPr>
        <p:txBody>
          <a:bodyPr/>
          <a:lstStyle/>
          <a:p>
            <a:r>
              <a:rPr lang="en-US" sz="2400" b="1" dirty="0">
                <a:solidFill>
                  <a:srgbClr val="002060"/>
                </a:solidFill>
                <a:latin typeface="Times New Roman" panose="02020603050405020304" pitchFamily="18" charset="0"/>
                <a:cs typeface="Times New Roman" panose="02020603050405020304" pitchFamily="18" charset="0"/>
              </a:rPr>
              <a:t>Prepared By: Arinda Shaman</a:t>
            </a:r>
          </a:p>
          <a:p>
            <a:endParaRPr lang="en-US" sz="18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238538" y="106020"/>
            <a:ext cx="11811266" cy="649357"/>
          </a:xfrm>
        </p:spPr>
        <p:txBody>
          <a:bodyPr>
            <a:noAutofit/>
          </a:bodyPr>
          <a:lstStyle/>
          <a:p>
            <a:pPr algn="ct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r>
              <a:rPr lang="en-US" sz="3600" b="1" dirty="0">
                <a:solidFill>
                  <a:schemeClr val="accent2">
                    <a:lumMod val="75000"/>
                  </a:schemeClr>
                </a:solidFill>
                <a:latin typeface="Century Gothic" panose="020B0502020202020204" pitchFamily="34" charset="0"/>
              </a:rPr>
              <a:t>Introduction</a:t>
            </a:r>
            <a:br>
              <a:rPr lang="en-UG" sz="4000" dirty="0"/>
            </a:br>
            <a:br>
              <a:rPr lang="en-UG" dirty="0"/>
            </a:br>
            <a:br>
              <a:rPr lang="en-US" dirty="0"/>
            </a:br>
            <a:br>
              <a:rPr lang="en-US" sz="3600" dirty="0">
                <a:latin typeface="Century Gothic" panose="020B0502020202020204" pitchFamily="34" charset="0"/>
              </a:rPr>
            </a:br>
            <a:endParaRPr lang="en-US" sz="3600" b="1" dirty="0">
              <a:solidFill>
                <a:schemeClr val="accent2">
                  <a:lumMod val="75000"/>
                </a:schemeClr>
              </a:solidFill>
              <a:latin typeface="+mn-lt"/>
            </a:endParaRPr>
          </a:p>
        </p:txBody>
      </p:sp>
      <p:sp>
        <p:nvSpPr>
          <p:cNvPr id="12" name="Rectangle 4">
            <a:extLst>
              <a:ext uri="{FF2B5EF4-FFF2-40B4-BE49-F238E27FC236}">
                <a16:creationId xmlns:a16="http://schemas.microsoft.com/office/drawing/2014/main" id="{C7A428CC-9977-409B-A4F2-DAE08F772C22}"/>
              </a:ext>
            </a:extLst>
          </p:cNvPr>
          <p:cNvSpPr>
            <a:spLocks noChangeArrowheads="1"/>
          </p:cNvSpPr>
          <p:nvPr/>
        </p:nvSpPr>
        <p:spPr bwMode="auto">
          <a:xfrm>
            <a:off x="2746375" y="1805673"/>
            <a:ext cx="6752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G" altLang="en-UG" sz="1800" b="0" i="0" u="none" strike="noStrike" cap="none" normalizeH="0" baseline="0">
                <a:ln>
                  <a:noFill/>
                </a:ln>
                <a:solidFill>
                  <a:schemeClr val="tx1"/>
                </a:solidFill>
                <a:effectLst/>
                <a:latin typeface="Arial" panose="020B0604020202020204" pitchFamily="34" charset="0"/>
              </a:rPr>
            </a:br>
            <a:endParaRPr kumimoji="0" lang="en-UG" altLang="en-UG" sz="1800" b="0" i="0" u="none" strike="noStrike" cap="none" normalizeH="0" baseline="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3DF395E6-7EFA-46ED-80BE-B4681ACDB608}"/>
              </a:ext>
            </a:extLst>
          </p:cNvPr>
          <p:cNvSpPr>
            <a:spLocks noGrp="1"/>
          </p:cNvSpPr>
          <p:nvPr>
            <p:ph idx="1"/>
          </p:nvPr>
        </p:nvSpPr>
        <p:spPr>
          <a:xfrm>
            <a:off x="142195" y="636104"/>
            <a:ext cx="11907609" cy="6089372"/>
          </a:xfrm>
        </p:spPr>
        <p:txBody>
          <a:bodyPr>
            <a:normAutofit/>
          </a:bodyPr>
          <a:lstStyle/>
          <a:p>
            <a:pPr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An </a:t>
            </a:r>
            <a:r>
              <a:rPr lang="en-GB" b="1" dirty="0">
                <a:latin typeface="Times New Roman" panose="02020603050405020304" pitchFamily="18" charset="0"/>
                <a:cs typeface="Times New Roman" panose="02020603050405020304" pitchFamily="18" charset="0"/>
              </a:rPr>
              <a:t>equation</a:t>
            </a:r>
            <a:r>
              <a:rPr lang="en-GB" dirty="0">
                <a:latin typeface="Times New Roman" panose="02020603050405020304" pitchFamily="18" charset="0"/>
                <a:cs typeface="Times New Roman" panose="02020603050405020304" pitchFamily="18" charset="0"/>
              </a:rPr>
              <a:t> is a mathematical statement that indicates the equality of two expressions. </a:t>
            </a:r>
            <a:r>
              <a:rPr lang="en-GB" dirty="0">
                <a:solidFill>
                  <a:srgbClr val="7030A0"/>
                </a:solidFill>
                <a:latin typeface="Times New Roman" panose="02020603050405020304" pitchFamily="18" charset="0"/>
                <a:cs typeface="Times New Roman" panose="02020603050405020304" pitchFamily="18" charset="0"/>
              </a:rPr>
              <a:t>The equal signs equate the two expressions. </a:t>
            </a:r>
          </a:p>
          <a:p>
            <a:pPr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A</a:t>
            </a:r>
            <a:r>
              <a:rPr lang="en-GB" b="1" dirty="0">
                <a:latin typeface="Times New Roman" panose="02020603050405020304" pitchFamily="18" charset="0"/>
                <a:cs typeface="Times New Roman" panose="02020603050405020304" pitchFamily="18" charset="0"/>
              </a:rPr>
              <a:t> linear equation</a:t>
            </a:r>
            <a:r>
              <a:rPr lang="en-GB" dirty="0">
                <a:latin typeface="Times New Roman" panose="02020603050405020304" pitchFamily="18" charset="0"/>
                <a:cs typeface="Times New Roman" panose="02020603050405020304" pitchFamily="18" charset="0"/>
              </a:rPr>
              <a:t> is one where the dependent variable (Y) and the independent variable have a </a:t>
            </a:r>
            <a:r>
              <a:rPr lang="en-GB" b="1" dirty="0">
                <a:solidFill>
                  <a:srgbClr val="7030A0"/>
                </a:solidFill>
                <a:latin typeface="Times New Roman" panose="02020603050405020304" pitchFamily="18" charset="0"/>
                <a:cs typeface="Times New Roman" panose="02020603050405020304" pitchFamily="18" charset="0"/>
              </a:rPr>
              <a:t>linear relationship </a:t>
            </a:r>
            <a:r>
              <a:rPr lang="en-GB" dirty="0" err="1">
                <a:latin typeface="Times New Roman" panose="02020603050405020304" pitchFamily="18" charset="0"/>
                <a:cs typeface="Times New Roman" panose="02020603050405020304" pitchFamily="18" charset="0"/>
              </a:rPr>
              <a:t>ie</a:t>
            </a:r>
            <a:r>
              <a:rPr lang="en-GB" dirty="0">
                <a:latin typeface="Times New Roman" panose="02020603050405020304" pitchFamily="18" charset="0"/>
                <a:cs typeface="Times New Roman" panose="02020603050405020304" pitchFamily="18" charset="0"/>
              </a:rPr>
              <a:t>; </a:t>
            </a:r>
            <a:r>
              <a:rPr lang="en-GB" b="1" i="1" dirty="0">
                <a:latin typeface="Times New Roman" panose="02020603050405020304" pitchFamily="18" charset="0"/>
                <a:cs typeface="Times New Roman" panose="02020603050405020304" pitchFamily="18" charset="0"/>
              </a:rPr>
              <a:t>a change in X results in a proportionate change in Y</a:t>
            </a:r>
            <a:r>
              <a:rPr lang="en-GB" dirty="0">
                <a:latin typeface="Times New Roman" panose="02020603050405020304" pitchFamily="18" charset="0"/>
                <a:cs typeface="Times New Roman" panose="02020603050405020304" pitchFamily="18" charset="0"/>
              </a:rPr>
              <a:t> (if X changes, then Y must change by the same proportion). </a:t>
            </a:r>
          </a:p>
          <a:p>
            <a:pPr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These equations produce a straight line when graphed. </a:t>
            </a:r>
            <a:endParaRPr lang="en-U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387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238538" y="106020"/>
            <a:ext cx="11811266" cy="649357"/>
          </a:xfrm>
        </p:spPr>
        <p:txBody>
          <a:bodyPr>
            <a:noAutofit/>
          </a:bodyPr>
          <a:lstStyle/>
          <a:p>
            <a:pPr algn="ct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r>
              <a:rPr lang="en-US" sz="3600" b="1" dirty="0">
                <a:solidFill>
                  <a:schemeClr val="accent2">
                    <a:lumMod val="75000"/>
                  </a:schemeClr>
                </a:solidFill>
                <a:latin typeface="Century Gothic" panose="020B0502020202020204" pitchFamily="34" charset="0"/>
              </a:rPr>
              <a:t>Simultaneous linear equation systems</a:t>
            </a:r>
            <a:br>
              <a:rPr lang="en-UG" sz="3600" dirty="0">
                <a:latin typeface="Calibri" panose="020F0502020204030204" pitchFamily="34" charset="0"/>
                <a:ea typeface="Times New Roman" panose="02020603050405020304" pitchFamily="18" charset="0"/>
                <a:cs typeface="Times New Roman" panose="02020603050405020304" pitchFamily="18" charset="0"/>
              </a:rPr>
            </a:br>
            <a:br>
              <a:rPr lang="en-UG" sz="4000" dirty="0"/>
            </a:br>
            <a:br>
              <a:rPr lang="en-UG" dirty="0"/>
            </a:br>
            <a:br>
              <a:rPr lang="en-US" dirty="0"/>
            </a:br>
            <a:br>
              <a:rPr lang="en-US" sz="3600" dirty="0">
                <a:latin typeface="Century Gothic" panose="020B0502020202020204" pitchFamily="34" charset="0"/>
              </a:rPr>
            </a:br>
            <a:endParaRPr lang="en-US" sz="3600" b="1" dirty="0">
              <a:solidFill>
                <a:schemeClr val="accent2">
                  <a:lumMod val="75000"/>
                </a:schemeClr>
              </a:solidFill>
              <a:latin typeface="+mn-lt"/>
            </a:endParaRPr>
          </a:p>
        </p:txBody>
      </p:sp>
      <p:sp>
        <p:nvSpPr>
          <p:cNvPr id="12" name="Rectangle 4">
            <a:extLst>
              <a:ext uri="{FF2B5EF4-FFF2-40B4-BE49-F238E27FC236}">
                <a16:creationId xmlns:a16="http://schemas.microsoft.com/office/drawing/2014/main" id="{C7A428CC-9977-409B-A4F2-DAE08F772C22}"/>
              </a:ext>
            </a:extLst>
          </p:cNvPr>
          <p:cNvSpPr>
            <a:spLocks noChangeArrowheads="1"/>
          </p:cNvSpPr>
          <p:nvPr/>
        </p:nvSpPr>
        <p:spPr bwMode="auto">
          <a:xfrm>
            <a:off x="2746375" y="1805673"/>
            <a:ext cx="6752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G" altLang="en-UG" sz="1800" b="0" i="0" u="none" strike="noStrike" cap="none" normalizeH="0" baseline="0">
                <a:ln>
                  <a:noFill/>
                </a:ln>
                <a:solidFill>
                  <a:schemeClr val="tx1"/>
                </a:solidFill>
                <a:effectLst/>
                <a:latin typeface="Arial" panose="020B0604020202020204" pitchFamily="34" charset="0"/>
              </a:rPr>
            </a:br>
            <a:endParaRPr kumimoji="0" lang="en-UG" altLang="en-UG" sz="1800" b="0" i="0" u="none" strike="noStrike" cap="none" normalizeH="0" baseline="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3DF395E6-7EFA-46ED-80BE-B4681ACDB608}"/>
              </a:ext>
            </a:extLst>
          </p:cNvPr>
          <p:cNvSpPr>
            <a:spLocks noGrp="1"/>
          </p:cNvSpPr>
          <p:nvPr>
            <p:ph idx="1"/>
          </p:nvPr>
        </p:nvSpPr>
        <p:spPr>
          <a:xfrm>
            <a:off x="142195" y="490330"/>
            <a:ext cx="11907609" cy="6235146"/>
          </a:xfrm>
        </p:spPr>
        <p:txBody>
          <a:bodyPr>
            <a:normAutofit/>
          </a:bodyPr>
          <a:lstStyle/>
          <a:p>
            <a:pPr algn="just">
              <a:lnSpc>
                <a:spcPct val="100000"/>
              </a:lnSpc>
              <a:spcAft>
                <a:spcPts val="0"/>
              </a:spcAft>
              <a:buFont typeface="Wingdings" panose="05000000000000000000" pitchFamily="2" charset="2"/>
              <a:buChar char="ü"/>
              <a:tabLst>
                <a:tab pos="274320" algn="l"/>
              </a:tabLst>
            </a:pPr>
            <a:r>
              <a:rPr lang="en-GB"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A </a:t>
            </a:r>
            <a:r>
              <a:rPr lang="en-GB"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simultaneous linear equation </a:t>
            </a:r>
            <a:r>
              <a:rPr lang="en-GB"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is a </a:t>
            </a:r>
            <a:r>
              <a:rPr lang="en-GB" dirty="0">
                <a:solidFill>
                  <a:srgbClr val="7030A0"/>
                </a:solidFill>
                <a:latin typeface="Times New Roman" panose="02020603050405020304" pitchFamily="18" charset="0"/>
                <a:cs typeface="Times New Roman" panose="02020603050405020304" pitchFamily="18" charset="0"/>
              </a:rPr>
              <a:t>system/group/set </a:t>
            </a:r>
            <a:r>
              <a:rPr lang="en-GB"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of two or more equations with the </a:t>
            </a:r>
            <a:r>
              <a:rPr lang="en-GB"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same unknowns</a:t>
            </a:r>
            <a:r>
              <a:rPr lang="en-GB"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 </a:t>
            </a:r>
          </a:p>
          <a:p>
            <a:pPr algn="just">
              <a:lnSpc>
                <a:spcPct val="100000"/>
              </a:lnSpc>
              <a:spcAft>
                <a:spcPts val="0"/>
              </a:spcAft>
              <a:buFont typeface="Wingdings" panose="05000000000000000000" pitchFamily="2" charset="2"/>
              <a:buChar char="ü"/>
              <a:tabLst>
                <a:tab pos="274320" algn="l"/>
              </a:tabLst>
            </a:pPr>
            <a:r>
              <a:rPr lang="en-GB" dirty="0">
                <a:latin typeface="Times New Roman" panose="02020603050405020304" pitchFamily="18" charset="0"/>
                <a:ea typeface="Times New Roman" panose="02020603050405020304" pitchFamily="18" charset="0"/>
                <a:cs typeface="Times New Roman" panose="02020603050405020304" pitchFamily="18" charset="0"/>
              </a:rPr>
              <a:t>To solve such a system, one needs to compute the values of each of the unknowns using different methods such as; </a:t>
            </a:r>
            <a:r>
              <a:rPr lang="en-GB"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elimination, substitution, row operation, and graphical methods </a:t>
            </a:r>
            <a:r>
              <a:rPr lang="en-GB" dirty="0">
                <a:latin typeface="Times New Roman" panose="02020603050405020304" pitchFamily="18" charset="0"/>
                <a:ea typeface="Times New Roman" panose="02020603050405020304" pitchFamily="18" charset="0"/>
                <a:cs typeface="Times New Roman" panose="02020603050405020304" pitchFamily="18" charset="0"/>
              </a:rPr>
              <a:t>as detailed in subsections below. </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00000"/>
              </a:lnSpc>
              <a:spcAft>
                <a:spcPts val="0"/>
              </a:spcAft>
              <a:buFont typeface="Wingdings" panose="05000000000000000000" pitchFamily="2" charset="2"/>
              <a:buChar char="ü"/>
              <a:tabLst>
                <a:tab pos="274320" algn="l"/>
              </a:tabLst>
            </a:pPr>
            <a:r>
              <a:rPr lang="en-GB" dirty="0">
                <a:latin typeface="Times New Roman" panose="02020603050405020304" pitchFamily="18" charset="0"/>
                <a:ea typeface="Times New Roman" panose="02020603050405020304" pitchFamily="18" charset="0"/>
                <a:cs typeface="Times New Roman" panose="02020603050405020304" pitchFamily="18" charset="0"/>
              </a:rPr>
              <a:t>Consider the equations below, they form a system of simultaneous linear equations. </a:t>
            </a:r>
          </a:p>
          <a:p>
            <a:pPr marL="0" indent="0" algn="just">
              <a:lnSpc>
                <a:spcPct val="100000"/>
              </a:lnSpc>
              <a:spcAft>
                <a:spcPts val="0"/>
              </a:spcAft>
              <a:buNone/>
              <a:tabLst>
                <a:tab pos="274320" algn="l"/>
              </a:tabLst>
            </a:pPr>
            <a:endParaRPr lang="en-GB"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spcAft>
                <a:spcPts val="0"/>
              </a:spcAft>
              <a:buNone/>
              <a:tabLst>
                <a:tab pos="274320" algn="l"/>
              </a:tabLst>
            </a:pPr>
            <a:endParaRPr lang="en-GB"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spcAft>
                <a:spcPts val="0"/>
              </a:spcAft>
              <a:buNone/>
              <a:tabLst>
                <a:tab pos="274320" algn="l"/>
              </a:tabLst>
            </a:pPr>
            <a:endParaRPr lang="en-GB"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buNone/>
              <a:tabLst>
                <a:tab pos="274320" algn="l"/>
              </a:tabLst>
            </a:pPr>
            <a:r>
              <a:rPr lang="en-US" b="1" u="sng" dirty="0">
                <a:solidFill>
                  <a:srgbClr val="0070C0"/>
                </a:solidFill>
                <a:latin typeface="Times New Roman" panose="02020603050405020304" pitchFamily="18" charset="0"/>
                <a:cs typeface="Times New Roman" panose="02020603050405020304" pitchFamily="18" charset="0"/>
              </a:rPr>
              <a:t>NOTE:</a:t>
            </a:r>
            <a:r>
              <a:rPr lang="en-US" u="sng" dirty="0">
                <a:solidFill>
                  <a:srgbClr val="0070C0"/>
                </a:solidFill>
                <a:latin typeface="Times New Roman" panose="02020603050405020304" pitchFamily="18" charset="0"/>
                <a:cs typeface="Times New Roman" panose="02020603050405020304" pitchFamily="18" charset="0"/>
              </a:rPr>
              <a:t> </a:t>
            </a:r>
            <a:r>
              <a:rPr lang="en-US" dirty="0">
                <a:solidFill>
                  <a:srgbClr val="0070C0"/>
                </a:solidFill>
                <a:latin typeface="Times New Roman" panose="02020603050405020304" pitchFamily="18" charset="0"/>
                <a:cs typeface="Times New Roman" panose="02020603050405020304" pitchFamily="18" charset="0"/>
              </a:rPr>
              <a:t>To solve a given system of simultaneous equations, the number of equations </a:t>
            </a:r>
            <a:r>
              <a:rPr lang="en-US" b="1" dirty="0">
                <a:solidFill>
                  <a:srgbClr val="0070C0"/>
                </a:solidFill>
                <a:latin typeface="Times New Roman" panose="02020603050405020304" pitchFamily="18" charset="0"/>
                <a:cs typeface="Times New Roman" panose="02020603050405020304" pitchFamily="18" charset="0"/>
              </a:rPr>
              <a:t>SHOULD</a:t>
            </a:r>
            <a:r>
              <a:rPr lang="en-US" dirty="0">
                <a:solidFill>
                  <a:srgbClr val="0070C0"/>
                </a:solidFill>
                <a:latin typeface="Times New Roman" panose="02020603050405020304" pitchFamily="18" charset="0"/>
                <a:cs typeface="Times New Roman" panose="02020603050405020304" pitchFamily="18" charset="0"/>
              </a:rPr>
              <a:t> always be equal to the number of unknows.</a:t>
            </a:r>
            <a:endParaRPr lang="en-UG" dirty="0">
              <a:solidFill>
                <a:srgbClr val="0070C0"/>
              </a:solidFill>
              <a:latin typeface="Times New Roman" panose="02020603050405020304" pitchFamily="18" charset="0"/>
              <a:cs typeface="Times New Roman" panose="02020603050405020304" pitchFamily="18" charset="0"/>
            </a:endParaRPr>
          </a:p>
          <a:p>
            <a:pPr marL="0" indent="0" algn="just">
              <a:lnSpc>
                <a:spcPct val="100000"/>
              </a:lnSpc>
              <a:spcAft>
                <a:spcPts val="0"/>
              </a:spcAft>
              <a:buNone/>
              <a:tabLst>
                <a:tab pos="274320" algn="l"/>
              </a:tabLst>
            </a:pPr>
            <a:endParaRPr lang="en-GB"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spcAft>
                <a:spcPts val="0"/>
              </a:spcAft>
              <a:buNone/>
              <a:tabLst>
                <a:tab pos="274320" algn="l"/>
              </a:tabLst>
            </a:pP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14BB9B2-5B24-4D4E-A940-705B30E14128}"/>
              </a:ext>
            </a:extLst>
          </p:cNvPr>
          <p:cNvGraphicFramePr>
            <a:graphicFrameLocks noGrp="1"/>
          </p:cNvGraphicFramePr>
          <p:nvPr>
            <p:extLst>
              <p:ext uri="{D42A27DB-BD31-4B8C-83A1-F6EECF244321}">
                <p14:modId xmlns:p14="http://schemas.microsoft.com/office/powerpoint/2010/main" val="4162746487"/>
              </p:ext>
            </p:extLst>
          </p:nvPr>
        </p:nvGraphicFramePr>
        <p:xfrm>
          <a:off x="3233419" y="3692460"/>
          <a:ext cx="6440666" cy="1330113"/>
        </p:xfrm>
        <a:graphic>
          <a:graphicData uri="http://schemas.openxmlformats.org/drawingml/2006/table">
            <a:tbl>
              <a:tblPr firstRow="1" firstCol="1" bandRow="1"/>
              <a:tblGrid>
                <a:gridCol w="3220333">
                  <a:extLst>
                    <a:ext uri="{9D8B030D-6E8A-4147-A177-3AD203B41FA5}">
                      <a16:colId xmlns:a16="http://schemas.microsoft.com/office/drawing/2014/main" val="1330638817"/>
                    </a:ext>
                  </a:extLst>
                </a:gridCol>
                <a:gridCol w="3220333">
                  <a:extLst>
                    <a:ext uri="{9D8B030D-6E8A-4147-A177-3AD203B41FA5}">
                      <a16:colId xmlns:a16="http://schemas.microsoft.com/office/drawing/2014/main" val="1916501998"/>
                    </a:ext>
                  </a:extLst>
                </a:gridCol>
              </a:tblGrid>
              <a:tr h="1330113">
                <a:tc>
                  <a:txBody>
                    <a:bodyPr/>
                    <a:lstStyle/>
                    <a:p>
                      <a:pPr marL="0" lvl="0" indent="0" algn="just">
                        <a:lnSpc>
                          <a:spcPct val="115000"/>
                        </a:lnSpc>
                        <a:spcAft>
                          <a:spcPts val="0"/>
                        </a:spcAft>
                        <a:buFont typeface="+mj-lt"/>
                        <a:buNone/>
                        <a:tabLst>
                          <a:tab pos="274320" algn="l"/>
                        </a:tabLst>
                      </a:pPr>
                      <a:r>
                        <a:rPr lang="en-GB" sz="2400" b="1" dirty="0">
                          <a:effectLst/>
                          <a:latin typeface="Times New Roman" panose="02020603050405020304" pitchFamily="18" charset="0"/>
                          <a:ea typeface="Times New Roman" panose="02020603050405020304" pitchFamily="18" charset="0"/>
                          <a:cs typeface="Times New Roman" panose="02020603050405020304" pitchFamily="18" charset="0"/>
                        </a:rPr>
                        <a:t>A.  </a:t>
                      </a: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X+ 2Y=45</a:t>
                      </a:r>
                      <a:endParaRPr lang="en-UG" sz="20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algn="just">
                        <a:lnSpc>
                          <a:spcPct val="115000"/>
                        </a:lnSpc>
                        <a:spcAft>
                          <a:spcPts val="0"/>
                        </a:spcAft>
                        <a:tabLst>
                          <a:tab pos="274320" algn="l"/>
                        </a:tabLst>
                      </a:pP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3X+4Y=20</a:t>
                      </a:r>
                      <a:endParaRPr lang="en-UG"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lvl="0" indent="0" algn="just">
                        <a:lnSpc>
                          <a:spcPct val="115000"/>
                        </a:lnSpc>
                        <a:spcAft>
                          <a:spcPts val="0"/>
                        </a:spcAft>
                        <a:buFont typeface="+mj-lt"/>
                        <a:buNone/>
                        <a:tabLst>
                          <a:tab pos="274320" algn="l"/>
                        </a:tabLst>
                      </a:pPr>
                      <a:r>
                        <a:rPr lang="en-GB" sz="2400" b="1" dirty="0">
                          <a:effectLst/>
                          <a:latin typeface="Times New Roman" panose="02020603050405020304" pitchFamily="18" charset="0"/>
                          <a:ea typeface="Times New Roman" panose="02020603050405020304" pitchFamily="18" charset="0"/>
                          <a:cs typeface="Times New Roman" panose="02020603050405020304" pitchFamily="18" charset="0"/>
                        </a:rPr>
                        <a:t>B</a:t>
                      </a: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    X+ 2Y+6Z=30</a:t>
                      </a:r>
                      <a:endParaRPr lang="en-UG" sz="20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algn="just">
                        <a:lnSpc>
                          <a:spcPct val="115000"/>
                        </a:lnSpc>
                        <a:spcAft>
                          <a:spcPts val="0"/>
                        </a:spcAft>
                      </a:pP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 3X+4Y+Z=15</a:t>
                      </a:r>
                      <a:endParaRPr lang="en-UG" sz="20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algn="just">
                        <a:lnSpc>
                          <a:spcPct val="115000"/>
                        </a:lnSpc>
                        <a:spcAft>
                          <a:spcPts val="0"/>
                        </a:spcAft>
                      </a:pP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 4X+Y+2Z=5</a:t>
                      </a:r>
                      <a:endParaRPr lang="en-UG"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080369418"/>
                  </a:ext>
                </a:extLst>
              </a:tr>
            </a:tbl>
          </a:graphicData>
        </a:graphic>
      </p:graphicFrame>
    </p:spTree>
    <p:extLst>
      <p:ext uri="{BB962C8B-B14F-4D97-AF65-F5344CB8AC3E}">
        <p14:creationId xmlns:p14="http://schemas.microsoft.com/office/powerpoint/2010/main" val="1967518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238538" y="106020"/>
            <a:ext cx="11811266" cy="649357"/>
          </a:xfrm>
        </p:spPr>
        <p:txBody>
          <a:bodyPr>
            <a:noAutofit/>
          </a:bodyPr>
          <a:lstStyle/>
          <a:p>
            <a:pPr algn="ct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r>
              <a:rPr lang="en-US" sz="3600" b="1" dirty="0">
                <a:solidFill>
                  <a:schemeClr val="accent2">
                    <a:lumMod val="75000"/>
                  </a:schemeClr>
                </a:solidFill>
                <a:latin typeface="Century Gothic" panose="020B0502020202020204" pitchFamily="34" charset="0"/>
              </a:rPr>
              <a:t>Graphical solutions</a:t>
            </a:r>
            <a:br>
              <a:rPr lang="en-UG" sz="3600" dirty="0">
                <a:latin typeface="Calibri" panose="020F0502020204030204" pitchFamily="34" charset="0"/>
                <a:ea typeface="Times New Roman" panose="02020603050405020304" pitchFamily="18" charset="0"/>
                <a:cs typeface="Times New Roman" panose="02020603050405020304" pitchFamily="18" charset="0"/>
              </a:rPr>
            </a:br>
            <a:br>
              <a:rPr lang="en-UG" sz="4000" dirty="0"/>
            </a:br>
            <a:br>
              <a:rPr lang="en-UG" dirty="0"/>
            </a:br>
            <a:br>
              <a:rPr lang="en-US" dirty="0"/>
            </a:br>
            <a:br>
              <a:rPr lang="en-US" sz="3600" dirty="0">
                <a:latin typeface="Century Gothic" panose="020B0502020202020204" pitchFamily="34" charset="0"/>
              </a:rPr>
            </a:br>
            <a:endParaRPr lang="en-US" sz="3600" b="1" dirty="0">
              <a:solidFill>
                <a:schemeClr val="accent2">
                  <a:lumMod val="75000"/>
                </a:schemeClr>
              </a:solidFill>
              <a:latin typeface="+mn-lt"/>
            </a:endParaRPr>
          </a:p>
        </p:txBody>
      </p:sp>
      <p:sp>
        <p:nvSpPr>
          <p:cNvPr id="12" name="Rectangle 4">
            <a:extLst>
              <a:ext uri="{FF2B5EF4-FFF2-40B4-BE49-F238E27FC236}">
                <a16:creationId xmlns:a16="http://schemas.microsoft.com/office/drawing/2014/main" id="{C7A428CC-9977-409B-A4F2-DAE08F772C22}"/>
              </a:ext>
            </a:extLst>
          </p:cNvPr>
          <p:cNvSpPr>
            <a:spLocks noChangeArrowheads="1"/>
          </p:cNvSpPr>
          <p:nvPr/>
        </p:nvSpPr>
        <p:spPr bwMode="auto">
          <a:xfrm>
            <a:off x="2746375" y="1805673"/>
            <a:ext cx="6752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G" altLang="en-UG" sz="1800" b="0" i="0" u="none" strike="noStrike" cap="none" normalizeH="0" baseline="0">
                <a:ln>
                  <a:noFill/>
                </a:ln>
                <a:solidFill>
                  <a:schemeClr val="tx1"/>
                </a:solidFill>
                <a:effectLst/>
                <a:latin typeface="Arial" panose="020B0604020202020204" pitchFamily="34" charset="0"/>
              </a:rPr>
            </a:br>
            <a:endParaRPr kumimoji="0" lang="en-UG" altLang="en-UG" sz="1800" b="0" i="0" u="none" strike="noStrike" cap="none" normalizeH="0" baseline="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3DF395E6-7EFA-46ED-80BE-B4681ACDB608}"/>
              </a:ext>
            </a:extLst>
          </p:cNvPr>
          <p:cNvSpPr>
            <a:spLocks noGrp="1"/>
          </p:cNvSpPr>
          <p:nvPr>
            <p:ph idx="1"/>
          </p:nvPr>
        </p:nvSpPr>
        <p:spPr>
          <a:xfrm>
            <a:off x="1" y="581025"/>
            <a:ext cx="12049804" cy="6276975"/>
          </a:xfrm>
        </p:spPr>
        <p:txBody>
          <a:bodyPr>
            <a:normAutofit/>
          </a:bodyPr>
          <a:lstStyle/>
          <a:p>
            <a:pPr algn="just">
              <a:lnSpc>
                <a:spcPct val="150000"/>
              </a:lnSpc>
              <a:buFont typeface="Wingdings" panose="05000000000000000000" pitchFamily="2" charset="2"/>
              <a:buChar char="Ø"/>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One of the methods of solving simultaneous equations is the graphical method. </a:t>
            </a:r>
          </a:p>
          <a:p>
            <a:pPr algn="just">
              <a:lnSpc>
                <a:spcPct val="150000"/>
              </a:lnSpc>
              <a:buFont typeface="Wingdings" panose="05000000000000000000" pitchFamily="2" charset="2"/>
              <a:buChar char="Ø"/>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This entails plotting the equations on the </a:t>
            </a:r>
            <a:r>
              <a:rPr lang="en-US" b="1" dirty="0">
                <a:latin typeface="Times New Roman" panose="02020603050405020304" pitchFamily="18" charset="0"/>
                <a:ea typeface="Times New Roman" panose="02020603050405020304" pitchFamily="18" charset="0"/>
                <a:cs typeface="Times New Roman" panose="02020603050405020304" pitchFamily="18" charset="0"/>
              </a:rPr>
              <a:t>same</a:t>
            </a:r>
            <a:r>
              <a:rPr lang="en-US" dirty="0">
                <a:latin typeface="Times New Roman" panose="02020603050405020304" pitchFamily="18" charset="0"/>
                <a:ea typeface="Times New Roman" panose="02020603050405020304" pitchFamily="18" charset="0"/>
                <a:cs typeface="Times New Roman" panose="02020603050405020304" pitchFamily="18" charset="0"/>
              </a:rPr>
              <a:t> graph and finding their </a:t>
            </a:r>
            <a:r>
              <a:rPr lang="en-US" b="1" dirty="0">
                <a:latin typeface="Times New Roman" panose="02020603050405020304" pitchFamily="18" charset="0"/>
                <a:ea typeface="Times New Roman" panose="02020603050405020304" pitchFamily="18" charset="0"/>
                <a:cs typeface="Times New Roman" panose="02020603050405020304" pitchFamily="18" charset="0"/>
              </a:rPr>
              <a:t>point of intersection </a:t>
            </a:r>
            <a:r>
              <a:rPr lang="en-US" dirty="0">
                <a:latin typeface="Times New Roman" panose="02020603050405020304" pitchFamily="18" charset="0"/>
                <a:ea typeface="Times New Roman" panose="02020603050405020304" pitchFamily="18" charset="0"/>
                <a:cs typeface="Times New Roman" panose="02020603050405020304" pitchFamily="18" charset="0"/>
              </a:rPr>
              <a:t>which is a </a:t>
            </a:r>
            <a:r>
              <a:rPr lang="en-US" b="1" dirty="0">
                <a:latin typeface="Times New Roman" panose="02020603050405020304" pitchFamily="18" charset="0"/>
                <a:ea typeface="Times New Roman" panose="02020603050405020304" pitchFamily="18" charset="0"/>
                <a:cs typeface="Times New Roman" panose="02020603050405020304" pitchFamily="18" charset="0"/>
              </a:rPr>
              <a:t>SOLUTION</a:t>
            </a:r>
            <a:r>
              <a:rPr lang="en-US" dirty="0">
                <a:latin typeface="Times New Roman" panose="02020603050405020304" pitchFamily="18" charset="0"/>
                <a:ea typeface="Times New Roman" panose="02020603050405020304" pitchFamily="18" charset="0"/>
                <a:cs typeface="Times New Roman" panose="02020603050405020304" pitchFamily="18" charset="0"/>
              </a:rPr>
              <a:t> to the equations being solved. </a:t>
            </a:r>
          </a:p>
          <a:p>
            <a:pPr marL="0" indent="0" algn="just">
              <a:lnSpc>
                <a:spcPct val="150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A system of simultaneous equations can have the following </a:t>
            </a:r>
            <a:r>
              <a:rPr lang="en-US"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three</a:t>
            </a:r>
            <a:r>
              <a:rPr lang="en-US" dirty="0">
                <a:latin typeface="Times New Roman" panose="02020603050405020304" pitchFamily="18" charset="0"/>
                <a:ea typeface="Times New Roman" panose="02020603050405020304" pitchFamily="18" charset="0"/>
                <a:cs typeface="Times New Roman" panose="02020603050405020304" pitchFamily="18" charset="0"/>
              </a:rPr>
              <a:t> types of solutions;</a:t>
            </a:r>
            <a:endParaRPr lang="en-UG" dirty="0">
              <a:latin typeface="Calibri" panose="020F0502020204030204" pitchFamily="34" charset="0"/>
              <a:ea typeface="Times New Roman" panose="02020603050405020304" pitchFamily="18" charset="0"/>
              <a:cs typeface="Times New Roman" panose="02020603050405020304" pitchFamily="18" charset="0"/>
            </a:endParaRPr>
          </a:p>
          <a:p>
            <a:pPr marL="514350" lvl="0" indent="-514350" algn="just">
              <a:lnSpc>
                <a:spcPct val="150000"/>
              </a:lnSpc>
              <a:spcAft>
                <a:spcPts val="0"/>
              </a:spcAft>
              <a:buFont typeface="+mj-lt"/>
              <a:buAutoNum type="arabicPeriod"/>
              <a:tabLst>
                <a:tab pos="274320" algn="l"/>
              </a:tabLst>
            </a:pPr>
            <a:r>
              <a:rPr lang="en-US"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One unique solution</a:t>
            </a:r>
          </a:p>
          <a:p>
            <a:pPr marL="514350" lvl="0" indent="-514350" algn="just">
              <a:lnSpc>
                <a:spcPct val="150000"/>
              </a:lnSpc>
              <a:spcAft>
                <a:spcPts val="0"/>
              </a:spcAft>
              <a:buFont typeface="+mj-lt"/>
              <a:buAutoNum type="arabicPeriod"/>
              <a:tabLst>
                <a:tab pos="274320" algn="l"/>
              </a:tabLst>
            </a:pPr>
            <a:r>
              <a:rPr lang="en-US"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Infinite Many Solutions</a:t>
            </a:r>
          </a:p>
          <a:p>
            <a:pPr marL="514350" lvl="0" indent="-514350" algn="just">
              <a:lnSpc>
                <a:spcPct val="150000"/>
              </a:lnSpc>
              <a:spcAft>
                <a:spcPts val="0"/>
              </a:spcAft>
              <a:buFont typeface="+mj-lt"/>
              <a:buAutoNum type="arabicPeriod"/>
              <a:tabLst>
                <a:tab pos="274320" algn="l"/>
              </a:tabLst>
            </a:pPr>
            <a:r>
              <a:rPr lang="en-US"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No solution</a:t>
            </a:r>
          </a:p>
        </p:txBody>
      </p:sp>
    </p:spTree>
    <p:extLst>
      <p:ext uri="{BB962C8B-B14F-4D97-AF65-F5344CB8AC3E}">
        <p14:creationId xmlns:p14="http://schemas.microsoft.com/office/powerpoint/2010/main" val="1461819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1143000" y="0"/>
            <a:ext cx="9629776" cy="548961"/>
          </a:xfrm>
        </p:spPr>
        <p:txBody>
          <a:bodyPr>
            <a:noAutofit/>
          </a:bodyPr>
          <a:lstStyle/>
          <a:p>
            <a:pPr algn="ct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200" b="1" dirty="0">
                <a:latin typeface="Century Gothic" panose="020B0502020202020204" pitchFamily="34" charset="0"/>
              </a:rPr>
            </a:br>
            <a:br>
              <a:rPr lang="en-US" sz="3200" b="1" dirty="0">
                <a:latin typeface="Century Gothic" panose="020B0502020202020204" pitchFamily="34" charset="0"/>
              </a:rPr>
            </a:br>
            <a:r>
              <a:rPr lang="en-US" sz="3200" b="1" dirty="0">
                <a:latin typeface="Century Gothic" panose="020B0502020202020204" pitchFamily="34" charset="0"/>
              </a:rPr>
              <a:t>Graphical solutions (</a:t>
            </a:r>
            <a:r>
              <a:rPr lang="en-US" sz="3200" b="1" dirty="0" err="1">
                <a:latin typeface="Century Gothic" panose="020B0502020202020204" pitchFamily="34" charset="0"/>
              </a:rPr>
              <a:t>Ct’d</a:t>
            </a:r>
            <a:r>
              <a:rPr lang="en-US" sz="3200" b="1" dirty="0">
                <a:latin typeface="Century Gothic" panose="020B0502020202020204" pitchFamily="34" charset="0"/>
              </a:rPr>
              <a:t>)</a:t>
            </a:r>
            <a:br>
              <a:rPr lang="en-UG" sz="3600" dirty="0">
                <a:latin typeface="Calibri" panose="020F0502020204030204" pitchFamily="34" charset="0"/>
                <a:ea typeface="Times New Roman" panose="02020603050405020304" pitchFamily="18" charset="0"/>
                <a:cs typeface="Times New Roman" panose="02020603050405020304" pitchFamily="18" charset="0"/>
              </a:rPr>
            </a:br>
            <a:br>
              <a:rPr lang="en-UG" sz="4000" dirty="0"/>
            </a:br>
            <a:br>
              <a:rPr lang="en-UG" dirty="0"/>
            </a:br>
            <a:br>
              <a:rPr lang="en-US" dirty="0"/>
            </a:br>
            <a:br>
              <a:rPr lang="en-US" sz="3600" dirty="0">
                <a:latin typeface="Century Gothic" panose="020B0502020202020204" pitchFamily="34" charset="0"/>
              </a:rPr>
            </a:br>
            <a:endParaRPr lang="en-US" sz="3600" b="1" dirty="0">
              <a:solidFill>
                <a:schemeClr val="accent2">
                  <a:lumMod val="75000"/>
                </a:schemeClr>
              </a:solidFill>
              <a:latin typeface="+mn-lt"/>
            </a:endParaRPr>
          </a:p>
        </p:txBody>
      </p:sp>
      <p:sp>
        <p:nvSpPr>
          <p:cNvPr id="12" name="Rectangle 4">
            <a:extLst>
              <a:ext uri="{FF2B5EF4-FFF2-40B4-BE49-F238E27FC236}">
                <a16:creationId xmlns:a16="http://schemas.microsoft.com/office/drawing/2014/main" id="{C7A428CC-9977-409B-A4F2-DAE08F772C22}"/>
              </a:ext>
            </a:extLst>
          </p:cNvPr>
          <p:cNvSpPr>
            <a:spLocks noChangeArrowheads="1"/>
          </p:cNvSpPr>
          <p:nvPr/>
        </p:nvSpPr>
        <p:spPr bwMode="auto">
          <a:xfrm>
            <a:off x="2746375" y="1805673"/>
            <a:ext cx="6752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G" altLang="en-UG" sz="1800" b="0" i="0" u="none" strike="noStrike" cap="none" normalizeH="0" baseline="0">
                <a:ln>
                  <a:noFill/>
                </a:ln>
                <a:solidFill>
                  <a:schemeClr val="tx1"/>
                </a:solidFill>
                <a:effectLst/>
                <a:latin typeface="Arial" panose="020B0604020202020204" pitchFamily="34" charset="0"/>
              </a:rPr>
            </a:br>
            <a:endParaRPr kumimoji="0" lang="en-UG" altLang="en-UG" sz="1800" b="0" i="0" u="none" strike="noStrike" cap="none" normalizeH="0" baseline="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3DF395E6-7EFA-46ED-80BE-B4681ACDB608}"/>
              </a:ext>
            </a:extLst>
          </p:cNvPr>
          <p:cNvSpPr>
            <a:spLocks noGrp="1"/>
          </p:cNvSpPr>
          <p:nvPr>
            <p:ph idx="1"/>
          </p:nvPr>
        </p:nvSpPr>
        <p:spPr>
          <a:xfrm>
            <a:off x="1" y="581025"/>
            <a:ext cx="12049804" cy="6276975"/>
          </a:xfrm>
        </p:spPr>
        <p:txBody>
          <a:bodyPr>
            <a:normAutofit lnSpcReduction="10000"/>
          </a:bodyPr>
          <a:lstStyle/>
          <a:p>
            <a:pPr marL="0" indent="0" algn="just">
              <a:lnSpc>
                <a:spcPct val="150000"/>
              </a:lnSpc>
              <a:spcAft>
                <a:spcPts val="0"/>
              </a:spcAft>
              <a:buNone/>
              <a:tabLst>
                <a:tab pos="274320" algn="l"/>
              </a:tabLst>
            </a:pPr>
            <a:r>
              <a:rPr lang="en-US" sz="2400"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Types of graphical solutions;</a:t>
            </a:r>
            <a:endParaRPr lang="en-UG" sz="1600" dirty="0">
              <a:solidFill>
                <a:srgbClr val="7030A0"/>
              </a:solidFill>
              <a:latin typeface="Calibri" panose="020F0502020204030204" pitchFamily="34" charset="0"/>
              <a:ea typeface="Times New Roman" panose="02020603050405020304" pitchFamily="18" charset="0"/>
              <a:cs typeface="Times New Roman" panose="02020603050405020304" pitchFamily="18" charset="0"/>
            </a:endParaRPr>
          </a:p>
          <a:p>
            <a:pPr marL="514350" lvl="0" indent="-514350" algn="just">
              <a:lnSpc>
                <a:spcPct val="150000"/>
              </a:lnSpc>
              <a:spcAft>
                <a:spcPts val="0"/>
              </a:spcAft>
              <a:buFont typeface="+mj-lt"/>
              <a:buAutoNum type="arabicPeriod"/>
              <a:tabLst>
                <a:tab pos="274320" algn="l"/>
              </a:tabLst>
            </a:pPr>
            <a:r>
              <a:rPr lang="en-US" sz="2400" b="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One unique solution</a:t>
            </a:r>
            <a:r>
              <a:rPr lang="en-US" sz="24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In this case, the linear equations intersect </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at a particular point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which forms the solution of the equations being solved. There is a unique solution in the sense that there is a pair of values (one for each of the variables). </a:t>
            </a:r>
            <a:endParaRPr lang="en-UG" sz="1600" dirty="0">
              <a:latin typeface="Calibri" panose="020F0502020204030204" pitchFamily="34" charset="0"/>
              <a:ea typeface="Times New Roman" panose="02020603050405020304" pitchFamily="18" charset="0"/>
              <a:cs typeface="Times New Roman" panose="02020603050405020304" pitchFamily="18" charset="0"/>
            </a:endParaRPr>
          </a:p>
          <a:p>
            <a:pPr marL="514350" lvl="0" indent="-514350" algn="just">
              <a:lnSpc>
                <a:spcPct val="150000"/>
              </a:lnSpc>
              <a:spcAft>
                <a:spcPts val="0"/>
              </a:spcAft>
              <a:buFont typeface="+mj-lt"/>
              <a:buAutoNum type="arabicPeriod"/>
              <a:tabLst>
                <a:tab pos="274320" algn="l"/>
              </a:tabLst>
            </a:pPr>
            <a:r>
              <a:rPr lang="en-US" sz="2400" b="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Infinite Many Solutions</a:t>
            </a:r>
            <a:r>
              <a:rPr lang="en-US" sz="24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This is a type of solution where the </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equations appear to be on the same straight line</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when plotted on the same graph. In this case, it can be said that the equations are </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similar</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In this case, there are infinitely many solutions for that system of equations. All pairs of values on that particular line satisfy the given system of equations being solved. </a:t>
            </a:r>
            <a:endParaRPr lang="en-UG" sz="1600" dirty="0">
              <a:latin typeface="Calibri" panose="020F0502020204030204" pitchFamily="34" charset="0"/>
              <a:ea typeface="Times New Roman" panose="02020603050405020304" pitchFamily="18" charset="0"/>
              <a:cs typeface="Times New Roman" panose="02020603050405020304" pitchFamily="18" charset="0"/>
            </a:endParaRPr>
          </a:p>
          <a:p>
            <a:pPr marL="514350" lvl="0" indent="-514350" algn="just">
              <a:lnSpc>
                <a:spcPct val="150000"/>
              </a:lnSpc>
              <a:spcAft>
                <a:spcPts val="0"/>
              </a:spcAft>
              <a:buFont typeface="+mj-lt"/>
              <a:buAutoNum type="arabicPeriod"/>
              <a:tabLst>
                <a:tab pos="274320" algn="l"/>
              </a:tabLst>
            </a:pPr>
            <a:r>
              <a:rPr lang="en-US" sz="2400" b="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No solution</a:t>
            </a:r>
            <a:r>
              <a:rPr lang="en-US" sz="24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In this case the </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lines are parallel to one another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when plotted on the same graph. This implies that there are no pairs of variables (X,Y) which lie on both line. </a:t>
            </a:r>
            <a:endParaRPr lang="en-UG" sz="1600" dirty="0">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2859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762000" y="34705"/>
            <a:ext cx="10515600" cy="646332"/>
          </a:xfrm>
        </p:spPr>
        <p:txBody>
          <a:bodyPr>
            <a:noAutofit/>
          </a:bodyPr>
          <a:lstStyle/>
          <a:p>
            <a:pPr algn="ct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r>
              <a:rPr lang="en-US" sz="3200" b="1" dirty="0">
                <a:latin typeface="Century Gothic" panose="020B0502020202020204" pitchFamily="34" charset="0"/>
              </a:rPr>
              <a:t>Graphical solutions (Example)</a:t>
            </a:r>
            <a:br>
              <a:rPr lang="en-UG" sz="3600" dirty="0">
                <a:latin typeface="Calibri" panose="020F0502020204030204" pitchFamily="34" charset="0"/>
                <a:ea typeface="Times New Roman" panose="02020603050405020304" pitchFamily="18" charset="0"/>
                <a:cs typeface="Times New Roman" panose="02020603050405020304" pitchFamily="18" charset="0"/>
              </a:rPr>
            </a:br>
            <a:br>
              <a:rPr lang="en-UG" sz="4000" dirty="0"/>
            </a:br>
            <a:br>
              <a:rPr lang="en-UG" dirty="0"/>
            </a:br>
            <a:br>
              <a:rPr lang="en-US" dirty="0"/>
            </a:br>
            <a:br>
              <a:rPr lang="en-US" sz="3600" dirty="0">
                <a:latin typeface="Century Gothic" panose="020B0502020202020204" pitchFamily="34" charset="0"/>
              </a:rPr>
            </a:br>
            <a:endParaRPr lang="en-US" sz="3600" b="1" dirty="0">
              <a:solidFill>
                <a:schemeClr val="accent2">
                  <a:lumMod val="75000"/>
                </a:schemeClr>
              </a:solidFill>
              <a:latin typeface="+mn-lt"/>
            </a:endParaRPr>
          </a:p>
        </p:txBody>
      </p:sp>
      <p:sp>
        <p:nvSpPr>
          <p:cNvPr id="3" name="Content Placeholder 2">
            <a:extLst>
              <a:ext uri="{FF2B5EF4-FFF2-40B4-BE49-F238E27FC236}">
                <a16:creationId xmlns:a16="http://schemas.microsoft.com/office/drawing/2014/main" id="{24979C06-F0EB-42CC-A6A1-2553EAC825F0}"/>
              </a:ext>
            </a:extLst>
          </p:cNvPr>
          <p:cNvSpPr>
            <a:spLocks noGrp="1"/>
          </p:cNvSpPr>
          <p:nvPr>
            <p:ph sz="half" idx="1"/>
          </p:nvPr>
        </p:nvSpPr>
        <p:spPr>
          <a:xfrm>
            <a:off x="185530" y="781878"/>
            <a:ext cx="5834270" cy="6041417"/>
          </a:xfrm>
        </p:spPr>
        <p:txBody>
          <a:bodyPr/>
          <a:lstStyle/>
          <a:p>
            <a:pPr marL="0" indent="0" algn="just">
              <a:buNone/>
            </a:pPr>
            <a:r>
              <a:rPr lang="en-US" sz="2400" b="1" dirty="0">
                <a:solidFill>
                  <a:srgbClr val="002060"/>
                </a:solidFill>
                <a:latin typeface="Times New Roman" panose="02020603050405020304" pitchFamily="18" charset="0"/>
                <a:cs typeface="Times New Roman" panose="02020603050405020304" pitchFamily="18" charset="0"/>
              </a:rPr>
              <a:t>Solve the following simultaneous equations using the graphical method. </a:t>
            </a:r>
            <a:endParaRPr lang="en-UG" sz="2400" b="1" dirty="0">
              <a:solidFill>
                <a:srgbClr val="002060"/>
              </a:solidFill>
              <a:latin typeface="Times New Roman" panose="02020603050405020304" pitchFamily="18" charset="0"/>
              <a:cs typeface="Times New Roman" panose="02020603050405020304" pitchFamily="18" charset="0"/>
            </a:endParaRPr>
          </a:p>
          <a:p>
            <a:pPr marL="0" indent="0" algn="just">
              <a:buNone/>
            </a:pPr>
            <a:r>
              <a:rPr lang="en-US" sz="2400" b="1" dirty="0">
                <a:solidFill>
                  <a:srgbClr val="002060"/>
                </a:solidFill>
                <a:latin typeface="Times New Roman" panose="02020603050405020304" pitchFamily="18" charset="0"/>
                <a:cs typeface="Times New Roman" panose="02020603050405020304" pitchFamily="18" charset="0"/>
              </a:rPr>
              <a:t> y−2x=1</a:t>
            </a:r>
            <a:endParaRPr lang="en-UG" sz="2400" b="1" dirty="0">
              <a:solidFill>
                <a:srgbClr val="002060"/>
              </a:solidFill>
              <a:latin typeface="Times New Roman" panose="02020603050405020304" pitchFamily="18" charset="0"/>
              <a:cs typeface="Times New Roman" panose="02020603050405020304" pitchFamily="18" charset="0"/>
            </a:endParaRPr>
          </a:p>
          <a:p>
            <a:pPr marL="0" indent="0" algn="just">
              <a:buNone/>
            </a:pPr>
            <a:r>
              <a:rPr lang="en-US" sz="2400" b="1" dirty="0">
                <a:solidFill>
                  <a:srgbClr val="002060"/>
                </a:solidFill>
                <a:latin typeface="Times New Roman" panose="02020603050405020304" pitchFamily="18" charset="0"/>
                <a:cs typeface="Times New Roman" panose="02020603050405020304" pitchFamily="18" charset="0"/>
              </a:rPr>
              <a:t>2y−3x=5</a:t>
            </a:r>
            <a:endParaRPr lang="en-UG" sz="2400" b="1" dirty="0">
              <a:solidFill>
                <a:srgbClr val="002060"/>
              </a:solidFill>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Solution</a:t>
            </a:r>
            <a:endParaRPr lang="en-UG" sz="2400" dirty="0">
              <a:latin typeface="Times New Roman" panose="02020603050405020304" pitchFamily="18" charset="0"/>
              <a:cs typeface="Times New Roman" panose="02020603050405020304" pitchFamily="18" charset="0"/>
            </a:endParaRPr>
          </a:p>
          <a:p>
            <a:pPr marL="0" indent="0" algn="just">
              <a:buNone/>
            </a:pPr>
            <a:r>
              <a:rPr lang="en-US" sz="2400" b="1" u="sng" dirty="0">
                <a:solidFill>
                  <a:srgbClr val="7030A0"/>
                </a:solidFill>
                <a:latin typeface="Times New Roman" panose="02020603050405020304" pitchFamily="18" charset="0"/>
                <a:cs typeface="Times New Roman" panose="02020603050405020304" pitchFamily="18" charset="0"/>
              </a:rPr>
              <a:t>Step One</a:t>
            </a:r>
            <a:r>
              <a:rPr lang="en-US" sz="2400" dirty="0">
                <a:solidFill>
                  <a:srgbClr val="7030A0"/>
                </a:solidFill>
                <a:latin typeface="Times New Roman" panose="02020603050405020304" pitchFamily="18" charset="0"/>
                <a:cs typeface="Times New Roman" panose="02020603050405020304" pitchFamily="18" charset="0"/>
              </a:rPr>
              <a:t>: Plot each of the equations on the graph. </a:t>
            </a:r>
            <a:endParaRPr lang="en-UG" sz="2400" dirty="0">
              <a:solidFill>
                <a:srgbClr val="7030A0"/>
              </a:solidFill>
              <a:latin typeface="Times New Roman" panose="02020603050405020304" pitchFamily="18" charset="0"/>
              <a:cs typeface="Times New Roman" panose="02020603050405020304" pitchFamily="18" charset="0"/>
            </a:endParaRPr>
          </a:p>
          <a:p>
            <a:endParaRPr lang="en-UG" dirty="0"/>
          </a:p>
        </p:txBody>
      </p:sp>
      <p:graphicFrame>
        <p:nvGraphicFramePr>
          <p:cNvPr id="5" name="Content Placeholder 4">
            <a:extLst>
              <a:ext uri="{FF2B5EF4-FFF2-40B4-BE49-F238E27FC236}">
                <a16:creationId xmlns:a16="http://schemas.microsoft.com/office/drawing/2014/main" id="{28C8EC73-2CF7-4EFE-9E9D-068C8DB8B0BC}"/>
              </a:ext>
            </a:extLst>
          </p:cNvPr>
          <p:cNvGraphicFramePr>
            <a:graphicFrameLocks noGrp="1"/>
          </p:cNvGraphicFramePr>
          <p:nvPr>
            <p:ph sz="half" idx="2"/>
            <p:extLst>
              <p:ext uri="{D42A27DB-BD31-4B8C-83A1-F6EECF244321}">
                <p14:modId xmlns:p14="http://schemas.microsoft.com/office/powerpoint/2010/main" val="876884638"/>
              </p:ext>
            </p:extLst>
          </p:nvPr>
        </p:nvGraphicFramePr>
        <p:xfrm>
          <a:off x="185530" y="3802586"/>
          <a:ext cx="5698435" cy="1330960"/>
        </p:xfrm>
        <a:graphic>
          <a:graphicData uri="http://schemas.openxmlformats.org/drawingml/2006/table">
            <a:tbl>
              <a:tblPr firstRow="1" firstCol="1" bandRow="1"/>
              <a:tblGrid>
                <a:gridCol w="513715">
                  <a:extLst>
                    <a:ext uri="{9D8B030D-6E8A-4147-A177-3AD203B41FA5}">
                      <a16:colId xmlns:a16="http://schemas.microsoft.com/office/drawing/2014/main" val="3821017417"/>
                    </a:ext>
                  </a:extLst>
                </a:gridCol>
                <a:gridCol w="440442">
                  <a:extLst>
                    <a:ext uri="{9D8B030D-6E8A-4147-A177-3AD203B41FA5}">
                      <a16:colId xmlns:a16="http://schemas.microsoft.com/office/drawing/2014/main" val="4107708669"/>
                    </a:ext>
                  </a:extLst>
                </a:gridCol>
                <a:gridCol w="1258956">
                  <a:extLst>
                    <a:ext uri="{9D8B030D-6E8A-4147-A177-3AD203B41FA5}">
                      <a16:colId xmlns:a16="http://schemas.microsoft.com/office/drawing/2014/main" val="3716564251"/>
                    </a:ext>
                  </a:extLst>
                </a:gridCol>
                <a:gridCol w="609600">
                  <a:extLst>
                    <a:ext uri="{9D8B030D-6E8A-4147-A177-3AD203B41FA5}">
                      <a16:colId xmlns:a16="http://schemas.microsoft.com/office/drawing/2014/main" val="185476213"/>
                    </a:ext>
                  </a:extLst>
                </a:gridCol>
                <a:gridCol w="901148">
                  <a:extLst>
                    <a:ext uri="{9D8B030D-6E8A-4147-A177-3AD203B41FA5}">
                      <a16:colId xmlns:a16="http://schemas.microsoft.com/office/drawing/2014/main" val="3495806750"/>
                    </a:ext>
                  </a:extLst>
                </a:gridCol>
                <a:gridCol w="712884">
                  <a:extLst>
                    <a:ext uri="{9D8B030D-6E8A-4147-A177-3AD203B41FA5}">
                      <a16:colId xmlns:a16="http://schemas.microsoft.com/office/drawing/2014/main" val="3058183976"/>
                    </a:ext>
                  </a:extLst>
                </a:gridCol>
                <a:gridCol w="1261690">
                  <a:extLst>
                    <a:ext uri="{9D8B030D-6E8A-4147-A177-3AD203B41FA5}">
                      <a16:colId xmlns:a16="http://schemas.microsoft.com/office/drawing/2014/main" val="2263231083"/>
                    </a:ext>
                  </a:extLst>
                </a:gridCol>
              </a:tblGrid>
              <a:tr h="200025">
                <a:tc gridSpan="3">
                  <a:txBody>
                    <a:bodyPr/>
                    <a:lstStyle/>
                    <a:p>
                      <a:pPr algn="ctr">
                        <a:lnSpc>
                          <a:spcPct val="115000"/>
                        </a:lnSpc>
                        <a:spcAft>
                          <a:spcPts val="0"/>
                        </a:spcAft>
                        <a:tabLst>
                          <a:tab pos="27432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Y= 2X+1</a:t>
                      </a:r>
                      <a:endParaRPr lang="en-UG"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G"/>
                    </a:p>
                  </a:txBody>
                  <a:tcPr/>
                </a:tc>
                <a:tc hMerge="1">
                  <a:txBody>
                    <a:bodyPr/>
                    <a:lstStyle/>
                    <a:p>
                      <a:endParaRPr lang="en-UG"/>
                    </a:p>
                  </a:txBody>
                  <a:tcPr/>
                </a:tc>
                <a:tc rowSpan="5">
                  <a:txBody>
                    <a:bodyPr/>
                    <a:lstStyle/>
                    <a:p>
                      <a:pPr algn="just">
                        <a:lnSpc>
                          <a:spcPct val="115000"/>
                        </a:lnSpc>
                        <a:spcAft>
                          <a:spcPts val="0"/>
                        </a:spcAft>
                        <a:tabLst>
                          <a:tab pos="27432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G"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lnSpc>
                          <a:spcPct val="115000"/>
                        </a:lnSpc>
                        <a:spcAft>
                          <a:spcPts val="0"/>
                        </a:spcAft>
                        <a:tabLst>
                          <a:tab pos="274320" algn="l"/>
                        </a:tabLst>
                      </a:pP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2Y=3X+5</a:t>
                      </a:r>
                      <a:endParaRPr lang="en-UG" sz="1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G"/>
                    </a:p>
                  </a:txBody>
                  <a:tcPr/>
                </a:tc>
                <a:tc hMerge="1">
                  <a:txBody>
                    <a:bodyPr/>
                    <a:lstStyle/>
                    <a:p>
                      <a:endParaRPr lang="en-UG"/>
                    </a:p>
                  </a:txBody>
                  <a:tcPr/>
                </a:tc>
                <a:extLst>
                  <a:ext uri="{0D108BD9-81ED-4DB2-BD59-A6C34878D82A}">
                    <a16:rowId xmlns:a16="http://schemas.microsoft.com/office/drawing/2014/main" val="547067678"/>
                  </a:ext>
                </a:extLst>
              </a:tr>
              <a:tr h="374256">
                <a:tc>
                  <a:txBody>
                    <a:bodyPr/>
                    <a:lstStyle/>
                    <a:p>
                      <a:pPr algn="ctr">
                        <a:lnSpc>
                          <a:spcPct val="115000"/>
                        </a:lnSpc>
                        <a:spcAft>
                          <a:spcPts val="0"/>
                        </a:spcAft>
                        <a:tabLst>
                          <a:tab pos="274320" algn="l"/>
                        </a:tabLs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X</a:t>
                      </a:r>
                      <a:endParaRPr lang="en-UG"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74320" algn="l"/>
                        </a:tabLs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Y</a:t>
                      </a:r>
                      <a:endParaRPr lang="en-UG"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7432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Coordinates</a:t>
                      </a:r>
                      <a:endParaRPr lang="en-UG"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G"/>
                    </a:p>
                  </a:txBody>
                  <a:tcPr/>
                </a:tc>
                <a:tc rowSpan="2">
                  <a:txBody>
                    <a:bodyPr/>
                    <a:lstStyle/>
                    <a:p>
                      <a:pPr algn="ctr">
                        <a:lnSpc>
                          <a:spcPct val="115000"/>
                        </a:lnSpc>
                        <a:spcAft>
                          <a:spcPts val="0"/>
                        </a:spcAft>
                        <a:tabLst>
                          <a:tab pos="274320" algn="l"/>
                        </a:tabLs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X</a:t>
                      </a:r>
                      <a:endParaRPr lang="en-UG" sz="1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lnSpc>
                          <a:spcPct val="115000"/>
                        </a:lnSpc>
                        <a:spcAft>
                          <a:spcPts val="0"/>
                        </a:spcAft>
                        <a:tabLst>
                          <a:tab pos="27432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Y</a:t>
                      </a:r>
                      <a:endParaRPr lang="en-UG"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lnSpc>
                          <a:spcPct val="115000"/>
                        </a:lnSpc>
                        <a:spcAft>
                          <a:spcPts val="0"/>
                        </a:spcAft>
                        <a:tabLst>
                          <a:tab pos="274320" algn="l"/>
                        </a:tabLs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Coordinates</a:t>
                      </a:r>
                      <a:endParaRPr lang="en-UG" sz="1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7834211"/>
                  </a:ext>
                </a:extLst>
              </a:tr>
              <a:tr h="168796">
                <a:tc rowSpan="2">
                  <a:txBody>
                    <a:bodyPr/>
                    <a:lstStyle/>
                    <a:p>
                      <a:pPr algn="ctr">
                        <a:lnSpc>
                          <a:spcPct val="115000"/>
                        </a:lnSpc>
                        <a:spcAft>
                          <a:spcPts val="0"/>
                        </a:spcAft>
                        <a:tabLst>
                          <a:tab pos="274320" algn="l"/>
                        </a:tabLs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a:t>
                      </a:r>
                      <a:endParaRPr lang="en-UG"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lnSpc>
                          <a:spcPct val="115000"/>
                        </a:lnSpc>
                        <a:spcAft>
                          <a:spcPts val="0"/>
                        </a:spcAft>
                        <a:tabLst>
                          <a:tab pos="274320" algn="l"/>
                        </a:tabLs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UG"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lnSpc>
                          <a:spcPct val="115000"/>
                        </a:lnSpc>
                        <a:spcAft>
                          <a:spcPts val="0"/>
                        </a:spcAft>
                        <a:tabLst>
                          <a:tab pos="27432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G"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G"/>
                    </a:p>
                  </a:txBody>
                  <a:tcPr/>
                </a:tc>
                <a:tc vMerge="1">
                  <a:txBody>
                    <a:bodyPr/>
                    <a:lstStyle/>
                    <a:p>
                      <a:pPr algn="ctr">
                        <a:lnSpc>
                          <a:spcPct val="115000"/>
                        </a:lnSpc>
                        <a:spcAft>
                          <a:spcPts val="0"/>
                        </a:spcAft>
                        <a:tabLst>
                          <a:tab pos="274320" algn="l"/>
                        </a:tabLst>
                      </a:pPr>
                      <a:endParaRPr lang="en-UG" sz="1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algn="ctr">
                        <a:lnSpc>
                          <a:spcPct val="115000"/>
                        </a:lnSpc>
                        <a:spcAft>
                          <a:spcPts val="0"/>
                        </a:spcAft>
                        <a:tabLst>
                          <a:tab pos="274320" algn="l"/>
                        </a:tabLst>
                      </a:pPr>
                      <a:endParaRPr lang="en-UG" sz="1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algn="ctr">
                        <a:lnSpc>
                          <a:spcPct val="115000"/>
                        </a:lnSpc>
                        <a:spcAft>
                          <a:spcPts val="0"/>
                        </a:spcAft>
                        <a:tabLst>
                          <a:tab pos="274320" algn="l"/>
                        </a:tabLst>
                      </a:pPr>
                      <a:endParaRPr lang="en-UG" sz="1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9848872"/>
                  </a:ext>
                </a:extLst>
              </a:tr>
              <a:tr h="190500">
                <a:tc vMerge="1">
                  <a:txBody>
                    <a:bodyPr/>
                    <a:lstStyle/>
                    <a:p>
                      <a:pPr algn="ctr">
                        <a:lnSpc>
                          <a:spcPct val="115000"/>
                        </a:lnSpc>
                        <a:spcAft>
                          <a:spcPts val="0"/>
                        </a:spcAft>
                        <a:tabLst>
                          <a:tab pos="274320" algn="l"/>
                        </a:tabLs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a:t>
                      </a:r>
                      <a:endParaRPr lang="en-UG"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algn="ctr">
                        <a:lnSpc>
                          <a:spcPct val="115000"/>
                        </a:lnSpc>
                        <a:spcAft>
                          <a:spcPts val="0"/>
                        </a:spcAft>
                        <a:tabLst>
                          <a:tab pos="274320" algn="l"/>
                        </a:tabLs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UG"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algn="ctr">
                        <a:lnSpc>
                          <a:spcPct val="115000"/>
                        </a:lnSpc>
                        <a:spcAft>
                          <a:spcPts val="0"/>
                        </a:spcAft>
                        <a:tabLst>
                          <a:tab pos="27432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G"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G"/>
                    </a:p>
                  </a:txBody>
                  <a:tcPr/>
                </a:tc>
                <a:tc>
                  <a:txBody>
                    <a:bodyPr/>
                    <a:lstStyle/>
                    <a:p>
                      <a:pPr algn="ctr">
                        <a:lnSpc>
                          <a:spcPct val="115000"/>
                        </a:lnSpc>
                        <a:spcAft>
                          <a:spcPts val="0"/>
                        </a:spcAft>
                        <a:tabLst>
                          <a:tab pos="27432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a:t>
                      </a:r>
                      <a:endParaRPr lang="en-UG"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74320" algn="l"/>
                        </a:tabLs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2.5</a:t>
                      </a:r>
                      <a:endParaRPr lang="en-UG" sz="1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7432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(0,2.5)</a:t>
                      </a:r>
                      <a:endParaRPr lang="en-UG"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2033578"/>
                  </a:ext>
                </a:extLst>
              </a:tr>
              <a:tr h="190500">
                <a:tc>
                  <a:txBody>
                    <a:bodyPr/>
                    <a:lstStyle/>
                    <a:p>
                      <a:pPr algn="ctr">
                        <a:lnSpc>
                          <a:spcPct val="115000"/>
                        </a:lnSpc>
                        <a:spcAft>
                          <a:spcPts val="0"/>
                        </a:spcAft>
                        <a:tabLst>
                          <a:tab pos="274320" algn="l"/>
                        </a:tabLs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G"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74320" algn="l"/>
                        </a:tabLs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a:t>
                      </a:r>
                      <a:endParaRPr lang="en-UG" sz="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74320" algn="l"/>
                        </a:tabLs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(-0.5,0)</a:t>
                      </a:r>
                      <a:endParaRPr lang="en-UG" sz="14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G"/>
                    </a:p>
                  </a:txBody>
                  <a:tcPr/>
                </a:tc>
                <a:tc>
                  <a:txBody>
                    <a:bodyPr/>
                    <a:lstStyle/>
                    <a:p>
                      <a:pPr algn="ctr">
                        <a:lnSpc>
                          <a:spcPct val="115000"/>
                        </a:lnSpc>
                        <a:spcAft>
                          <a:spcPts val="0"/>
                        </a:spcAft>
                        <a:tabLst>
                          <a:tab pos="27432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-1.66667</a:t>
                      </a:r>
                      <a:endParaRPr lang="en-UG"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7432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a:t>
                      </a:r>
                      <a:endParaRPr lang="en-UG"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7432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(-1.66667,0)</a:t>
                      </a:r>
                      <a:endParaRPr lang="en-UG" sz="1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6463881"/>
                  </a:ext>
                </a:extLst>
              </a:tr>
            </a:tbl>
          </a:graphicData>
        </a:graphic>
      </p:graphicFrame>
      <p:sp>
        <p:nvSpPr>
          <p:cNvPr id="12" name="Rectangle 4">
            <a:extLst>
              <a:ext uri="{FF2B5EF4-FFF2-40B4-BE49-F238E27FC236}">
                <a16:creationId xmlns:a16="http://schemas.microsoft.com/office/drawing/2014/main" id="{C7A428CC-9977-409B-A4F2-DAE08F772C22}"/>
              </a:ext>
            </a:extLst>
          </p:cNvPr>
          <p:cNvSpPr>
            <a:spLocks noChangeArrowheads="1"/>
          </p:cNvSpPr>
          <p:nvPr/>
        </p:nvSpPr>
        <p:spPr bwMode="auto">
          <a:xfrm>
            <a:off x="2746375" y="1805673"/>
            <a:ext cx="6752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G" altLang="en-UG" sz="1800" b="0" i="0" u="none" strike="noStrike" cap="none" normalizeH="0" baseline="0">
                <a:ln>
                  <a:noFill/>
                </a:ln>
                <a:solidFill>
                  <a:schemeClr val="tx1"/>
                </a:solidFill>
                <a:effectLst/>
                <a:latin typeface="Arial" panose="020B0604020202020204" pitchFamily="34" charset="0"/>
              </a:rPr>
            </a:br>
            <a:endParaRPr kumimoji="0" lang="en-UG" altLang="en-UG" sz="1800" b="0" i="0" u="none" strike="noStrike" cap="none" normalizeH="0" baseline="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72D06E5C-D0A9-43D1-9B3D-3B4203738528}"/>
              </a:ext>
            </a:extLst>
          </p:cNvPr>
          <p:cNvPicPr/>
          <p:nvPr/>
        </p:nvPicPr>
        <p:blipFill>
          <a:blip r:embed="rId3"/>
          <a:stretch>
            <a:fillRect/>
          </a:stretch>
        </p:blipFill>
        <p:spPr>
          <a:xfrm>
            <a:off x="7115237" y="863575"/>
            <a:ext cx="4692449" cy="2131416"/>
          </a:xfrm>
          <a:prstGeom prst="rect">
            <a:avLst/>
          </a:prstGeom>
        </p:spPr>
      </p:pic>
      <p:sp>
        <p:nvSpPr>
          <p:cNvPr id="6" name="Rectangle 5">
            <a:extLst>
              <a:ext uri="{FF2B5EF4-FFF2-40B4-BE49-F238E27FC236}">
                <a16:creationId xmlns:a16="http://schemas.microsoft.com/office/drawing/2014/main" id="{01F85658-958D-4BA2-A0A3-46A69A241FBB}"/>
              </a:ext>
            </a:extLst>
          </p:cNvPr>
          <p:cNvSpPr/>
          <p:nvPr/>
        </p:nvSpPr>
        <p:spPr>
          <a:xfrm>
            <a:off x="6426339" y="3012402"/>
            <a:ext cx="5811656" cy="587148"/>
          </a:xfrm>
          <a:prstGeom prst="rect">
            <a:avLst/>
          </a:prstGeom>
        </p:spPr>
        <p:txBody>
          <a:bodyPr wrap="none">
            <a:spAutoFit/>
          </a:bodyPr>
          <a:lstStyle/>
          <a:p>
            <a:pPr algn="just">
              <a:lnSpc>
                <a:spcPct val="150000"/>
              </a:lnSpc>
              <a:spcAft>
                <a:spcPts val="0"/>
              </a:spcAft>
              <a:tabLst>
                <a:tab pos="274320" algn="l"/>
              </a:tabLst>
            </a:pPr>
            <a:r>
              <a:rPr lang="en-US" sz="2400" b="1" u="sng"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Step Two</a:t>
            </a:r>
            <a:r>
              <a:rPr lang="en-US" sz="2400"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Mark out the point of Intersection </a:t>
            </a:r>
            <a:endParaRPr lang="en-UG" sz="2000" dirty="0">
              <a:solidFill>
                <a:srgbClr val="7030A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AA3E744F-5BF8-45B8-9724-B86201F1BA5F}"/>
              </a:ext>
            </a:extLst>
          </p:cNvPr>
          <p:cNvPicPr/>
          <p:nvPr/>
        </p:nvPicPr>
        <p:blipFill>
          <a:blip r:embed="rId4"/>
          <a:stretch>
            <a:fillRect/>
          </a:stretch>
        </p:blipFill>
        <p:spPr>
          <a:xfrm>
            <a:off x="7994015" y="3631492"/>
            <a:ext cx="3283585" cy="2012315"/>
          </a:xfrm>
          <a:prstGeom prst="rect">
            <a:avLst/>
          </a:prstGeom>
        </p:spPr>
      </p:pic>
      <p:sp>
        <p:nvSpPr>
          <p:cNvPr id="8" name="Rectangle 7">
            <a:extLst>
              <a:ext uri="{FF2B5EF4-FFF2-40B4-BE49-F238E27FC236}">
                <a16:creationId xmlns:a16="http://schemas.microsoft.com/office/drawing/2014/main" id="{5F580796-120A-471B-A9AD-A3B7D46CDFAD}"/>
              </a:ext>
            </a:extLst>
          </p:cNvPr>
          <p:cNvSpPr/>
          <p:nvPr/>
        </p:nvSpPr>
        <p:spPr>
          <a:xfrm>
            <a:off x="3933825" y="5643807"/>
            <a:ext cx="8268581" cy="966290"/>
          </a:xfrm>
          <a:prstGeom prst="rect">
            <a:avLst/>
          </a:prstGeom>
        </p:spPr>
        <p:txBody>
          <a:bodyPr wrap="square">
            <a:spAutoFit/>
          </a:bodyPr>
          <a:lstStyle/>
          <a:p>
            <a:pPr algn="just">
              <a:lnSpc>
                <a:spcPct val="150000"/>
              </a:lnSpc>
              <a:spcAft>
                <a:spcPts val="0"/>
              </a:spcAft>
              <a:tabLst>
                <a:tab pos="274320" algn="l"/>
              </a:tabLst>
            </a:pPr>
            <a:r>
              <a:rPr lang="en-US" sz="2000" b="1" u="sng"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Step Three: </a:t>
            </a:r>
            <a:r>
              <a:rPr lang="en-US" sz="2000"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Read the pair of values for X, Y at the Point of Intersection (that’s the solution to the equations being solved): </a:t>
            </a:r>
            <a:r>
              <a:rPr lang="en-US" sz="2000" b="1" i="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Therefore, the solution is (3,7)</a:t>
            </a:r>
            <a:endParaRPr lang="en-UG" b="1" dirty="0">
              <a:solidFill>
                <a:srgbClr val="7030A0"/>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Arrow: Right 9">
            <a:extLst>
              <a:ext uri="{FF2B5EF4-FFF2-40B4-BE49-F238E27FC236}">
                <a16:creationId xmlns:a16="http://schemas.microsoft.com/office/drawing/2014/main" id="{0EFE1486-C1CD-46BC-B48B-B8B03DB28941}"/>
              </a:ext>
            </a:extLst>
          </p:cNvPr>
          <p:cNvSpPr/>
          <p:nvPr/>
        </p:nvSpPr>
        <p:spPr>
          <a:xfrm rot="18396093">
            <a:off x="5415182" y="2940737"/>
            <a:ext cx="2002739" cy="1606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G"/>
          </a:p>
        </p:txBody>
      </p:sp>
    </p:spTree>
    <p:extLst>
      <p:ext uri="{BB962C8B-B14F-4D97-AF65-F5344CB8AC3E}">
        <p14:creationId xmlns:p14="http://schemas.microsoft.com/office/powerpoint/2010/main" val="1053518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238538" y="106020"/>
            <a:ext cx="11811266" cy="649357"/>
          </a:xfrm>
        </p:spPr>
        <p:txBody>
          <a:bodyPr>
            <a:noAutofit/>
          </a:bodyPr>
          <a:lstStyle/>
          <a:p>
            <a:pPr algn="ct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r>
              <a:rPr lang="en-US" sz="3600" b="1" dirty="0">
                <a:solidFill>
                  <a:schemeClr val="accent2">
                    <a:lumMod val="75000"/>
                  </a:schemeClr>
                </a:solidFill>
                <a:latin typeface="Century Gothic" panose="020B0502020202020204" pitchFamily="34" charset="0"/>
              </a:rPr>
              <a:t>Exercise</a:t>
            </a:r>
            <a:br>
              <a:rPr lang="en-UG" sz="4000" dirty="0"/>
            </a:br>
            <a:br>
              <a:rPr lang="en-UG" dirty="0"/>
            </a:br>
            <a:br>
              <a:rPr lang="en-US" dirty="0"/>
            </a:br>
            <a:br>
              <a:rPr lang="en-US" sz="3600" dirty="0">
                <a:latin typeface="Century Gothic" panose="020B0502020202020204" pitchFamily="34" charset="0"/>
              </a:rPr>
            </a:br>
            <a:endParaRPr lang="en-US" sz="3600" b="1" dirty="0">
              <a:solidFill>
                <a:schemeClr val="accent2">
                  <a:lumMod val="75000"/>
                </a:schemeClr>
              </a:solidFill>
              <a:latin typeface="+mn-lt"/>
            </a:endParaRPr>
          </a:p>
        </p:txBody>
      </p:sp>
      <p:sp>
        <p:nvSpPr>
          <p:cNvPr id="12" name="Rectangle 4">
            <a:extLst>
              <a:ext uri="{FF2B5EF4-FFF2-40B4-BE49-F238E27FC236}">
                <a16:creationId xmlns:a16="http://schemas.microsoft.com/office/drawing/2014/main" id="{C7A428CC-9977-409B-A4F2-DAE08F772C22}"/>
              </a:ext>
            </a:extLst>
          </p:cNvPr>
          <p:cNvSpPr>
            <a:spLocks noChangeArrowheads="1"/>
          </p:cNvSpPr>
          <p:nvPr/>
        </p:nvSpPr>
        <p:spPr bwMode="auto">
          <a:xfrm>
            <a:off x="2746375" y="1805673"/>
            <a:ext cx="6752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G" altLang="en-UG" sz="1800" b="0" i="0" u="none" strike="noStrike" cap="none" normalizeH="0" baseline="0">
                <a:ln>
                  <a:noFill/>
                </a:ln>
                <a:solidFill>
                  <a:schemeClr val="tx1"/>
                </a:solidFill>
                <a:effectLst/>
                <a:latin typeface="Arial" panose="020B0604020202020204" pitchFamily="34" charset="0"/>
              </a:rPr>
            </a:br>
            <a:endParaRPr kumimoji="0" lang="en-UG" altLang="en-UG" sz="1800" b="0" i="0" u="none" strike="noStrike" cap="none" normalizeH="0" baseline="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3DF395E6-7EFA-46ED-80BE-B4681ACDB608}"/>
              </a:ext>
            </a:extLst>
          </p:cNvPr>
          <p:cNvSpPr>
            <a:spLocks noGrp="1"/>
          </p:cNvSpPr>
          <p:nvPr>
            <p:ph idx="1"/>
          </p:nvPr>
        </p:nvSpPr>
        <p:spPr>
          <a:xfrm>
            <a:off x="142195" y="636104"/>
            <a:ext cx="11907609" cy="6089372"/>
          </a:xfrm>
        </p:spPr>
        <p:txBody>
          <a:bodyPr>
            <a:normAutofit/>
          </a:bodyPr>
          <a:lstStyle/>
          <a:p>
            <a:pPr marL="0" indent="0" algn="just">
              <a:lnSpc>
                <a:spcPct val="150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Solve the following simultaneous equations using the </a:t>
            </a:r>
            <a:r>
              <a:rPr lang="en-US" b="1" dirty="0">
                <a:latin typeface="Times New Roman" panose="02020603050405020304" pitchFamily="18" charset="0"/>
                <a:ea typeface="Times New Roman" panose="02020603050405020304" pitchFamily="18" charset="0"/>
                <a:cs typeface="Times New Roman" panose="02020603050405020304" pitchFamily="18" charset="0"/>
              </a:rPr>
              <a:t>graphical method</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150000"/>
              </a:lnSpc>
              <a:spcAft>
                <a:spcPts val="0"/>
              </a:spcAft>
              <a:buNone/>
              <a:tabLst>
                <a:tab pos="274320" algn="l"/>
              </a:tabLst>
            </a:pP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EFE293C0-3B11-47CD-A5D8-5F42EE29D1CE}"/>
              </a:ext>
            </a:extLst>
          </p:cNvPr>
          <p:cNvGraphicFramePr>
            <a:graphicFrameLocks noGrp="1"/>
          </p:cNvGraphicFramePr>
          <p:nvPr>
            <p:extLst>
              <p:ext uri="{D42A27DB-BD31-4B8C-83A1-F6EECF244321}">
                <p14:modId xmlns:p14="http://schemas.microsoft.com/office/powerpoint/2010/main" val="1174829980"/>
              </p:ext>
            </p:extLst>
          </p:nvPr>
        </p:nvGraphicFramePr>
        <p:xfrm>
          <a:off x="1351722" y="1805673"/>
          <a:ext cx="7606858" cy="3071127"/>
        </p:xfrm>
        <a:graphic>
          <a:graphicData uri="http://schemas.openxmlformats.org/drawingml/2006/table">
            <a:tbl>
              <a:tblPr firstRow="1" firstCol="1" bandRow="1"/>
              <a:tblGrid>
                <a:gridCol w="3803429">
                  <a:extLst>
                    <a:ext uri="{9D8B030D-6E8A-4147-A177-3AD203B41FA5}">
                      <a16:colId xmlns:a16="http://schemas.microsoft.com/office/drawing/2014/main" val="994768117"/>
                    </a:ext>
                  </a:extLst>
                </a:gridCol>
                <a:gridCol w="3803429">
                  <a:extLst>
                    <a:ext uri="{9D8B030D-6E8A-4147-A177-3AD203B41FA5}">
                      <a16:colId xmlns:a16="http://schemas.microsoft.com/office/drawing/2014/main" val="512798998"/>
                    </a:ext>
                  </a:extLst>
                </a:gridCol>
              </a:tblGrid>
              <a:tr h="3071127">
                <a:tc>
                  <a:txBody>
                    <a:bodyPr/>
                    <a:lstStyle/>
                    <a:p>
                      <a:pPr algn="just">
                        <a:lnSpc>
                          <a:spcPct val="115000"/>
                        </a:lnSpc>
                        <a:spcAft>
                          <a:spcPts val="0"/>
                        </a:spcAft>
                        <a:tabLst>
                          <a:tab pos="274320" algn="l"/>
                        </a:tabLst>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   2X +4Y=3</a:t>
                      </a:r>
                      <a:endParaRPr lang="en-UG" sz="2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0"/>
                        </a:spcAft>
                        <a:tabLst>
                          <a:tab pos="274320" algn="l"/>
                        </a:tabLst>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       -6X-12Y= -9</a:t>
                      </a:r>
                      <a:endParaRPr lang="en-UG" sz="2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0"/>
                        </a:spcAft>
                        <a:tabLst>
                          <a:tab pos="274320" algn="l"/>
                        </a:tabLst>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G" sz="2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0"/>
                        </a:spcAft>
                        <a:tabLst>
                          <a:tab pos="274320" algn="l"/>
                        </a:tabLst>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C.   Y=3X-11</a:t>
                      </a:r>
                      <a:endParaRPr lang="en-UG" sz="2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0"/>
                        </a:spcAft>
                        <a:tabLst>
                          <a:tab pos="274320" algn="l"/>
                        </a:tabLst>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      Y=-2X+4</a:t>
                      </a:r>
                      <a:endParaRPr lang="en-UG" sz="2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15000"/>
                        </a:lnSpc>
                        <a:spcAft>
                          <a:spcPts val="0"/>
                        </a:spcAft>
                        <a:tabLst>
                          <a:tab pos="274320" algn="l"/>
                        </a:tabLst>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B.   3X +4Y=9</a:t>
                      </a:r>
                      <a:endParaRPr lang="en-UG" sz="2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0"/>
                        </a:spcAft>
                        <a:tabLst>
                          <a:tab pos="274320" algn="l"/>
                        </a:tabLst>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       -6X-8Y=10</a:t>
                      </a:r>
                      <a:endParaRPr lang="en-UG" sz="2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952713206"/>
                  </a:ext>
                </a:extLst>
              </a:tr>
            </a:tbl>
          </a:graphicData>
        </a:graphic>
      </p:graphicFrame>
    </p:spTree>
    <p:extLst>
      <p:ext uri="{BB962C8B-B14F-4D97-AF65-F5344CB8AC3E}">
        <p14:creationId xmlns:p14="http://schemas.microsoft.com/office/powerpoint/2010/main" val="2450054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990600" y="-12918"/>
            <a:ext cx="10515600" cy="646331"/>
          </a:xfrm>
        </p:spPr>
        <p:txBody>
          <a:bodyPr>
            <a:noAutofit/>
          </a:bodyPr>
          <a:lstStyle/>
          <a:p>
            <a:pPr algn="ct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r>
              <a:rPr lang="en-US" sz="3600" b="1" dirty="0">
                <a:solidFill>
                  <a:schemeClr val="accent2">
                    <a:lumMod val="75000"/>
                  </a:schemeClr>
                </a:solidFill>
                <a:latin typeface="Century Gothic" panose="020B0502020202020204" pitchFamily="34" charset="0"/>
              </a:rPr>
              <a:t>Equating to the same variable</a:t>
            </a:r>
            <a:br>
              <a:rPr lang="en-UG" sz="3600" dirty="0">
                <a:latin typeface="Calibri" panose="020F0502020204030204" pitchFamily="34" charset="0"/>
                <a:ea typeface="Times New Roman" panose="02020603050405020304" pitchFamily="18" charset="0"/>
                <a:cs typeface="Times New Roman" panose="02020603050405020304" pitchFamily="18" charset="0"/>
              </a:rPr>
            </a:br>
            <a:br>
              <a:rPr lang="en-UG" sz="4000" dirty="0"/>
            </a:br>
            <a:br>
              <a:rPr lang="en-UG" dirty="0"/>
            </a:br>
            <a:br>
              <a:rPr lang="en-US" dirty="0"/>
            </a:br>
            <a:br>
              <a:rPr lang="en-US" sz="3600" dirty="0">
                <a:latin typeface="Century Gothic" panose="020B0502020202020204" pitchFamily="34" charset="0"/>
              </a:rPr>
            </a:br>
            <a:endParaRPr lang="en-US" sz="3600" b="1" dirty="0">
              <a:solidFill>
                <a:schemeClr val="accent2">
                  <a:lumMod val="75000"/>
                </a:schemeClr>
              </a:solidFill>
              <a:latin typeface="+mn-lt"/>
            </a:endParaRPr>
          </a:p>
        </p:txBody>
      </p:sp>
      <p:sp>
        <p:nvSpPr>
          <p:cNvPr id="5" name="Content Placeholder 4">
            <a:extLst>
              <a:ext uri="{FF2B5EF4-FFF2-40B4-BE49-F238E27FC236}">
                <a16:creationId xmlns:a16="http://schemas.microsoft.com/office/drawing/2014/main" id="{3DF395E6-7EFA-46ED-80BE-B4681ACDB608}"/>
              </a:ext>
            </a:extLst>
          </p:cNvPr>
          <p:cNvSpPr>
            <a:spLocks noGrp="1"/>
          </p:cNvSpPr>
          <p:nvPr>
            <p:ph sz="half" idx="1"/>
          </p:nvPr>
        </p:nvSpPr>
        <p:spPr>
          <a:xfrm>
            <a:off x="167516" y="762002"/>
            <a:ext cx="11948283" cy="6019798"/>
          </a:xfrm>
          <a:solidFill>
            <a:schemeClr val="accent5">
              <a:lumMod val="20000"/>
              <a:lumOff val="80000"/>
            </a:schemeClr>
          </a:solidFill>
        </p:spPr>
        <p:txBody>
          <a:bodyPr>
            <a:normAutofit/>
          </a:bodyPr>
          <a:lstStyle/>
          <a:p>
            <a:pPr algn="just">
              <a:lnSpc>
                <a:spcPct val="150000"/>
              </a:lnSpc>
              <a:spcAft>
                <a:spcPts val="0"/>
              </a:spcAft>
              <a:buFont typeface="Wingdings" panose="05000000000000000000" pitchFamily="2" charset="2"/>
              <a:buChar char="Ø"/>
              <a:tabLst>
                <a:tab pos="274320" algn="l"/>
              </a:tabLst>
            </a:pPr>
            <a:r>
              <a:rPr lang="en-US"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To equate to the same variable; </a:t>
            </a:r>
            <a:r>
              <a:rPr lang="en-US" b="1" i="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implies that you make one of the variables in a given system of simultaneous equation’s the subject of the formula- say Y in each of the given equations. </a:t>
            </a:r>
          </a:p>
          <a:p>
            <a:pPr marL="0" indent="0" algn="just">
              <a:lnSpc>
                <a:spcPct val="150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For example; Given the equations below;</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y−2x=1</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2y−3x=5</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12" name="Rectangle 4">
            <a:extLst>
              <a:ext uri="{FF2B5EF4-FFF2-40B4-BE49-F238E27FC236}">
                <a16:creationId xmlns:a16="http://schemas.microsoft.com/office/drawing/2014/main" id="{C7A428CC-9977-409B-A4F2-DAE08F772C22}"/>
              </a:ext>
            </a:extLst>
          </p:cNvPr>
          <p:cNvSpPr>
            <a:spLocks noChangeArrowheads="1"/>
          </p:cNvSpPr>
          <p:nvPr/>
        </p:nvSpPr>
        <p:spPr bwMode="auto">
          <a:xfrm>
            <a:off x="2746375" y="1805673"/>
            <a:ext cx="6752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G" altLang="en-UG" sz="1800" b="0" i="0" u="none" strike="noStrike" cap="none" normalizeH="0" baseline="0">
                <a:ln>
                  <a:noFill/>
                </a:ln>
                <a:solidFill>
                  <a:schemeClr val="tx1"/>
                </a:solidFill>
                <a:effectLst/>
                <a:latin typeface="Arial" panose="020B0604020202020204" pitchFamily="34" charset="0"/>
              </a:rPr>
            </a:br>
            <a:endParaRPr kumimoji="0" lang="en-UG" altLang="en-UG"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3592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971550" y="106145"/>
            <a:ext cx="10515600" cy="646331"/>
          </a:xfrm>
        </p:spPr>
        <p:txBody>
          <a:bodyPr>
            <a:noAutofit/>
          </a:bodyPr>
          <a:lstStyle/>
          <a:p>
            <a:pPr algn="ct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r>
              <a:rPr lang="en-US" sz="3600" b="1" dirty="0">
                <a:latin typeface="Century Gothic" panose="020B0502020202020204" pitchFamily="34" charset="0"/>
              </a:rPr>
              <a:t>Solution</a:t>
            </a:r>
            <a:br>
              <a:rPr lang="en-UG" dirty="0"/>
            </a:br>
            <a:br>
              <a:rPr lang="en-US" dirty="0"/>
            </a:br>
            <a:br>
              <a:rPr lang="en-US" sz="3600" dirty="0">
                <a:latin typeface="Century Gothic" panose="020B0502020202020204" pitchFamily="34" charset="0"/>
              </a:rPr>
            </a:br>
            <a:endParaRPr lang="en-US" sz="3600" b="1" dirty="0">
              <a:solidFill>
                <a:schemeClr val="accent2">
                  <a:lumMod val="75000"/>
                </a:schemeClr>
              </a:solidFill>
              <a:latin typeface="+mn-lt"/>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821B9D-2363-E540-834E-603124C59245}"/>
                  </a:ext>
                </a:extLst>
              </p:cNvPr>
              <p:cNvSpPr>
                <a:spLocks noGrp="1"/>
              </p:cNvSpPr>
              <p:nvPr>
                <p:ph sz="half" idx="2"/>
              </p:nvPr>
            </p:nvSpPr>
            <p:spPr>
              <a:xfrm>
                <a:off x="133350" y="1038224"/>
                <a:ext cx="11944350" cy="5743575"/>
              </a:xfrm>
              <a:solidFill>
                <a:schemeClr val="accent6">
                  <a:lumMod val="40000"/>
                  <a:lumOff val="60000"/>
                </a:schemeClr>
              </a:solidFill>
            </p:spPr>
            <p:txBody>
              <a:bodyPr>
                <a:normAutofit/>
              </a:bodyPr>
              <a:lstStyle/>
              <a:p>
                <a:pPr marL="0" indent="0" algn="just">
                  <a:lnSpc>
                    <a:spcPct val="150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To equate to the same variable, say Y; make Y the subject in each of the equations.</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Y= 2X+1</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and Y=</a:t>
                </a:r>
                <a14:m>
                  <m:oMath xmlns:m="http://schemas.openxmlformats.org/officeDocument/2006/math">
                    <m:r>
                      <a:rPr lang="en-US">
                        <a:latin typeface="Cambria Math" panose="02040503050406030204" pitchFamily="18" charset="0"/>
                        <a:ea typeface="Times New Roman" panose="02020603050405020304" pitchFamily="18" charset="0"/>
                        <a:cs typeface="Times New Roman" panose="02020603050405020304" pitchFamily="18" charset="0"/>
                      </a:rPr>
                      <m:t> </m:t>
                    </m:r>
                    <m:f>
                      <m:fPr>
                        <m:ctrlPr>
                          <a:rPr lang="en-UG" i="1">
                            <a:latin typeface="Cambria Math" panose="02040503050406030204" pitchFamily="18" charset="0"/>
                            <a:ea typeface="Times New Roman" panose="02020603050405020304" pitchFamily="18" charset="0"/>
                            <a:cs typeface="Times New Roman" panose="02020603050405020304" pitchFamily="18" charset="0"/>
                          </a:rPr>
                        </m:ctrlPr>
                      </m:fPr>
                      <m:num>
                        <m:r>
                          <a:rPr lang="en-US">
                            <a:latin typeface="Cambria Math" panose="02040503050406030204" pitchFamily="18" charset="0"/>
                            <a:ea typeface="Times New Roman" panose="02020603050405020304" pitchFamily="18" charset="0"/>
                            <a:cs typeface="Times New Roman" panose="02020603050405020304" pitchFamily="18" charset="0"/>
                          </a:rPr>
                          <m:t>3</m:t>
                        </m:r>
                        <m:r>
                          <a:rPr lang="en-US" i="1">
                            <a:latin typeface="Cambria Math" panose="02040503050406030204" pitchFamily="18" charset="0"/>
                            <a:ea typeface="Times New Roman" panose="02020603050405020304" pitchFamily="18" charset="0"/>
                            <a:cs typeface="Times New Roman" panose="02020603050405020304" pitchFamily="18" charset="0"/>
                          </a:rPr>
                          <m:t>𝑋</m:t>
                        </m:r>
                        <m:r>
                          <a:rPr lang="en-US">
                            <a:latin typeface="Cambria Math" panose="02040503050406030204" pitchFamily="18" charset="0"/>
                            <a:ea typeface="Times New Roman" panose="02020603050405020304" pitchFamily="18" charset="0"/>
                            <a:cs typeface="Times New Roman" panose="02020603050405020304" pitchFamily="18" charset="0"/>
                          </a:rPr>
                          <m:t>+5</m:t>
                        </m:r>
                      </m:num>
                      <m:den>
                        <m:r>
                          <a:rPr lang="en-US">
                            <a:latin typeface="Cambria Math" panose="02040503050406030204" pitchFamily="18" charset="0"/>
                            <a:ea typeface="Times New Roman" panose="02020603050405020304" pitchFamily="18" charset="0"/>
                            <a:cs typeface="Times New Roman" panose="02020603050405020304" pitchFamily="18" charset="0"/>
                          </a:rPr>
                          <m:t>2</m:t>
                        </m:r>
                      </m:den>
                    </m:f>
                  </m:oMath>
                </a14:m>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tabLst>
                    <a:tab pos="274320" algn="l"/>
                  </a:tabLst>
                </a:pPr>
                <a:r>
                  <a:rPr lang="en-GB" dirty="0">
                    <a:latin typeface="Times New Roman" panose="02020603050405020304" pitchFamily="18" charset="0"/>
                    <a:ea typeface="Times New Roman" panose="02020603050405020304" pitchFamily="18" charset="0"/>
                    <a:cs typeface="Times New Roman" panose="02020603050405020304" pitchFamily="18" charset="0"/>
                  </a:rPr>
                  <a:t>The same can also be done for variable X </a:t>
                </a:r>
                <a:r>
                  <a:rPr lang="en-GB" dirty="0" err="1">
                    <a:latin typeface="Times New Roman" panose="02020603050405020304" pitchFamily="18" charset="0"/>
                    <a:ea typeface="Times New Roman" panose="02020603050405020304" pitchFamily="18" charset="0"/>
                    <a:cs typeface="Times New Roman" panose="02020603050405020304" pitchFamily="18" charset="0"/>
                  </a:rPr>
                  <a:t>ie</a:t>
                </a:r>
                <a:r>
                  <a:rPr lang="en-GB" dirty="0">
                    <a:latin typeface="Times New Roman" panose="02020603050405020304" pitchFamily="18" charset="0"/>
                    <a:ea typeface="Times New Roman" panose="02020603050405020304" pitchFamily="18" charset="0"/>
                    <a:cs typeface="Times New Roman" panose="02020603050405020304" pitchFamily="18" charset="0"/>
                  </a:rPr>
                  <a:t>;</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X=</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UG" i="1">
                            <a:latin typeface="Cambria Math" panose="02040503050406030204" pitchFamily="18" charset="0"/>
                            <a:ea typeface="Times New Roman" panose="02020603050405020304" pitchFamily="18" charset="0"/>
                            <a:cs typeface="Times New Roman" panose="02020603050405020304" pitchFamily="18" charset="0"/>
                          </a:rPr>
                        </m:ctrlPr>
                      </m:fPr>
                      <m:num>
                        <m:r>
                          <a:rPr lang="en-US" i="1">
                            <a:latin typeface="Cambria Math" panose="02040503050406030204" pitchFamily="18" charset="0"/>
                            <a:ea typeface="Times New Roman" panose="02020603050405020304" pitchFamily="18" charset="0"/>
                            <a:cs typeface="Times New Roman" panose="02020603050405020304" pitchFamily="18" charset="0"/>
                          </a:rPr>
                          <m:t>𝑌</m:t>
                        </m:r>
                        <m:r>
                          <a:rPr lang="en-US" i="1">
                            <a:latin typeface="Cambria Math" panose="02040503050406030204" pitchFamily="18" charset="0"/>
                            <a:ea typeface="Times New Roman" panose="02020603050405020304" pitchFamily="18" charset="0"/>
                            <a:cs typeface="Times New Roman" panose="02020603050405020304" pitchFamily="18" charset="0"/>
                          </a:rPr>
                          <m:t>−1</m:t>
                        </m:r>
                      </m:num>
                      <m:den>
                        <m:r>
                          <a:rPr lang="en-US" i="1">
                            <a:latin typeface="Cambria Math" panose="02040503050406030204" pitchFamily="18" charset="0"/>
                            <a:ea typeface="Times New Roman" panose="02020603050405020304" pitchFamily="18" charset="0"/>
                            <a:cs typeface="Times New Roman" panose="02020603050405020304" pitchFamily="18" charset="0"/>
                          </a:rPr>
                          <m:t>2</m:t>
                        </m:r>
                      </m:den>
                    </m:f>
                  </m:oMath>
                </a14:m>
                <a:endParaRPr lang="en-UG" sz="18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And X=</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UG" i="1">
                            <a:latin typeface="Cambria Math" panose="02040503050406030204" pitchFamily="18" charset="0"/>
                            <a:ea typeface="Times New Roman" panose="02020603050405020304" pitchFamily="18" charset="0"/>
                            <a:cs typeface="Times New Roman" panose="02020603050405020304" pitchFamily="18" charset="0"/>
                          </a:rPr>
                        </m:ctrlPr>
                      </m:fPr>
                      <m:num>
                        <m:r>
                          <a:rPr lang="en-US" i="1">
                            <a:latin typeface="Cambria Math" panose="02040503050406030204" pitchFamily="18" charset="0"/>
                            <a:ea typeface="Times New Roman" panose="02020603050405020304" pitchFamily="18" charset="0"/>
                            <a:cs typeface="Times New Roman" panose="02020603050405020304" pitchFamily="18" charset="0"/>
                          </a:rPr>
                          <m:t>2</m:t>
                        </m:r>
                        <m:r>
                          <a:rPr lang="en-US" i="1">
                            <a:latin typeface="Cambria Math" panose="02040503050406030204" pitchFamily="18" charset="0"/>
                            <a:ea typeface="Times New Roman" panose="02020603050405020304" pitchFamily="18" charset="0"/>
                            <a:cs typeface="Times New Roman" panose="02020603050405020304" pitchFamily="18" charset="0"/>
                          </a:rPr>
                          <m:t>𝑌</m:t>
                        </m:r>
                        <m:r>
                          <a:rPr lang="en-US" i="1">
                            <a:latin typeface="Cambria Math" panose="02040503050406030204" pitchFamily="18" charset="0"/>
                            <a:ea typeface="Times New Roman" panose="02020603050405020304" pitchFamily="18" charset="0"/>
                            <a:cs typeface="Times New Roman" panose="02020603050405020304" pitchFamily="18" charset="0"/>
                          </a:rPr>
                          <m:t>−5</m:t>
                        </m:r>
                      </m:num>
                      <m:den>
                        <m:r>
                          <a:rPr lang="en-US" i="1">
                            <a:latin typeface="Cambria Math" panose="02040503050406030204" pitchFamily="18" charset="0"/>
                            <a:ea typeface="Times New Roman" panose="02020603050405020304" pitchFamily="18" charset="0"/>
                            <a:cs typeface="Times New Roman" panose="02020603050405020304" pitchFamily="18" charset="0"/>
                          </a:rPr>
                          <m:t>3</m:t>
                        </m:r>
                      </m:den>
                    </m:f>
                  </m:oMath>
                </a14:m>
                <a:endParaRPr lang="en-UG" sz="1800" dirty="0">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n-UG" dirty="0"/>
              </a:p>
            </p:txBody>
          </p:sp>
        </mc:Choice>
        <mc:Fallback xmlns="">
          <p:sp>
            <p:nvSpPr>
              <p:cNvPr id="3" name="Content Placeholder 2">
                <a:extLst>
                  <a:ext uri="{FF2B5EF4-FFF2-40B4-BE49-F238E27FC236}">
                    <a16:creationId xmlns:a16="http://schemas.microsoft.com/office/drawing/2014/main" id="{AA821B9D-2363-E540-834E-603124C59245}"/>
                  </a:ext>
                </a:extLst>
              </p:cNvPr>
              <p:cNvSpPr>
                <a:spLocks noGrp="1" noRot="1" noChangeAspect="1" noMove="1" noResize="1" noEditPoints="1" noAdjustHandles="1" noChangeArrowheads="1" noChangeShapeType="1" noTextEdit="1"/>
              </p:cNvSpPr>
              <p:nvPr>
                <p:ph sz="half" idx="2"/>
              </p:nvPr>
            </p:nvSpPr>
            <p:spPr>
              <a:xfrm>
                <a:off x="133350" y="1038224"/>
                <a:ext cx="11944350" cy="5743575"/>
              </a:xfrm>
              <a:blipFill>
                <a:blip r:embed="rId3"/>
                <a:stretch>
                  <a:fillRect l="-1072" r="-766"/>
                </a:stretch>
              </a:blipFill>
            </p:spPr>
            <p:txBody>
              <a:bodyPr/>
              <a:lstStyle/>
              <a:p>
                <a:r>
                  <a:rPr lang="en-UG">
                    <a:noFill/>
                  </a:rPr>
                  <a:t> </a:t>
                </a:r>
              </a:p>
            </p:txBody>
          </p:sp>
        </mc:Fallback>
      </mc:AlternateContent>
    </p:spTree>
    <p:extLst>
      <p:ext uri="{BB962C8B-B14F-4D97-AF65-F5344CB8AC3E}">
        <p14:creationId xmlns:p14="http://schemas.microsoft.com/office/powerpoint/2010/main" val="2807311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819150" y="0"/>
            <a:ext cx="10515600" cy="566737"/>
          </a:xfrm>
        </p:spPr>
        <p:txBody>
          <a:bodyPr>
            <a:noAutofit/>
          </a:bodyPr>
          <a:lstStyle/>
          <a:p>
            <a:pPr algn="ct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r>
              <a:rPr lang="en-US" sz="3600" b="1" dirty="0">
                <a:solidFill>
                  <a:schemeClr val="accent2">
                    <a:lumMod val="75000"/>
                  </a:schemeClr>
                </a:solidFill>
                <a:latin typeface="Century Gothic" panose="020B0502020202020204" pitchFamily="34" charset="0"/>
              </a:rPr>
              <a:t>Substitution method</a:t>
            </a:r>
            <a:br>
              <a:rPr lang="en-UG" sz="3600" dirty="0">
                <a:latin typeface="Calibri" panose="020F0502020204030204" pitchFamily="34" charset="0"/>
                <a:ea typeface="Times New Roman" panose="02020603050405020304" pitchFamily="18" charset="0"/>
                <a:cs typeface="Times New Roman" panose="02020603050405020304" pitchFamily="18" charset="0"/>
              </a:rPr>
            </a:br>
            <a:br>
              <a:rPr lang="en-UG" sz="4000" dirty="0"/>
            </a:br>
            <a:br>
              <a:rPr lang="en-UG" dirty="0"/>
            </a:br>
            <a:br>
              <a:rPr lang="en-US" dirty="0"/>
            </a:br>
            <a:br>
              <a:rPr lang="en-US" sz="3600" dirty="0">
                <a:latin typeface="Century Gothic" panose="020B0502020202020204" pitchFamily="34" charset="0"/>
              </a:rPr>
            </a:br>
            <a:endParaRPr lang="en-US" sz="3600" b="1" dirty="0">
              <a:solidFill>
                <a:schemeClr val="accent2">
                  <a:lumMod val="75000"/>
                </a:schemeClr>
              </a:solidFill>
              <a:latin typeface="+mn-lt"/>
            </a:endParaRPr>
          </a:p>
        </p:txBody>
      </p:sp>
      <p:sp>
        <p:nvSpPr>
          <p:cNvPr id="5" name="Content Placeholder 4">
            <a:extLst>
              <a:ext uri="{FF2B5EF4-FFF2-40B4-BE49-F238E27FC236}">
                <a16:creationId xmlns:a16="http://schemas.microsoft.com/office/drawing/2014/main" id="{3DF395E6-7EFA-46ED-80BE-B4681ACDB608}"/>
              </a:ext>
            </a:extLst>
          </p:cNvPr>
          <p:cNvSpPr>
            <a:spLocks noGrp="1"/>
          </p:cNvSpPr>
          <p:nvPr>
            <p:ph sz="half" idx="1"/>
          </p:nvPr>
        </p:nvSpPr>
        <p:spPr>
          <a:xfrm>
            <a:off x="76200" y="681037"/>
            <a:ext cx="12001500" cy="6176962"/>
          </a:xfrm>
          <a:solidFill>
            <a:schemeClr val="accent5">
              <a:lumMod val="40000"/>
              <a:lumOff val="60000"/>
            </a:schemeClr>
          </a:solidFill>
        </p:spPr>
        <p:txBody>
          <a:bodyPr>
            <a:noAutofit/>
          </a:bodyPr>
          <a:lstStyle/>
          <a:p>
            <a:pPr algn="just">
              <a:lnSpc>
                <a:spcPct val="150000"/>
              </a:lnSpc>
              <a:spcAft>
                <a:spcPts val="0"/>
              </a:spcAft>
              <a:buFont typeface="Wingdings" panose="05000000000000000000" pitchFamily="2" charset="2"/>
              <a:buChar char="ü"/>
              <a:tabLst>
                <a:tab pos="274320" algn="l"/>
              </a:tabLst>
            </a:pPr>
            <a:r>
              <a:rPr lang="en-US"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This is the method of solving simultaneous equations in which one equation is substituted in the other in order to eliminate one of the variables. </a:t>
            </a:r>
          </a:p>
          <a:p>
            <a:pPr algn="just">
              <a:lnSpc>
                <a:spcPct val="150000"/>
              </a:lnSpc>
              <a:spcAft>
                <a:spcPts val="0"/>
              </a:spcAft>
              <a:buFont typeface="Wingdings" panose="05000000000000000000" pitchFamily="2" charset="2"/>
              <a:buChar char="ü"/>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This helps to solve for one of the variables and then later the value of this variable is substituted in one of the equations to compute the value of the remaining variable. </a:t>
            </a:r>
            <a:endParaRPr lang="en-UG"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tabLst>
                <a:tab pos="274320" algn="l"/>
              </a:tabLst>
            </a:pPr>
            <a:r>
              <a:rPr lang="en-US" b="1" dirty="0">
                <a:latin typeface="Times New Roman" panose="02020603050405020304" pitchFamily="18" charset="0"/>
                <a:ea typeface="Times New Roman" panose="02020603050405020304" pitchFamily="18" charset="0"/>
                <a:cs typeface="Times New Roman" panose="02020603050405020304" pitchFamily="18" charset="0"/>
              </a:rPr>
              <a:t>For example: </a:t>
            </a:r>
            <a:r>
              <a:rPr lang="en-US" dirty="0">
                <a:latin typeface="Times New Roman" panose="02020603050405020304" pitchFamily="18" charset="0"/>
                <a:ea typeface="Times New Roman" panose="02020603050405020304" pitchFamily="18" charset="0"/>
                <a:cs typeface="Times New Roman" panose="02020603050405020304" pitchFamily="18" charset="0"/>
              </a:rPr>
              <a:t>Solve the equations. </a:t>
            </a:r>
            <a:endParaRPr lang="en-UG"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tabLst>
                <a:tab pos="274320" algn="l"/>
              </a:tabLst>
            </a:pPr>
            <a:r>
              <a:rPr lang="en-US" b="1" dirty="0">
                <a:latin typeface="Times New Roman" panose="02020603050405020304" pitchFamily="18" charset="0"/>
                <a:ea typeface="Times New Roman" panose="02020603050405020304" pitchFamily="18" charset="0"/>
                <a:cs typeface="Times New Roman" panose="02020603050405020304" pitchFamily="18" charset="0"/>
              </a:rPr>
              <a:t>Y−2X=1</a:t>
            </a:r>
            <a:endParaRPr lang="en-UG"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tabLst>
                <a:tab pos="274320" algn="l"/>
              </a:tabLst>
            </a:pPr>
            <a:r>
              <a:rPr lang="en-US" b="1" dirty="0">
                <a:latin typeface="Times New Roman" panose="02020603050405020304" pitchFamily="18" charset="0"/>
                <a:ea typeface="Times New Roman" panose="02020603050405020304" pitchFamily="18" charset="0"/>
                <a:cs typeface="Times New Roman" panose="02020603050405020304" pitchFamily="18" charset="0"/>
              </a:rPr>
              <a:t>2Y−3X=5</a:t>
            </a:r>
            <a:endParaRPr lang="en-UG"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00000"/>
              </a:lnSpc>
              <a:spcAft>
                <a:spcPts val="0"/>
              </a:spcAft>
              <a:buNone/>
              <a:tabLst>
                <a:tab pos="274320" algn="l"/>
              </a:tabLst>
            </a:pP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3126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838200" y="83552"/>
            <a:ext cx="10515600" cy="468898"/>
          </a:xfrm>
        </p:spPr>
        <p:txBody>
          <a:bodyPr>
            <a:noAutofit/>
          </a:bodyPr>
          <a:lstStyle/>
          <a:p>
            <a:pPr algn="ct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r>
              <a:rPr lang="en-US" sz="3600" b="1" dirty="0">
                <a:latin typeface="Century Gothic" panose="020B0502020202020204" pitchFamily="34" charset="0"/>
              </a:rPr>
              <a:t>Solution</a:t>
            </a:r>
            <a:br>
              <a:rPr lang="en-UG" sz="3600" dirty="0">
                <a:latin typeface="Calibri" panose="020F0502020204030204" pitchFamily="34" charset="0"/>
                <a:ea typeface="Times New Roman" panose="02020603050405020304" pitchFamily="18" charset="0"/>
                <a:cs typeface="Times New Roman" panose="02020603050405020304" pitchFamily="18" charset="0"/>
              </a:rPr>
            </a:br>
            <a:br>
              <a:rPr lang="en-UG" sz="4000" dirty="0"/>
            </a:br>
            <a:br>
              <a:rPr lang="en-UG" dirty="0"/>
            </a:br>
            <a:br>
              <a:rPr lang="en-US" dirty="0"/>
            </a:br>
            <a:br>
              <a:rPr lang="en-US" sz="3600" dirty="0">
                <a:latin typeface="Century Gothic" panose="020B0502020202020204" pitchFamily="34" charset="0"/>
              </a:rPr>
            </a:br>
            <a:endParaRPr lang="en-US" sz="3600" b="1" dirty="0">
              <a:solidFill>
                <a:schemeClr val="accent2">
                  <a:lumMod val="75000"/>
                </a:schemeClr>
              </a:solidFill>
              <a:latin typeface="+mn-lt"/>
            </a:endParaRP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3DF395E6-7EFA-46ED-80BE-B4681ACDB608}"/>
                  </a:ext>
                </a:extLst>
              </p:cNvPr>
              <p:cNvSpPr>
                <a:spLocks noGrp="1"/>
              </p:cNvSpPr>
              <p:nvPr>
                <p:ph sz="half" idx="1"/>
              </p:nvPr>
            </p:nvSpPr>
            <p:spPr>
              <a:xfrm>
                <a:off x="76200" y="685800"/>
                <a:ext cx="6417366" cy="6172199"/>
              </a:xfrm>
              <a:solidFill>
                <a:schemeClr val="accent5">
                  <a:lumMod val="40000"/>
                  <a:lumOff val="60000"/>
                </a:schemeClr>
              </a:solidFill>
            </p:spPr>
            <p:txBody>
              <a:bodyPr>
                <a:noAutofit/>
              </a:bodyPr>
              <a:lstStyle/>
              <a:p>
                <a:pPr marL="0" indent="0" algn="just">
                  <a:lnSpc>
                    <a:spcPct val="150000"/>
                  </a:lnSpc>
                  <a:spcAft>
                    <a:spcPts val="0"/>
                  </a:spcAft>
                  <a:buNone/>
                  <a:tabLst>
                    <a:tab pos="274320" algn="l"/>
                  </a:tabLst>
                </a:pPr>
                <a:r>
                  <a:rPr lang="en-US" b="1" i="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Step One</a:t>
                </a:r>
                <a:r>
                  <a:rPr lang="en-US"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Make one of the variables the subject of the formula (say Y) in each of the equations.</a:t>
                </a:r>
                <a:endParaRPr lang="en-UG" dirty="0">
                  <a:solidFill>
                    <a:srgbClr val="0070C0"/>
                  </a:solidFill>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Y=2X+1 ………………………….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i</a:t>
                </a:r>
                <a:endParaRPr lang="en-UG"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Y=</a:t>
                </a:r>
                <a14:m>
                  <m:oMath xmlns:m="http://schemas.openxmlformats.org/officeDocument/2006/math">
                    <m:r>
                      <a:rPr lang="en-US" i="1">
                        <a:latin typeface="Cambria Math" panose="02040503050406030204" pitchFamily="18" charset="0"/>
                        <a:ea typeface="Times New Roman" panose="02020603050405020304" pitchFamily="18" charset="0"/>
                        <a:cs typeface="Times New Roman" panose="02020603050405020304" pitchFamily="18" charset="0"/>
                      </a:rPr>
                      <m:t> </m:t>
                    </m:r>
                    <m:f>
                      <m:fPr>
                        <m:ctrlPr>
                          <a:rPr lang="en-UG" i="1">
                            <a:latin typeface="Cambria Math" panose="02040503050406030204" pitchFamily="18" charset="0"/>
                            <a:ea typeface="Times New Roman" panose="02020603050405020304" pitchFamily="18" charset="0"/>
                            <a:cs typeface="Times New Roman" panose="02020603050405020304" pitchFamily="18" charset="0"/>
                          </a:rPr>
                        </m:ctrlPr>
                      </m:fPr>
                      <m:num>
                        <m:r>
                          <a:rPr lang="en-US" i="1">
                            <a:latin typeface="Cambria Math" panose="02040503050406030204" pitchFamily="18" charset="0"/>
                            <a:ea typeface="Times New Roman" panose="02020603050405020304" pitchFamily="18" charset="0"/>
                            <a:cs typeface="Times New Roman" panose="02020603050405020304" pitchFamily="18" charset="0"/>
                          </a:rPr>
                          <m:t>3</m:t>
                        </m:r>
                        <m:r>
                          <a:rPr lang="en-US" i="1">
                            <a:latin typeface="Cambria Math" panose="02040503050406030204" pitchFamily="18" charset="0"/>
                            <a:ea typeface="Times New Roman" panose="02020603050405020304" pitchFamily="18" charset="0"/>
                            <a:cs typeface="Times New Roman" panose="02020603050405020304" pitchFamily="18" charset="0"/>
                          </a:rPr>
                          <m:t>𝑋</m:t>
                        </m:r>
                        <m:r>
                          <a:rPr lang="en-US" i="1">
                            <a:latin typeface="Cambria Math" panose="02040503050406030204" pitchFamily="18" charset="0"/>
                            <a:ea typeface="Times New Roman" panose="02020603050405020304" pitchFamily="18" charset="0"/>
                            <a:cs typeface="Times New Roman" panose="02020603050405020304" pitchFamily="18" charset="0"/>
                          </a:rPr>
                          <m:t>+5</m:t>
                        </m:r>
                      </m:num>
                      <m:den>
                        <m:r>
                          <a:rPr lang="en-US" i="1">
                            <a:latin typeface="Cambria Math" panose="02040503050406030204" pitchFamily="18" charset="0"/>
                            <a:ea typeface="Times New Roman" panose="02020603050405020304" pitchFamily="18" charset="0"/>
                            <a:cs typeface="Times New Roman" panose="02020603050405020304" pitchFamily="18" charset="0"/>
                          </a:rPr>
                          <m:t>2</m:t>
                        </m:r>
                      </m:den>
                    </m:f>
                  </m:oMath>
                </a14:m>
                <a:r>
                  <a:rPr lang="en-US"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i="1">
                        <a:latin typeface="Cambria Math" panose="02040503050406030204" pitchFamily="18" charset="0"/>
                        <a:ea typeface="Times New Roman" panose="02020603050405020304" pitchFamily="18" charset="0"/>
                        <a:cs typeface="Times New Roman" panose="02020603050405020304" pitchFamily="18" charset="0"/>
                      </a:rPr>
                      <m:t> </m:t>
                    </m:r>
                  </m:oMath>
                </a14:m>
                <a:r>
                  <a:rPr lang="en-US" dirty="0">
                    <a:latin typeface="Times New Roman" panose="02020603050405020304" pitchFamily="18" charset="0"/>
                    <a:ea typeface="Times New Roman" panose="02020603050405020304" pitchFamily="18" charset="0"/>
                    <a:cs typeface="Times New Roman" panose="02020603050405020304" pitchFamily="18" charset="0"/>
                  </a:rPr>
                  <a:t>………………………. ii</a:t>
                </a:r>
              </a:p>
              <a:p>
                <a:pPr marL="0" indent="0" algn="just">
                  <a:lnSpc>
                    <a:spcPct val="150000"/>
                  </a:lnSpc>
                  <a:spcAft>
                    <a:spcPts val="0"/>
                  </a:spcAft>
                  <a:buNone/>
                  <a:tabLst>
                    <a:tab pos="274320" algn="l"/>
                  </a:tabLst>
                </a:pPr>
                <a:r>
                  <a:rPr lang="en-US" b="1" i="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Step Two</a:t>
                </a:r>
                <a:r>
                  <a:rPr lang="en-US"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Equate the two equations above</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2X+1 = </a:t>
                </a:r>
                <a14:m>
                  <m:oMath xmlns:m="http://schemas.openxmlformats.org/officeDocument/2006/math">
                    <m:f>
                      <m:fPr>
                        <m:ctrlPr>
                          <a:rPr lang="en-UG" i="1">
                            <a:latin typeface="Cambria Math" panose="02040503050406030204" pitchFamily="18" charset="0"/>
                            <a:ea typeface="Times New Roman" panose="02020603050405020304" pitchFamily="18" charset="0"/>
                            <a:cs typeface="Times New Roman" panose="02020603050405020304" pitchFamily="18" charset="0"/>
                          </a:rPr>
                        </m:ctrlPr>
                      </m:fPr>
                      <m:num>
                        <m:r>
                          <a:rPr lang="en-US" i="1">
                            <a:latin typeface="Cambria Math" panose="02040503050406030204" pitchFamily="18" charset="0"/>
                            <a:ea typeface="Times New Roman" panose="02020603050405020304" pitchFamily="18" charset="0"/>
                            <a:cs typeface="Times New Roman" panose="02020603050405020304" pitchFamily="18" charset="0"/>
                          </a:rPr>
                          <m:t>3</m:t>
                        </m:r>
                        <m:r>
                          <a:rPr lang="en-US" i="1">
                            <a:latin typeface="Cambria Math" panose="02040503050406030204" pitchFamily="18" charset="0"/>
                            <a:ea typeface="Times New Roman" panose="02020603050405020304" pitchFamily="18" charset="0"/>
                            <a:cs typeface="Times New Roman" panose="02020603050405020304" pitchFamily="18" charset="0"/>
                          </a:rPr>
                          <m:t>𝑋</m:t>
                        </m:r>
                        <m:r>
                          <a:rPr lang="en-US" i="1">
                            <a:latin typeface="Cambria Math" panose="02040503050406030204" pitchFamily="18" charset="0"/>
                            <a:ea typeface="Times New Roman" panose="02020603050405020304" pitchFamily="18" charset="0"/>
                            <a:cs typeface="Times New Roman" panose="02020603050405020304" pitchFamily="18" charset="0"/>
                          </a:rPr>
                          <m:t>+5</m:t>
                        </m:r>
                      </m:num>
                      <m:den>
                        <m:r>
                          <a:rPr lang="en-US" i="1">
                            <a:latin typeface="Cambria Math" panose="02040503050406030204" pitchFamily="18" charset="0"/>
                            <a:ea typeface="Times New Roman" panose="02020603050405020304" pitchFamily="18" charset="0"/>
                            <a:cs typeface="Times New Roman" panose="02020603050405020304" pitchFamily="18" charset="0"/>
                          </a:rPr>
                          <m:t>2</m:t>
                        </m:r>
                      </m:den>
                    </m:f>
                  </m:oMath>
                </a14:m>
                <a:endParaRPr lang="en-UG" sz="1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p:txBody>
          </p:sp>
        </mc:Choice>
        <mc:Fallback>
          <p:sp>
            <p:nvSpPr>
              <p:cNvPr id="5" name="Content Placeholder 4">
                <a:extLst>
                  <a:ext uri="{FF2B5EF4-FFF2-40B4-BE49-F238E27FC236}">
                    <a16:creationId xmlns:a16="http://schemas.microsoft.com/office/drawing/2014/main" id="{3DF395E6-7EFA-46ED-80BE-B4681ACDB608}"/>
                  </a:ext>
                </a:extLst>
              </p:cNvPr>
              <p:cNvSpPr>
                <a:spLocks noGrp="1" noRot="1" noChangeAspect="1" noMove="1" noResize="1" noEditPoints="1" noAdjustHandles="1" noChangeArrowheads="1" noChangeShapeType="1" noTextEdit="1"/>
              </p:cNvSpPr>
              <p:nvPr>
                <p:ph sz="half" idx="1"/>
              </p:nvPr>
            </p:nvSpPr>
            <p:spPr>
              <a:xfrm>
                <a:off x="76200" y="685800"/>
                <a:ext cx="6417366" cy="6172199"/>
              </a:xfrm>
              <a:blipFill>
                <a:blip r:embed="rId3"/>
                <a:stretch>
                  <a:fillRect l="-1996" r="-1996"/>
                </a:stretch>
              </a:blipFill>
            </p:spPr>
            <p:txBody>
              <a:bodyPr/>
              <a:lstStyle/>
              <a:p>
                <a:r>
                  <a:rPr lang="en-UG">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F1BC78C-3F95-4EE0-B536-B5402D9BA5C5}"/>
                  </a:ext>
                </a:extLst>
              </p:cNvPr>
              <p:cNvSpPr>
                <a:spLocks noGrp="1"/>
              </p:cNvSpPr>
              <p:nvPr>
                <p:ph sz="half" idx="2"/>
              </p:nvPr>
            </p:nvSpPr>
            <p:spPr>
              <a:xfrm>
                <a:off x="6762751" y="619125"/>
                <a:ext cx="5283476" cy="6238874"/>
              </a:xfrm>
              <a:solidFill>
                <a:schemeClr val="accent6">
                  <a:lumMod val="40000"/>
                  <a:lumOff val="60000"/>
                </a:schemeClr>
              </a:solidFill>
            </p:spPr>
            <p:txBody>
              <a:bodyPr>
                <a:normAutofit fontScale="92500" lnSpcReduction="20000"/>
              </a:bodyPr>
              <a:lstStyle/>
              <a:p>
                <a:pPr marL="0" indent="0" algn="just">
                  <a:lnSpc>
                    <a:spcPct val="150000"/>
                  </a:lnSpc>
                  <a:spcAft>
                    <a:spcPts val="0"/>
                  </a:spcAft>
                  <a:buNone/>
                  <a:tabLst>
                    <a:tab pos="274320" algn="l"/>
                  </a:tabLst>
                </a:pPr>
                <a:r>
                  <a:rPr lang="en-US" b="1" i="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Step Three</a:t>
                </a:r>
                <a:r>
                  <a:rPr lang="en-US"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Solve for X</a:t>
                </a:r>
                <a:endParaRPr lang="en-UG" sz="2400" dirty="0">
                  <a:solidFill>
                    <a:srgbClr val="0070C0"/>
                  </a:solidFill>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2X+1 = </a:t>
                </a:r>
                <a14:m>
                  <m:oMath xmlns:m="http://schemas.openxmlformats.org/officeDocument/2006/math">
                    <m:f>
                      <m:fPr>
                        <m:ctrlPr>
                          <a:rPr lang="en-UG" i="1">
                            <a:latin typeface="Cambria Math" panose="02040503050406030204" pitchFamily="18" charset="0"/>
                            <a:ea typeface="Times New Roman" panose="02020603050405020304" pitchFamily="18" charset="0"/>
                            <a:cs typeface="Times New Roman" panose="02020603050405020304" pitchFamily="18" charset="0"/>
                          </a:rPr>
                        </m:ctrlPr>
                      </m:fPr>
                      <m:num>
                        <m:r>
                          <a:rPr lang="en-US" i="1">
                            <a:latin typeface="Cambria Math" panose="02040503050406030204" pitchFamily="18" charset="0"/>
                            <a:ea typeface="Times New Roman" panose="02020603050405020304" pitchFamily="18" charset="0"/>
                            <a:cs typeface="Times New Roman" panose="02020603050405020304" pitchFamily="18" charset="0"/>
                          </a:rPr>
                          <m:t>3</m:t>
                        </m:r>
                        <m:r>
                          <a:rPr lang="en-US" i="1">
                            <a:latin typeface="Cambria Math" panose="02040503050406030204" pitchFamily="18" charset="0"/>
                            <a:ea typeface="Times New Roman" panose="02020603050405020304" pitchFamily="18" charset="0"/>
                            <a:cs typeface="Times New Roman" panose="02020603050405020304" pitchFamily="18" charset="0"/>
                          </a:rPr>
                          <m:t>𝑋</m:t>
                        </m:r>
                        <m:r>
                          <a:rPr lang="en-US" i="1">
                            <a:latin typeface="Cambria Math" panose="02040503050406030204" pitchFamily="18" charset="0"/>
                            <a:ea typeface="Times New Roman" panose="02020603050405020304" pitchFamily="18" charset="0"/>
                            <a:cs typeface="Times New Roman" panose="02020603050405020304" pitchFamily="18" charset="0"/>
                          </a:rPr>
                          <m:t>+5</m:t>
                        </m:r>
                      </m:num>
                      <m:den>
                        <m:r>
                          <a:rPr lang="en-US" i="1">
                            <a:latin typeface="Cambria Math" panose="02040503050406030204" pitchFamily="18" charset="0"/>
                            <a:ea typeface="Times New Roman" panose="02020603050405020304" pitchFamily="18" charset="0"/>
                            <a:cs typeface="Times New Roman" panose="02020603050405020304" pitchFamily="18" charset="0"/>
                          </a:rPr>
                          <m:t>2</m:t>
                        </m:r>
                      </m:den>
                    </m:f>
                  </m:oMath>
                </a14:m>
                <a:endParaRPr lang="en-UG" sz="18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4X+2= 3X+5</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X=3</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tabLst>
                    <a:tab pos="274320" algn="l"/>
                  </a:tabLst>
                </a:pPr>
                <a:r>
                  <a:rPr lang="en-US" b="1" i="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Step Four</a:t>
                </a:r>
                <a:r>
                  <a:rPr lang="en-US"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Substitute one X in one of the equations (either </a:t>
                </a:r>
                <a:r>
                  <a:rPr lang="en-US" dirty="0" err="1">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i</a:t>
                </a:r>
                <a:r>
                  <a:rPr lang="en-US"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or ii) to solve </a:t>
                </a:r>
                <a:r>
                  <a:rPr lang="en-US" dirty="0">
                    <a:latin typeface="Times New Roman" panose="02020603050405020304" pitchFamily="18" charset="0"/>
                    <a:ea typeface="Times New Roman" panose="02020603050405020304" pitchFamily="18" charset="0"/>
                    <a:cs typeface="Times New Roman" panose="02020603050405020304" pitchFamily="18" charset="0"/>
                  </a:rPr>
                  <a:t>for Y. </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Y=2X+1</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Y= 2(3) +1</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Y=7</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50000"/>
                  </a:lnSpc>
                  <a:spcAft>
                    <a:spcPts val="0"/>
                  </a:spcAft>
                  <a:tabLst>
                    <a:tab pos="274320" algn="l"/>
                  </a:tabLst>
                </a:pPr>
                <a:r>
                  <a:rPr lang="en-US" i="1" u="dbl" dirty="0">
                    <a:latin typeface="Times New Roman" panose="02020603050405020304" pitchFamily="18" charset="0"/>
                    <a:ea typeface="Times New Roman" panose="02020603050405020304" pitchFamily="18" charset="0"/>
                    <a:cs typeface="Times New Roman" panose="02020603050405020304" pitchFamily="18" charset="0"/>
                  </a:rPr>
                  <a:t>Therefore, the solution is (3,7)</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endParaRPr lang="en-UG" dirty="0"/>
              </a:p>
            </p:txBody>
          </p:sp>
        </mc:Choice>
        <mc:Fallback>
          <p:sp>
            <p:nvSpPr>
              <p:cNvPr id="3" name="Content Placeholder 2">
                <a:extLst>
                  <a:ext uri="{FF2B5EF4-FFF2-40B4-BE49-F238E27FC236}">
                    <a16:creationId xmlns:a16="http://schemas.microsoft.com/office/drawing/2014/main" id="{9F1BC78C-3F95-4EE0-B536-B5402D9BA5C5}"/>
                  </a:ext>
                </a:extLst>
              </p:cNvPr>
              <p:cNvSpPr>
                <a:spLocks noGrp="1" noRot="1" noChangeAspect="1" noMove="1" noResize="1" noEditPoints="1" noAdjustHandles="1" noChangeArrowheads="1" noChangeShapeType="1" noTextEdit="1"/>
              </p:cNvSpPr>
              <p:nvPr>
                <p:ph sz="half" idx="2"/>
              </p:nvPr>
            </p:nvSpPr>
            <p:spPr>
              <a:xfrm>
                <a:off x="6762751" y="619125"/>
                <a:ext cx="5283476" cy="6238874"/>
              </a:xfrm>
              <a:blipFill>
                <a:blip r:embed="rId4"/>
                <a:stretch>
                  <a:fillRect l="-2076" r="-1961"/>
                </a:stretch>
              </a:blipFill>
            </p:spPr>
            <p:txBody>
              <a:bodyPr/>
              <a:lstStyle/>
              <a:p>
                <a:r>
                  <a:rPr lang="en-UG">
                    <a:noFill/>
                  </a:rPr>
                  <a:t> </a:t>
                </a:r>
              </a:p>
            </p:txBody>
          </p:sp>
        </mc:Fallback>
      </mc:AlternateContent>
    </p:spTree>
    <p:extLst>
      <p:ext uri="{BB962C8B-B14F-4D97-AF65-F5344CB8AC3E}">
        <p14:creationId xmlns:p14="http://schemas.microsoft.com/office/powerpoint/2010/main" val="4268287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238538" y="106020"/>
            <a:ext cx="11811266" cy="649357"/>
          </a:xfrm>
        </p:spPr>
        <p:txBody>
          <a:bodyPr>
            <a:noAutofit/>
          </a:bodyPr>
          <a:lstStyle/>
          <a:p>
            <a:pPr algn="ct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r>
              <a:rPr lang="en-US" sz="3600" b="1" dirty="0">
                <a:solidFill>
                  <a:schemeClr val="accent2">
                    <a:lumMod val="75000"/>
                  </a:schemeClr>
                </a:solidFill>
                <a:latin typeface="Century Gothic" panose="020B0502020202020204" pitchFamily="34" charset="0"/>
              </a:rPr>
              <a:t>Exercise </a:t>
            </a:r>
            <a:br>
              <a:rPr lang="en-UG" sz="4000" dirty="0"/>
            </a:br>
            <a:br>
              <a:rPr lang="en-UG" dirty="0"/>
            </a:br>
            <a:br>
              <a:rPr lang="en-US" dirty="0"/>
            </a:br>
            <a:br>
              <a:rPr lang="en-US" sz="3600" dirty="0">
                <a:latin typeface="Century Gothic" panose="020B0502020202020204" pitchFamily="34" charset="0"/>
              </a:rPr>
            </a:br>
            <a:endParaRPr lang="en-US" sz="3600" b="1" dirty="0">
              <a:solidFill>
                <a:schemeClr val="accent2">
                  <a:lumMod val="75000"/>
                </a:schemeClr>
              </a:solidFill>
              <a:latin typeface="+mn-lt"/>
            </a:endParaRPr>
          </a:p>
        </p:txBody>
      </p:sp>
      <p:sp>
        <p:nvSpPr>
          <p:cNvPr id="12" name="Rectangle 4">
            <a:extLst>
              <a:ext uri="{FF2B5EF4-FFF2-40B4-BE49-F238E27FC236}">
                <a16:creationId xmlns:a16="http://schemas.microsoft.com/office/drawing/2014/main" id="{C7A428CC-9977-409B-A4F2-DAE08F772C22}"/>
              </a:ext>
            </a:extLst>
          </p:cNvPr>
          <p:cNvSpPr>
            <a:spLocks noChangeArrowheads="1"/>
          </p:cNvSpPr>
          <p:nvPr/>
        </p:nvSpPr>
        <p:spPr bwMode="auto">
          <a:xfrm>
            <a:off x="2746375" y="1805673"/>
            <a:ext cx="6752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G" altLang="en-UG" sz="1800" b="0" i="0" u="none" strike="noStrike" cap="none" normalizeH="0" baseline="0">
                <a:ln>
                  <a:noFill/>
                </a:ln>
                <a:solidFill>
                  <a:schemeClr val="tx1"/>
                </a:solidFill>
                <a:effectLst/>
                <a:latin typeface="Arial" panose="020B0604020202020204" pitchFamily="34" charset="0"/>
              </a:rPr>
            </a:br>
            <a:endParaRPr kumimoji="0" lang="en-UG" altLang="en-UG" sz="1800" b="0" i="0" u="none" strike="noStrike" cap="none" normalizeH="0" baseline="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3DF395E6-7EFA-46ED-80BE-B4681ACDB608}"/>
              </a:ext>
            </a:extLst>
          </p:cNvPr>
          <p:cNvSpPr>
            <a:spLocks noGrp="1"/>
          </p:cNvSpPr>
          <p:nvPr>
            <p:ph idx="1"/>
          </p:nvPr>
        </p:nvSpPr>
        <p:spPr>
          <a:xfrm>
            <a:off x="142195" y="636104"/>
            <a:ext cx="11907609" cy="6089372"/>
          </a:xfrm>
        </p:spPr>
        <p:txBody>
          <a:bodyPr>
            <a:normAutofit/>
          </a:bodyPr>
          <a:lstStyle/>
          <a:p>
            <a:pPr marL="0" indent="0" algn="just">
              <a:lnSpc>
                <a:spcPct val="150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Solve the following simultaneous equations using the substitution method.</a:t>
            </a:r>
          </a:p>
          <a:p>
            <a:pPr marL="0" indent="0" algn="just">
              <a:lnSpc>
                <a:spcPct val="150000"/>
              </a:lnSpc>
              <a:spcAft>
                <a:spcPts val="0"/>
              </a:spcAft>
              <a:buNone/>
              <a:tabLst>
                <a:tab pos="274320" algn="l"/>
              </a:tabLst>
            </a:pP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C7BF9BB2-0E99-42EC-9DC0-48CD443C1E34}"/>
              </a:ext>
            </a:extLst>
          </p:cNvPr>
          <p:cNvGraphicFramePr>
            <a:graphicFrameLocks noGrp="1"/>
          </p:cNvGraphicFramePr>
          <p:nvPr>
            <p:extLst>
              <p:ext uri="{D42A27DB-BD31-4B8C-83A1-F6EECF244321}">
                <p14:modId xmlns:p14="http://schemas.microsoft.com/office/powerpoint/2010/main" val="641898501"/>
              </p:ext>
            </p:extLst>
          </p:nvPr>
        </p:nvGraphicFramePr>
        <p:xfrm>
          <a:off x="1961322" y="1805673"/>
          <a:ext cx="6997258" cy="2792831"/>
        </p:xfrm>
        <a:graphic>
          <a:graphicData uri="http://schemas.openxmlformats.org/drawingml/2006/table">
            <a:tbl>
              <a:tblPr firstRow="1" firstCol="1" bandRow="1"/>
              <a:tblGrid>
                <a:gridCol w="3644348">
                  <a:extLst>
                    <a:ext uri="{9D8B030D-6E8A-4147-A177-3AD203B41FA5}">
                      <a16:colId xmlns:a16="http://schemas.microsoft.com/office/drawing/2014/main" val="1318964620"/>
                    </a:ext>
                  </a:extLst>
                </a:gridCol>
                <a:gridCol w="3352910">
                  <a:extLst>
                    <a:ext uri="{9D8B030D-6E8A-4147-A177-3AD203B41FA5}">
                      <a16:colId xmlns:a16="http://schemas.microsoft.com/office/drawing/2014/main" val="1483092177"/>
                    </a:ext>
                  </a:extLst>
                </a:gridCol>
              </a:tblGrid>
              <a:tr h="2792831">
                <a:tc>
                  <a:txBody>
                    <a:bodyPr/>
                    <a:lstStyle/>
                    <a:p>
                      <a:pPr algn="just">
                        <a:lnSpc>
                          <a:spcPct val="115000"/>
                        </a:lnSpc>
                        <a:spcAft>
                          <a:spcPts val="0"/>
                        </a:spcAft>
                        <a:tabLst>
                          <a:tab pos="27432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   2X +4Y=3</a:t>
                      </a:r>
                      <a:endParaRPr lang="en-UG" sz="24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0"/>
                        </a:spcAft>
                        <a:tabLst>
                          <a:tab pos="27432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-6X-12Y= -9</a:t>
                      </a:r>
                      <a:endParaRPr lang="en-UG" sz="24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0"/>
                        </a:spcAft>
                        <a:tabLst>
                          <a:tab pos="27432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G" sz="24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0"/>
                        </a:spcAft>
                        <a:tabLst>
                          <a:tab pos="27432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C.   Y=3X-11</a:t>
                      </a:r>
                      <a:endParaRPr lang="en-UG" sz="24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0"/>
                        </a:spcAft>
                        <a:tabLst>
                          <a:tab pos="27432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Y=-2X+4</a:t>
                      </a:r>
                      <a:endParaRPr lang="en-UG"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15000"/>
                        </a:lnSpc>
                        <a:spcAft>
                          <a:spcPts val="0"/>
                        </a:spcAft>
                        <a:tabLst>
                          <a:tab pos="27432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B.   3X +4Y=9</a:t>
                      </a:r>
                      <a:endParaRPr lang="en-UG" sz="24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0"/>
                        </a:spcAft>
                        <a:tabLst>
                          <a:tab pos="274320" algn="l"/>
                        </a:tabLst>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-6X-8Y=10</a:t>
                      </a:r>
                      <a:endParaRPr lang="en-UG"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613086952"/>
                  </a:ext>
                </a:extLst>
              </a:tr>
            </a:tbl>
          </a:graphicData>
        </a:graphic>
      </p:graphicFrame>
    </p:spTree>
    <p:extLst>
      <p:ext uri="{BB962C8B-B14F-4D97-AF65-F5344CB8AC3E}">
        <p14:creationId xmlns:p14="http://schemas.microsoft.com/office/powerpoint/2010/main" val="2717311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238538" y="106020"/>
            <a:ext cx="11811266" cy="649357"/>
          </a:xfrm>
        </p:spPr>
        <p:txBody>
          <a:bodyPr>
            <a:noAutofit/>
          </a:bodyPr>
          <a:lstStyle/>
          <a:p>
            <a:pPr algn="ct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r>
              <a:rPr lang="en-US" sz="3600" b="1" dirty="0">
                <a:solidFill>
                  <a:schemeClr val="accent2">
                    <a:lumMod val="75000"/>
                  </a:schemeClr>
                </a:solidFill>
                <a:latin typeface="Century Gothic" panose="020B0502020202020204" pitchFamily="34" charset="0"/>
              </a:rPr>
              <a:t>Solving Equations With More than two unknowns</a:t>
            </a:r>
            <a:br>
              <a:rPr lang="en-UG" sz="3600" dirty="0">
                <a:latin typeface="Calibri" panose="020F0502020204030204" pitchFamily="34" charset="0"/>
                <a:ea typeface="Times New Roman" panose="02020603050405020304" pitchFamily="18" charset="0"/>
                <a:cs typeface="Times New Roman" panose="02020603050405020304" pitchFamily="18" charset="0"/>
              </a:rPr>
            </a:br>
            <a:br>
              <a:rPr lang="en-UG" sz="4000" dirty="0"/>
            </a:br>
            <a:br>
              <a:rPr lang="en-UG" dirty="0"/>
            </a:br>
            <a:br>
              <a:rPr lang="en-US" dirty="0"/>
            </a:br>
            <a:br>
              <a:rPr lang="en-US" sz="3600" dirty="0">
                <a:latin typeface="Century Gothic" panose="020B0502020202020204" pitchFamily="34" charset="0"/>
              </a:rPr>
            </a:br>
            <a:endParaRPr lang="en-US" sz="3600" b="1" dirty="0">
              <a:solidFill>
                <a:schemeClr val="accent2">
                  <a:lumMod val="75000"/>
                </a:schemeClr>
              </a:solidFill>
              <a:latin typeface="+mn-lt"/>
            </a:endParaRPr>
          </a:p>
        </p:txBody>
      </p:sp>
      <p:sp>
        <p:nvSpPr>
          <p:cNvPr id="12" name="Rectangle 4">
            <a:extLst>
              <a:ext uri="{FF2B5EF4-FFF2-40B4-BE49-F238E27FC236}">
                <a16:creationId xmlns:a16="http://schemas.microsoft.com/office/drawing/2014/main" id="{C7A428CC-9977-409B-A4F2-DAE08F772C22}"/>
              </a:ext>
            </a:extLst>
          </p:cNvPr>
          <p:cNvSpPr>
            <a:spLocks noChangeArrowheads="1"/>
          </p:cNvSpPr>
          <p:nvPr/>
        </p:nvSpPr>
        <p:spPr bwMode="auto">
          <a:xfrm>
            <a:off x="2746375" y="1805673"/>
            <a:ext cx="6752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G" altLang="en-UG" sz="1800" b="0" i="0" u="none" strike="noStrike" cap="none" normalizeH="0" baseline="0">
                <a:ln>
                  <a:noFill/>
                </a:ln>
                <a:solidFill>
                  <a:schemeClr val="tx1"/>
                </a:solidFill>
                <a:effectLst/>
                <a:latin typeface="Arial" panose="020B0604020202020204" pitchFamily="34" charset="0"/>
              </a:rPr>
            </a:br>
            <a:endParaRPr kumimoji="0" lang="en-UG" altLang="en-UG" sz="1800" b="0" i="0" u="none" strike="noStrike" cap="none" normalizeH="0" baseline="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3DF395E6-7EFA-46ED-80BE-B4681ACDB608}"/>
              </a:ext>
            </a:extLst>
          </p:cNvPr>
          <p:cNvSpPr>
            <a:spLocks noGrp="1"/>
          </p:cNvSpPr>
          <p:nvPr>
            <p:ph idx="1"/>
          </p:nvPr>
        </p:nvSpPr>
        <p:spPr>
          <a:xfrm>
            <a:off x="142195" y="636104"/>
            <a:ext cx="11907609" cy="6089372"/>
          </a:xfrm>
        </p:spPr>
        <p:txBody>
          <a:bodyPr>
            <a:normAutofit fontScale="92500"/>
          </a:bodyPr>
          <a:lstStyle/>
          <a:p>
            <a:pPr algn="just">
              <a:lnSpc>
                <a:spcPct val="150000"/>
              </a:lnSpc>
              <a:buFont typeface="Wingdings" panose="05000000000000000000" pitchFamily="2" charset="2"/>
              <a:buChar char="Ø"/>
              <a:tabLst>
                <a:tab pos="274320" algn="l"/>
              </a:tabLst>
            </a:pPr>
            <a:r>
              <a:rPr lang="en-US"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One of the methods of solving simultaneous equations with more than two unknowns is called the </a:t>
            </a:r>
            <a:r>
              <a:rPr lang="en-US" b="1" i="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elimination method </a:t>
            </a:r>
            <a:r>
              <a:rPr lang="en-US"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(one of the variables is eliminated to solve for others</a:t>
            </a:r>
            <a:r>
              <a:rPr lang="en-US"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150000"/>
              </a:lnSpc>
              <a:spcAft>
                <a:spcPts val="0"/>
              </a:spcAft>
              <a:buNone/>
              <a:tabLst>
                <a:tab pos="274320" algn="l"/>
              </a:tabLst>
            </a:pPr>
            <a:r>
              <a:rPr lang="en-US" b="1" dirty="0">
                <a:latin typeface="Times New Roman" panose="02020603050405020304" pitchFamily="18" charset="0"/>
                <a:ea typeface="Times New Roman" panose="02020603050405020304" pitchFamily="18" charset="0"/>
                <a:cs typeface="Times New Roman" panose="02020603050405020304" pitchFamily="18" charset="0"/>
              </a:rPr>
              <a:t>NOTE</a:t>
            </a:r>
            <a:r>
              <a:rPr lang="en-US" dirty="0">
                <a:latin typeface="Times New Roman" panose="02020603050405020304" pitchFamily="18" charset="0"/>
                <a:ea typeface="Times New Roman" panose="02020603050405020304" pitchFamily="18" charset="0"/>
                <a:cs typeface="Times New Roman" panose="02020603050405020304" pitchFamily="18" charset="0"/>
              </a:rPr>
              <a:t>: This method can also be used in systems of equations with only two variables. </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tabLst>
                <a:tab pos="274320" algn="l"/>
              </a:tabLst>
            </a:pPr>
            <a:r>
              <a:rPr lang="en-US" i="1" u="sng"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How to use the elimination method</a:t>
            </a:r>
            <a:endParaRPr lang="en-UG" sz="2400" i="1" dirty="0">
              <a:solidFill>
                <a:srgbClr val="002060"/>
              </a:solidFill>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Given the simultaneous equations below;</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2X-Y+3Z= 10 ………………………….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i</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X+3Y-2Z=5 ………………………….  ii</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3X-2Y+4Z=12 ………………………….  iii</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4516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914400" y="18256"/>
            <a:ext cx="10515600" cy="646332"/>
          </a:xfrm>
        </p:spPr>
        <p:txBody>
          <a:bodyPr>
            <a:noAutofit/>
          </a:bodyPr>
          <a:lstStyle/>
          <a:p>
            <a:pPr algn="ct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r>
              <a:rPr lang="en-US" sz="2800" b="1" dirty="0">
                <a:latin typeface="Century Gothic" panose="020B0502020202020204" pitchFamily="34" charset="0"/>
              </a:rPr>
              <a:t>Elimination method (Solution)</a:t>
            </a:r>
            <a:br>
              <a:rPr lang="en-UG" sz="3200" dirty="0"/>
            </a:br>
            <a:br>
              <a:rPr lang="en-UG" dirty="0"/>
            </a:br>
            <a:br>
              <a:rPr lang="en-US" dirty="0"/>
            </a:br>
            <a:br>
              <a:rPr lang="en-US" sz="3600" dirty="0">
                <a:latin typeface="Century Gothic" panose="020B0502020202020204" pitchFamily="34" charset="0"/>
              </a:rPr>
            </a:br>
            <a:endParaRPr lang="en-US" sz="3600" b="1" dirty="0">
              <a:solidFill>
                <a:schemeClr val="accent2">
                  <a:lumMod val="75000"/>
                </a:schemeClr>
              </a:solidFill>
              <a:latin typeface="+mn-lt"/>
            </a:endParaRPr>
          </a:p>
        </p:txBody>
      </p:sp>
      <p:sp>
        <p:nvSpPr>
          <p:cNvPr id="5" name="Content Placeholder 4">
            <a:extLst>
              <a:ext uri="{FF2B5EF4-FFF2-40B4-BE49-F238E27FC236}">
                <a16:creationId xmlns:a16="http://schemas.microsoft.com/office/drawing/2014/main" id="{3DF395E6-7EFA-46ED-80BE-B4681ACDB608}"/>
              </a:ext>
            </a:extLst>
          </p:cNvPr>
          <p:cNvSpPr>
            <a:spLocks noGrp="1"/>
          </p:cNvSpPr>
          <p:nvPr>
            <p:ph sz="half" idx="1"/>
          </p:nvPr>
        </p:nvSpPr>
        <p:spPr>
          <a:xfrm>
            <a:off x="0" y="410816"/>
            <a:ext cx="12059478" cy="6428927"/>
          </a:xfrm>
        </p:spPr>
        <p:txBody>
          <a:bodyPr>
            <a:normAutofit/>
          </a:bodyPr>
          <a:lstStyle/>
          <a:p>
            <a:pPr marL="0" indent="0" algn="just">
              <a:lnSpc>
                <a:spcPct val="150000"/>
              </a:lnSpc>
              <a:spcAft>
                <a:spcPts val="0"/>
              </a:spcAft>
              <a:buNone/>
              <a:tabLst>
                <a:tab pos="274320" algn="l"/>
              </a:tabLst>
            </a:pPr>
            <a:r>
              <a:rPr lang="en-US" b="1" i="1" u="sng"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Step One</a:t>
            </a:r>
            <a:r>
              <a:rPr lang="en-US"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Eliminate one of the variables to form linear equations (</a:t>
            </a:r>
            <a:r>
              <a:rPr lang="en-US" b="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USE TWO PAIRS OF THE GIVEN EQUATIONS</a:t>
            </a:r>
            <a:r>
              <a:rPr lang="en-US"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G" sz="2400" dirty="0">
              <a:solidFill>
                <a:srgbClr val="0070C0"/>
              </a:solidFill>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tabLst>
                <a:tab pos="274320" algn="l"/>
              </a:tabLst>
            </a:pPr>
            <a:r>
              <a:rPr lang="en-US"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How?</a:t>
            </a:r>
            <a:r>
              <a:rPr lang="en-US"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 To eliminate Y in equations </a:t>
            </a:r>
            <a:r>
              <a:rPr lang="en-US" dirty="0" err="1">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i</a:t>
            </a:r>
            <a:r>
              <a:rPr lang="en-US"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 and ii for example, we multiply equation </a:t>
            </a:r>
            <a:r>
              <a:rPr lang="en-US" dirty="0" err="1">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i</a:t>
            </a:r>
            <a:r>
              <a:rPr lang="en-US"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 by 3 and solve for the two linear equations </a:t>
            </a:r>
            <a:r>
              <a:rPr lang="en-US" dirty="0" err="1">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ie</a:t>
            </a:r>
            <a:r>
              <a:rPr lang="en-US"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G" sz="2400" dirty="0">
              <a:solidFill>
                <a:srgbClr val="7030A0"/>
              </a:solidFill>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3(2X-Y+3Z= 10) …………………………. (a)</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X+3Y-2Z=5 ………………………….  ii</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 </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6X-3Y+9Z= 30 …………………………. (a)</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X+3Y-2Z=5 ………………………….  ii</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12" name="Rectangle 4">
            <a:extLst>
              <a:ext uri="{FF2B5EF4-FFF2-40B4-BE49-F238E27FC236}">
                <a16:creationId xmlns:a16="http://schemas.microsoft.com/office/drawing/2014/main" id="{C7A428CC-9977-409B-A4F2-DAE08F772C22}"/>
              </a:ext>
            </a:extLst>
          </p:cNvPr>
          <p:cNvSpPr>
            <a:spLocks noChangeArrowheads="1"/>
          </p:cNvSpPr>
          <p:nvPr/>
        </p:nvSpPr>
        <p:spPr bwMode="auto">
          <a:xfrm>
            <a:off x="2746375" y="1805673"/>
            <a:ext cx="6752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G" altLang="en-UG" sz="1800" b="0" i="0" u="none" strike="noStrike" cap="none" normalizeH="0" baseline="0">
                <a:ln>
                  <a:noFill/>
                </a:ln>
                <a:solidFill>
                  <a:schemeClr val="tx1"/>
                </a:solidFill>
                <a:effectLst/>
                <a:latin typeface="Arial" panose="020B0604020202020204" pitchFamily="34" charset="0"/>
              </a:rPr>
            </a:br>
            <a:endParaRPr kumimoji="0" lang="en-UG" altLang="en-UG"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56500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DF395E6-7EFA-46ED-80BE-B4681ACDB608}"/>
              </a:ext>
            </a:extLst>
          </p:cNvPr>
          <p:cNvSpPr>
            <a:spLocks noGrp="1"/>
          </p:cNvSpPr>
          <p:nvPr>
            <p:ph sz="half" idx="1"/>
          </p:nvPr>
        </p:nvSpPr>
        <p:spPr>
          <a:xfrm>
            <a:off x="185530" y="0"/>
            <a:ext cx="5834270" cy="6718851"/>
          </a:xfrm>
          <a:solidFill>
            <a:schemeClr val="accent5">
              <a:lumMod val="40000"/>
              <a:lumOff val="60000"/>
            </a:schemeClr>
          </a:solidFill>
        </p:spPr>
        <p:txBody>
          <a:bodyPr>
            <a:normAutofit/>
          </a:bodyPr>
          <a:lstStyle/>
          <a:p>
            <a:pPr marL="0" indent="0" algn="ctr">
              <a:lnSpc>
                <a:spcPct val="150000"/>
              </a:lnSpc>
              <a:spcAft>
                <a:spcPts val="0"/>
              </a:spcAft>
              <a:buNone/>
              <a:tabLst>
                <a:tab pos="274320" algn="l"/>
              </a:tabLst>
            </a:pPr>
            <a:r>
              <a:rPr lang="en-US" sz="2400" b="1" i="1" u="sng"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Step Two</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150000"/>
              </a:lnSpc>
              <a:spcAft>
                <a:spcPts val="0"/>
              </a:spcAft>
              <a:buNone/>
              <a:tabLst>
                <a:tab pos="274320" algn="l"/>
              </a:tabLst>
            </a:pPr>
            <a:r>
              <a:rPr lang="en-US" sz="2000"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Then add equation </a:t>
            </a:r>
            <a:r>
              <a:rPr lang="en-US" sz="2000"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a</a:t>
            </a:r>
            <a:r>
              <a:rPr lang="en-US" sz="2000"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 to equation </a:t>
            </a:r>
            <a:r>
              <a:rPr lang="en-US" sz="2000"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ii </a:t>
            </a:r>
          </a:p>
          <a:p>
            <a:pPr marL="0" indent="0" algn="just">
              <a:lnSpc>
                <a:spcPct val="150000"/>
              </a:lnSpc>
              <a:spcAft>
                <a:spcPts val="0"/>
              </a:spcAft>
              <a:buNone/>
              <a:tabLst>
                <a:tab pos="274320" algn="l"/>
              </a:tabLst>
            </a:pPr>
            <a:endParaRPr lang="en-US" sz="24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tabLst>
                <a:tab pos="274320" algn="l"/>
              </a:tabLs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tabLst>
                <a:tab pos="274320" algn="l"/>
              </a:tabLs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7X+0+7Z=35</a:t>
            </a:r>
            <a:endParaRPr lang="en-UG" sz="18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7X+7Z=35 …………………………. (b)</a:t>
            </a:r>
            <a:endParaRPr lang="en-UG" sz="18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To get another linear equation, eliminate Y in equations ii and iii as below</a:t>
            </a:r>
            <a:endParaRPr lang="en-UG" sz="18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X+3Y-2Z=5 ………………………….  ii</a:t>
            </a:r>
            <a:endParaRPr lang="en-UG" sz="18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3X-2Y+4Z=12 ………………………….  iii</a:t>
            </a:r>
            <a:endParaRPr lang="en-UG" sz="18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tabLst>
                <a:tab pos="274320" algn="l"/>
              </a:tabLst>
            </a:pP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tabLst>
                <a:tab pos="274320" algn="l"/>
              </a:tabLst>
            </a:pP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8596A06-3FB8-4EAD-8AA3-7104AB4DED6E}"/>
              </a:ext>
            </a:extLst>
          </p:cNvPr>
          <p:cNvSpPr>
            <a:spLocks noGrp="1"/>
          </p:cNvSpPr>
          <p:nvPr>
            <p:ph sz="half" idx="2"/>
          </p:nvPr>
        </p:nvSpPr>
        <p:spPr>
          <a:xfrm>
            <a:off x="6172200" y="137343"/>
            <a:ext cx="5834270" cy="6718851"/>
          </a:xfrm>
          <a:solidFill>
            <a:schemeClr val="accent6">
              <a:lumMod val="40000"/>
              <a:lumOff val="60000"/>
            </a:schemeClr>
          </a:solidFill>
        </p:spPr>
        <p:txBody>
          <a:bodyPr>
            <a:normAutofit/>
          </a:bodyPr>
          <a:lstStyle/>
          <a:p>
            <a:pPr marL="0" indent="0" algn="just">
              <a:lnSpc>
                <a:spcPct val="150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So, multiply equation ii by 2 and equation iii by 3 and add the two equations.</a:t>
            </a: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2(X+3Y-2Z=5) ………………….  (c)</a:t>
            </a: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3(3X-2Y+4Z=12 ……………….  (d)</a:t>
            </a: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2X+6Y-4Z=10 ………………….  (c)</a:t>
            </a: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9X-6Y+12Z=36 ……………….  (d)</a:t>
            </a:r>
          </a:p>
          <a:p>
            <a:pPr marL="0" indent="0" algn="ctr">
              <a:lnSpc>
                <a:spcPct val="115000"/>
              </a:lnSpc>
              <a:spcAft>
                <a:spcPts val="0"/>
              </a:spcAft>
              <a:buNone/>
              <a:tabLst>
                <a:tab pos="274320" algn="l"/>
              </a:tabLs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11X+0+8Z=46 ………………………….  (e)</a:t>
            </a:r>
            <a:endParaRPr lang="en-UG" sz="18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11X+8Z=46 …………………………….  (e)</a:t>
            </a:r>
            <a:endParaRPr lang="en-UG" sz="18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a:p>
            <a:endParaRPr lang="en-UG" dirty="0"/>
          </a:p>
        </p:txBody>
      </p:sp>
      <p:sp>
        <p:nvSpPr>
          <p:cNvPr id="12" name="Rectangle 4">
            <a:extLst>
              <a:ext uri="{FF2B5EF4-FFF2-40B4-BE49-F238E27FC236}">
                <a16:creationId xmlns:a16="http://schemas.microsoft.com/office/drawing/2014/main" id="{C7A428CC-9977-409B-A4F2-DAE08F772C22}"/>
              </a:ext>
            </a:extLst>
          </p:cNvPr>
          <p:cNvSpPr>
            <a:spLocks noChangeArrowheads="1"/>
          </p:cNvSpPr>
          <p:nvPr/>
        </p:nvSpPr>
        <p:spPr bwMode="auto">
          <a:xfrm>
            <a:off x="2746375" y="1805673"/>
            <a:ext cx="6752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G" altLang="en-UG" sz="1800" b="0" i="0" u="none" strike="noStrike" cap="none" normalizeH="0" baseline="0">
                <a:ln>
                  <a:noFill/>
                </a:ln>
                <a:solidFill>
                  <a:schemeClr val="tx1"/>
                </a:solidFill>
                <a:effectLst/>
                <a:latin typeface="Arial" panose="020B0604020202020204" pitchFamily="34" charset="0"/>
              </a:rPr>
            </a:br>
            <a:endParaRPr kumimoji="0" lang="en-UG" altLang="en-UG" sz="18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6D87D055-B13A-4EEE-B07E-77F4FDC6EA2C}"/>
              </a:ext>
            </a:extLst>
          </p:cNvPr>
          <p:cNvPicPr/>
          <p:nvPr/>
        </p:nvPicPr>
        <p:blipFill>
          <a:blip r:embed="rId3"/>
          <a:stretch>
            <a:fillRect/>
          </a:stretch>
        </p:blipFill>
        <p:spPr>
          <a:xfrm>
            <a:off x="770093" y="1181661"/>
            <a:ext cx="4343400" cy="1629312"/>
          </a:xfrm>
          <a:prstGeom prst="rect">
            <a:avLst/>
          </a:prstGeom>
        </p:spPr>
      </p:pic>
      <p:pic>
        <p:nvPicPr>
          <p:cNvPr id="7" name="Picture 6">
            <a:extLst>
              <a:ext uri="{FF2B5EF4-FFF2-40B4-BE49-F238E27FC236}">
                <a16:creationId xmlns:a16="http://schemas.microsoft.com/office/drawing/2014/main" id="{F1FA2937-807C-4A20-AC75-73D8093D7621}"/>
              </a:ext>
            </a:extLst>
          </p:cNvPr>
          <p:cNvPicPr/>
          <p:nvPr/>
        </p:nvPicPr>
        <p:blipFill>
          <a:blip r:embed="rId4"/>
          <a:stretch>
            <a:fillRect/>
          </a:stretch>
        </p:blipFill>
        <p:spPr>
          <a:xfrm>
            <a:off x="6506818" y="3788630"/>
            <a:ext cx="3853172" cy="1730937"/>
          </a:xfrm>
          <a:prstGeom prst="rect">
            <a:avLst/>
          </a:prstGeom>
        </p:spPr>
      </p:pic>
    </p:spTree>
    <p:extLst>
      <p:ext uri="{BB962C8B-B14F-4D97-AF65-F5344CB8AC3E}">
        <p14:creationId xmlns:p14="http://schemas.microsoft.com/office/powerpoint/2010/main" val="4232956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DF395E6-7EFA-46ED-80BE-B4681ACDB608}"/>
              </a:ext>
            </a:extLst>
          </p:cNvPr>
          <p:cNvSpPr>
            <a:spLocks noGrp="1"/>
          </p:cNvSpPr>
          <p:nvPr>
            <p:ph sz="half" idx="2"/>
          </p:nvPr>
        </p:nvSpPr>
        <p:spPr>
          <a:xfrm>
            <a:off x="167481" y="1"/>
            <a:ext cx="5699919" cy="6652590"/>
          </a:xfrm>
          <a:solidFill>
            <a:schemeClr val="accent6">
              <a:lumMod val="40000"/>
              <a:lumOff val="60000"/>
            </a:schemeClr>
          </a:solidFill>
        </p:spPr>
        <p:txBody>
          <a:bodyPr>
            <a:noAutofit/>
          </a:bodyPr>
          <a:lstStyle/>
          <a:p>
            <a:pPr marL="0" indent="0" algn="ctr">
              <a:lnSpc>
                <a:spcPct val="150000"/>
              </a:lnSpc>
              <a:spcAft>
                <a:spcPts val="0"/>
              </a:spcAft>
              <a:buNone/>
              <a:tabLst>
                <a:tab pos="274320" algn="l"/>
              </a:tabLst>
            </a:pPr>
            <a:r>
              <a:rPr lang="en-US" sz="2000" b="1" i="1" u="sng"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Step Three</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150000"/>
              </a:lnSpc>
              <a:spcAft>
                <a:spcPts val="0"/>
              </a:spcAft>
              <a:buNone/>
              <a:tabLst>
                <a:tab pos="274320" algn="l"/>
              </a:tabLst>
            </a:pPr>
            <a:r>
              <a:rPr lang="en-US" sz="2000"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Since we have two linear equations (</a:t>
            </a:r>
            <a:r>
              <a:rPr lang="en-US" sz="2000" dirty="0" err="1">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ie</a:t>
            </a:r>
            <a:r>
              <a:rPr lang="en-US" sz="2000"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 b and e), we can now solve them using any method; say </a:t>
            </a:r>
            <a:r>
              <a:rPr lang="en-US" sz="2000" b="1" i="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elimination method</a:t>
            </a:r>
            <a:r>
              <a:rPr lang="en-US" sz="2000"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G" sz="2000" dirty="0">
              <a:solidFill>
                <a:srgbClr val="7030A0"/>
              </a:solidFill>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7X+7Z=35 …………………………. (b)</a:t>
            </a: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Multiply equation </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b</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by 11 and equation </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e</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by 7 and then subtract the two equations.</a:t>
            </a: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11(7X+7Z=35) …………………………. (f)</a:t>
            </a: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7(11X+8Z=46) ………………………….  (g)</a:t>
            </a: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77X+77Z=385 …………………………. (f)</a:t>
            </a: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77X+56Z=322 ………………………….  (g)</a:t>
            </a: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5DAD8CA1-3C1B-44FD-AB7E-8194D77D5298}"/>
                  </a:ext>
                </a:extLst>
              </p:cNvPr>
              <p:cNvSpPr>
                <a:spLocks noGrp="1"/>
              </p:cNvSpPr>
              <p:nvPr>
                <p:ph sz="quarter" idx="4"/>
              </p:nvPr>
            </p:nvSpPr>
            <p:spPr>
              <a:xfrm>
                <a:off x="6172199" y="0"/>
                <a:ext cx="5852319" cy="6652589"/>
              </a:xfrm>
              <a:solidFill>
                <a:schemeClr val="accent5">
                  <a:lumMod val="40000"/>
                  <a:lumOff val="60000"/>
                </a:schemeClr>
              </a:solidFill>
            </p:spPr>
            <p:txBody>
              <a:bodyPr>
                <a:normAutofit fontScale="70000" lnSpcReduction="20000"/>
              </a:bodyPr>
              <a:lstStyle/>
              <a:p>
                <a:pPr algn="ctr">
                  <a:lnSpc>
                    <a:spcPct val="115000"/>
                  </a:lnSpc>
                  <a:spcAft>
                    <a:spcPts val="0"/>
                  </a:spcAft>
                  <a:tabLst>
                    <a:tab pos="274320" algn="l"/>
                  </a:tabLst>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algn="ctr">
                  <a:lnSpc>
                    <a:spcPct val="115000"/>
                  </a:lnSpc>
                  <a:spcAft>
                    <a:spcPts val="0"/>
                  </a:spcAft>
                  <a:tabLst>
                    <a:tab pos="274320" algn="l"/>
                  </a:tabLst>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0 +21Z= 63</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21Z=63</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Z=</a:t>
                </a:r>
                <a14:m>
                  <m:oMath xmlns:m="http://schemas.openxmlformats.org/officeDocument/2006/math">
                    <m:f>
                      <m:fPr>
                        <m:ctrlPr>
                          <a:rPr lang="en-UG" sz="32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3200" i="1">
                            <a:latin typeface="Cambria Math" panose="02040503050406030204" pitchFamily="18" charset="0"/>
                            <a:ea typeface="Times New Roman" panose="02020603050405020304" pitchFamily="18" charset="0"/>
                            <a:cs typeface="Times New Roman" panose="02020603050405020304" pitchFamily="18" charset="0"/>
                          </a:rPr>
                          <m:t>63</m:t>
                        </m:r>
                      </m:num>
                      <m:den>
                        <m:r>
                          <a:rPr lang="en-US" sz="3200" i="1">
                            <a:latin typeface="Cambria Math" panose="02040503050406030204" pitchFamily="18" charset="0"/>
                            <a:ea typeface="Times New Roman" panose="02020603050405020304" pitchFamily="18" charset="0"/>
                            <a:cs typeface="Times New Roman" panose="02020603050405020304" pitchFamily="18" charset="0"/>
                          </a:rPr>
                          <m:t>21</m:t>
                        </m:r>
                      </m:den>
                    </m:f>
                  </m:oMath>
                </a14:m>
                <a:r>
                  <a:rPr lang="en-US" dirty="0">
                    <a:latin typeface="Times New Roman" panose="02020603050405020304" pitchFamily="18" charset="0"/>
                    <a:ea typeface="Times New Roman" panose="02020603050405020304" pitchFamily="18" charset="0"/>
                    <a:cs typeface="Times New Roman" panose="02020603050405020304" pitchFamily="18" charset="0"/>
                  </a:rPr>
                  <a:t> = 3</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Since we have the value of Z; substitute it in either equation b or e. So, substituting in equation </a:t>
                </a:r>
                <a:r>
                  <a:rPr lang="en-US" b="1" dirty="0">
                    <a:latin typeface="Times New Roman" panose="02020603050405020304" pitchFamily="18" charset="0"/>
                    <a:ea typeface="Times New Roman" panose="02020603050405020304" pitchFamily="18" charset="0"/>
                    <a:cs typeface="Times New Roman" panose="02020603050405020304" pitchFamily="18" charset="0"/>
                  </a:rPr>
                  <a:t>b</a:t>
                </a:r>
                <a:r>
                  <a:rPr lang="en-US" dirty="0">
                    <a:latin typeface="Times New Roman" panose="02020603050405020304" pitchFamily="18" charset="0"/>
                    <a:ea typeface="Times New Roman" panose="02020603050405020304" pitchFamily="18" charset="0"/>
                    <a:cs typeface="Times New Roman" panose="02020603050405020304" pitchFamily="18" charset="0"/>
                  </a:rPr>
                  <a:t>, we get;</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7X+7Z=35 …………………………. (b)</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7X+7(3) =35 …………………………. (b)</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7X+21=35 </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7X=35 -21</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7X=14</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X=</a:t>
                </a:r>
                <a14:m>
                  <m:oMath xmlns:m="http://schemas.openxmlformats.org/officeDocument/2006/math">
                    <m:f>
                      <m:fPr>
                        <m:ctrlPr>
                          <a:rPr lang="en-UG" i="1">
                            <a:latin typeface="Cambria Math" panose="02040503050406030204" pitchFamily="18" charset="0"/>
                            <a:ea typeface="Times New Roman" panose="02020603050405020304" pitchFamily="18" charset="0"/>
                            <a:cs typeface="Times New Roman" panose="02020603050405020304" pitchFamily="18" charset="0"/>
                          </a:rPr>
                        </m:ctrlPr>
                      </m:fPr>
                      <m:num>
                        <m:r>
                          <a:rPr lang="en-US" i="1">
                            <a:latin typeface="Cambria Math" panose="02040503050406030204" pitchFamily="18" charset="0"/>
                            <a:ea typeface="Times New Roman" panose="02020603050405020304" pitchFamily="18" charset="0"/>
                            <a:cs typeface="Times New Roman" panose="02020603050405020304" pitchFamily="18" charset="0"/>
                          </a:rPr>
                          <m:t>14</m:t>
                        </m:r>
                      </m:num>
                      <m:den>
                        <m:r>
                          <a:rPr lang="en-US" i="1">
                            <a:latin typeface="Cambria Math" panose="02040503050406030204" pitchFamily="18" charset="0"/>
                            <a:ea typeface="Times New Roman" panose="02020603050405020304" pitchFamily="18" charset="0"/>
                            <a:cs typeface="Times New Roman" panose="02020603050405020304" pitchFamily="18" charset="0"/>
                          </a:rPr>
                          <m:t>7</m:t>
                        </m:r>
                      </m:den>
                    </m:f>
                  </m:oMath>
                </a14:m>
                <a:r>
                  <a:rPr lang="en-US" dirty="0">
                    <a:latin typeface="Times New Roman" panose="02020603050405020304" pitchFamily="18" charset="0"/>
                    <a:ea typeface="Times New Roman" panose="02020603050405020304" pitchFamily="18" charset="0"/>
                    <a:cs typeface="Times New Roman" panose="02020603050405020304" pitchFamily="18" charset="0"/>
                  </a:rPr>
                  <a:t> = 2</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endParaRPr lang="en-UG" dirty="0"/>
              </a:p>
            </p:txBody>
          </p:sp>
        </mc:Choice>
        <mc:Fallback xmlns="">
          <p:sp>
            <p:nvSpPr>
              <p:cNvPr id="7" name="Content Placeholder 6">
                <a:extLst>
                  <a:ext uri="{FF2B5EF4-FFF2-40B4-BE49-F238E27FC236}">
                    <a16:creationId xmlns:a16="http://schemas.microsoft.com/office/drawing/2014/main" id="{5DAD8CA1-3C1B-44FD-AB7E-8194D77D5298}"/>
                  </a:ext>
                </a:extLst>
              </p:cNvPr>
              <p:cNvSpPr>
                <a:spLocks noGrp="1" noRot="1" noChangeAspect="1" noMove="1" noResize="1" noEditPoints="1" noAdjustHandles="1" noChangeArrowheads="1" noChangeShapeType="1" noTextEdit="1"/>
              </p:cNvSpPr>
              <p:nvPr>
                <p:ph sz="quarter" idx="4"/>
              </p:nvPr>
            </p:nvSpPr>
            <p:spPr>
              <a:xfrm>
                <a:off x="6172199" y="0"/>
                <a:ext cx="5852319" cy="6652589"/>
              </a:xfrm>
              <a:blipFill>
                <a:blip r:embed="rId3"/>
                <a:stretch>
                  <a:fillRect l="-1041" r="-1041"/>
                </a:stretch>
              </a:blipFill>
            </p:spPr>
            <p:txBody>
              <a:bodyPr/>
              <a:lstStyle/>
              <a:p>
                <a:r>
                  <a:rPr lang="en-UG">
                    <a:noFill/>
                  </a:rPr>
                  <a:t> </a:t>
                </a:r>
              </a:p>
            </p:txBody>
          </p:sp>
        </mc:Fallback>
      </mc:AlternateContent>
      <p:sp>
        <p:nvSpPr>
          <p:cNvPr id="12" name="Rectangle 4">
            <a:extLst>
              <a:ext uri="{FF2B5EF4-FFF2-40B4-BE49-F238E27FC236}">
                <a16:creationId xmlns:a16="http://schemas.microsoft.com/office/drawing/2014/main" id="{C7A428CC-9977-409B-A4F2-DAE08F772C22}"/>
              </a:ext>
            </a:extLst>
          </p:cNvPr>
          <p:cNvSpPr>
            <a:spLocks noChangeArrowheads="1"/>
          </p:cNvSpPr>
          <p:nvPr/>
        </p:nvSpPr>
        <p:spPr bwMode="auto">
          <a:xfrm>
            <a:off x="2746375" y="1805673"/>
            <a:ext cx="6752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G" altLang="en-UG" sz="1800" b="0" i="0" u="none" strike="noStrike" cap="none" normalizeH="0" baseline="0">
                <a:ln>
                  <a:noFill/>
                </a:ln>
                <a:solidFill>
                  <a:schemeClr val="tx1"/>
                </a:solidFill>
                <a:effectLst/>
                <a:latin typeface="Arial" panose="020B0604020202020204" pitchFamily="34" charset="0"/>
              </a:rPr>
            </a:br>
            <a:endParaRPr kumimoji="0" lang="en-UG" altLang="en-UG" sz="1800" b="0" i="0" u="none" strike="noStrike" cap="none" normalizeH="0" baseline="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E24B3970-A67A-4DE3-B191-82EA500618AC}"/>
              </a:ext>
            </a:extLst>
          </p:cNvPr>
          <p:cNvPicPr/>
          <p:nvPr/>
        </p:nvPicPr>
        <p:blipFill>
          <a:blip r:embed="rId4"/>
          <a:stretch>
            <a:fillRect/>
          </a:stretch>
        </p:blipFill>
        <p:spPr>
          <a:xfrm>
            <a:off x="7938399" y="18140"/>
            <a:ext cx="3120886" cy="1202472"/>
          </a:xfrm>
          <a:prstGeom prst="rect">
            <a:avLst/>
          </a:prstGeom>
        </p:spPr>
      </p:pic>
    </p:spTree>
    <p:extLst>
      <p:ext uri="{BB962C8B-B14F-4D97-AF65-F5344CB8AC3E}">
        <p14:creationId xmlns:p14="http://schemas.microsoft.com/office/powerpoint/2010/main" val="2952443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DF395E6-7EFA-46ED-80BE-B4681ACDB608}"/>
              </a:ext>
            </a:extLst>
          </p:cNvPr>
          <p:cNvSpPr>
            <a:spLocks noGrp="1"/>
          </p:cNvSpPr>
          <p:nvPr>
            <p:ph sz="half" idx="2"/>
          </p:nvPr>
        </p:nvSpPr>
        <p:spPr>
          <a:xfrm>
            <a:off x="167481" y="92765"/>
            <a:ext cx="11852241" cy="6559826"/>
          </a:xfrm>
        </p:spPr>
        <p:txBody>
          <a:bodyPr>
            <a:noAutofit/>
          </a:bodyPr>
          <a:lstStyle/>
          <a:p>
            <a:pPr marL="0" indent="0" algn="ctr">
              <a:lnSpc>
                <a:spcPct val="150000"/>
              </a:lnSpc>
              <a:spcAft>
                <a:spcPts val="0"/>
              </a:spcAft>
              <a:buNone/>
              <a:tabLst>
                <a:tab pos="274320" algn="l"/>
              </a:tabLst>
            </a:pPr>
            <a:r>
              <a:rPr lang="en-US" b="1" i="1" u="sng"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Step Four</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150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Substitute the values of X and Z in either equation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i</a:t>
            </a:r>
            <a:r>
              <a:rPr lang="en-US" dirty="0">
                <a:latin typeface="Times New Roman" panose="02020603050405020304" pitchFamily="18" charset="0"/>
                <a:ea typeface="Times New Roman" panose="02020603050405020304" pitchFamily="18" charset="0"/>
                <a:cs typeface="Times New Roman" panose="02020603050405020304" pitchFamily="18" charset="0"/>
              </a:rPr>
              <a:t>, or ii or iii. So, substituting in equation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i</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2X-Y+3Z= 10 ………………………….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i</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2(2)-Y+3(3) = 10 </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4-Y+9=10</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-Y+13=10</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-Y=-3</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tabLst>
                <a:tab pos="27432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Y=3</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tabLst>
                <a:tab pos="274320" algn="l"/>
              </a:tabLst>
            </a:pPr>
            <a:r>
              <a:rPr lang="en-US" i="1" u="dbl" dirty="0">
                <a:latin typeface="Times New Roman" panose="02020603050405020304" pitchFamily="18" charset="0"/>
                <a:ea typeface="Times New Roman" panose="02020603050405020304" pitchFamily="18" charset="0"/>
                <a:cs typeface="Times New Roman" panose="02020603050405020304" pitchFamily="18" charset="0"/>
              </a:rPr>
              <a:t>Therefore, the solution is (2,3,3)</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tabLst>
                <a:tab pos="274320" algn="l"/>
              </a:tabLst>
            </a:pP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12" name="Rectangle 4">
            <a:extLst>
              <a:ext uri="{FF2B5EF4-FFF2-40B4-BE49-F238E27FC236}">
                <a16:creationId xmlns:a16="http://schemas.microsoft.com/office/drawing/2014/main" id="{C7A428CC-9977-409B-A4F2-DAE08F772C22}"/>
              </a:ext>
            </a:extLst>
          </p:cNvPr>
          <p:cNvSpPr>
            <a:spLocks noChangeArrowheads="1"/>
          </p:cNvSpPr>
          <p:nvPr/>
        </p:nvSpPr>
        <p:spPr bwMode="auto">
          <a:xfrm>
            <a:off x="2746375" y="1805673"/>
            <a:ext cx="6752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G" altLang="en-UG" sz="1800" b="0" i="0" u="none" strike="noStrike" cap="none" normalizeH="0" baseline="0">
                <a:ln>
                  <a:noFill/>
                </a:ln>
                <a:solidFill>
                  <a:schemeClr val="tx1"/>
                </a:solidFill>
                <a:effectLst/>
                <a:latin typeface="Arial" panose="020B0604020202020204" pitchFamily="34" charset="0"/>
              </a:rPr>
            </a:br>
            <a:endParaRPr kumimoji="0" lang="en-UG" altLang="en-UG"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6898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DF395E6-7EFA-46ED-80BE-B4681ACDB608}"/>
              </a:ext>
            </a:extLst>
          </p:cNvPr>
          <p:cNvSpPr>
            <a:spLocks noGrp="1"/>
          </p:cNvSpPr>
          <p:nvPr>
            <p:ph sz="half" idx="2"/>
          </p:nvPr>
        </p:nvSpPr>
        <p:spPr>
          <a:xfrm>
            <a:off x="167481" y="92765"/>
            <a:ext cx="11852241" cy="6559826"/>
          </a:xfrm>
        </p:spPr>
        <p:txBody>
          <a:bodyPr>
            <a:noAutofit/>
          </a:bodyPr>
          <a:lstStyle/>
          <a:p>
            <a:pPr marL="0" indent="0" algn="ctr">
              <a:lnSpc>
                <a:spcPct val="150000"/>
              </a:lnSpc>
              <a:spcAft>
                <a:spcPts val="0"/>
              </a:spcAft>
              <a:buNone/>
              <a:tabLst>
                <a:tab pos="274320" algn="l"/>
              </a:tabLst>
            </a:pPr>
            <a:r>
              <a:rPr lang="en-US" sz="3200" b="1" u="sng" dirty="0">
                <a:latin typeface="Times New Roman" panose="02020603050405020304" pitchFamily="18" charset="0"/>
                <a:ea typeface="Times New Roman" panose="02020603050405020304" pitchFamily="18" charset="0"/>
                <a:cs typeface="Times New Roman" panose="02020603050405020304" pitchFamily="18" charset="0"/>
              </a:rPr>
              <a:t>Exercise</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tabLst>
                <a:tab pos="274320" algn="l"/>
              </a:tabLst>
            </a:pPr>
            <a:r>
              <a:rPr lang="en-US" sz="3200" dirty="0">
                <a:latin typeface="Times New Roman" panose="02020603050405020304" pitchFamily="18" charset="0"/>
                <a:ea typeface="Times New Roman" panose="02020603050405020304" pitchFamily="18" charset="0"/>
                <a:cs typeface="Times New Roman" panose="02020603050405020304" pitchFamily="18" charset="0"/>
              </a:rPr>
              <a:t>Solve the following simultaneous equations using the elimination method.</a:t>
            </a:r>
            <a:endParaRPr lang="en-UG"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tabLst>
                <a:tab pos="274320" algn="l"/>
              </a:tabLst>
            </a:pPr>
            <a:endParaRPr lang="en-UG" sz="2000" dirty="0">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BB2C1557-3700-4393-8ABF-0140292E2DC9}"/>
              </a:ext>
            </a:extLst>
          </p:cNvPr>
          <p:cNvGraphicFramePr>
            <a:graphicFrameLocks noGrp="1"/>
          </p:cNvGraphicFramePr>
          <p:nvPr>
            <p:extLst>
              <p:ext uri="{D42A27DB-BD31-4B8C-83A1-F6EECF244321}">
                <p14:modId xmlns:p14="http://schemas.microsoft.com/office/powerpoint/2010/main" val="1942821514"/>
              </p:ext>
            </p:extLst>
          </p:nvPr>
        </p:nvGraphicFramePr>
        <p:xfrm>
          <a:off x="2124075" y="2825085"/>
          <a:ext cx="7625080" cy="2642265"/>
        </p:xfrm>
        <a:graphic>
          <a:graphicData uri="http://schemas.openxmlformats.org/drawingml/2006/table">
            <a:tbl>
              <a:tblPr firstRow="1" firstCol="1" bandRow="1"/>
              <a:tblGrid>
                <a:gridCol w="3812540">
                  <a:extLst>
                    <a:ext uri="{9D8B030D-6E8A-4147-A177-3AD203B41FA5}">
                      <a16:colId xmlns:a16="http://schemas.microsoft.com/office/drawing/2014/main" val="1633559026"/>
                    </a:ext>
                  </a:extLst>
                </a:gridCol>
                <a:gridCol w="3812540">
                  <a:extLst>
                    <a:ext uri="{9D8B030D-6E8A-4147-A177-3AD203B41FA5}">
                      <a16:colId xmlns:a16="http://schemas.microsoft.com/office/drawing/2014/main" val="257906830"/>
                    </a:ext>
                  </a:extLst>
                </a:gridCol>
              </a:tblGrid>
              <a:tr h="2642265">
                <a:tc>
                  <a:txBody>
                    <a:bodyPr/>
                    <a:lstStyle/>
                    <a:p>
                      <a:pPr marL="342900" lvl="0" indent="-342900" algn="just">
                        <a:lnSpc>
                          <a:spcPct val="150000"/>
                        </a:lnSpc>
                        <a:spcAft>
                          <a:spcPts val="0"/>
                        </a:spcAft>
                        <a:buFont typeface="+mj-lt"/>
                        <a:buAutoNum type="alphaUcPeriod"/>
                      </a:pPr>
                      <a:r>
                        <a:rPr lang="en-GB" sz="2800" dirty="0">
                          <a:effectLst/>
                          <a:latin typeface="Times New Roman" panose="02020603050405020304" pitchFamily="18" charset="0"/>
                          <a:ea typeface="Times New Roman" panose="02020603050405020304" pitchFamily="18" charset="0"/>
                          <a:cs typeface="Times New Roman" panose="02020603050405020304" pitchFamily="18" charset="0"/>
                        </a:rPr>
                        <a:t>   X+ 2Y+6Z=30</a:t>
                      </a:r>
                      <a:endParaRPr lang="en-UG" sz="24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algn="just">
                        <a:lnSpc>
                          <a:spcPct val="150000"/>
                        </a:lnSpc>
                        <a:spcAft>
                          <a:spcPts val="0"/>
                        </a:spcAft>
                      </a:pPr>
                      <a:r>
                        <a:rPr lang="en-GB" sz="2800" dirty="0">
                          <a:effectLst/>
                          <a:latin typeface="Times New Roman" panose="02020603050405020304" pitchFamily="18" charset="0"/>
                          <a:ea typeface="Times New Roman" panose="02020603050405020304" pitchFamily="18" charset="0"/>
                          <a:cs typeface="Times New Roman" panose="02020603050405020304" pitchFamily="18" charset="0"/>
                        </a:rPr>
                        <a:t>3X+4Y+Z=15</a:t>
                      </a:r>
                      <a:endParaRPr lang="en-UG" sz="24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spcAft>
                          <a:spcPts val="0"/>
                        </a:spcAft>
                        <a:tabLst>
                          <a:tab pos="274320" algn="l"/>
                        </a:tabLst>
                      </a:pPr>
                      <a:r>
                        <a:rPr lang="en-GB" sz="2800" dirty="0">
                          <a:effectLst/>
                          <a:latin typeface="Times New Roman" panose="02020603050405020304" pitchFamily="18" charset="0"/>
                          <a:ea typeface="Times New Roman" panose="02020603050405020304" pitchFamily="18" charset="0"/>
                          <a:cs typeface="Times New Roman" panose="02020603050405020304" pitchFamily="18" charset="0"/>
                        </a:rPr>
                        <a:t>	    4X+Y+2Z=5</a:t>
                      </a:r>
                      <a:endParaRPr lang="en-UG"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lvl="0" indent="0" algn="just">
                        <a:lnSpc>
                          <a:spcPct val="150000"/>
                        </a:lnSpc>
                        <a:spcAft>
                          <a:spcPts val="0"/>
                        </a:spcAft>
                        <a:buFont typeface="+mj-lt"/>
                        <a:buNone/>
                        <a:tabLst>
                          <a:tab pos="274320" algn="l"/>
                        </a:tabLst>
                      </a:pPr>
                      <a:r>
                        <a:rPr lang="en-GB" sz="2800" dirty="0">
                          <a:effectLst/>
                          <a:latin typeface="Times New Roman" panose="02020603050405020304" pitchFamily="18" charset="0"/>
                          <a:ea typeface="Times New Roman" panose="02020603050405020304" pitchFamily="18" charset="0"/>
                          <a:cs typeface="Times New Roman" panose="02020603050405020304" pitchFamily="18" charset="0"/>
                        </a:rPr>
                        <a:t>B.        3X+2Y=7</a:t>
                      </a:r>
                      <a:endParaRPr lang="en-UG" sz="24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spcAft>
                          <a:spcPts val="0"/>
                        </a:spcAft>
                        <a:tabLst>
                          <a:tab pos="274320" algn="l"/>
                        </a:tabLst>
                      </a:pPr>
                      <a:r>
                        <a:rPr lang="en-GB" sz="2800" dirty="0">
                          <a:effectLst/>
                          <a:latin typeface="Times New Roman" panose="02020603050405020304" pitchFamily="18" charset="0"/>
                          <a:ea typeface="Times New Roman" panose="02020603050405020304" pitchFamily="18" charset="0"/>
                          <a:cs typeface="Times New Roman" panose="02020603050405020304" pitchFamily="18" charset="0"/>
                        </a:rPr>
                        <a:t>            5X+Y=7</a:t>
                      </a:r>
                      <a:endParaRPr lang="en-UG" sz="24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spcAft>
                          <a:spcPts val="0"/>
                        </a:spcAft>
                        <a:tabLst>
                          <a:tab pos="274320" algn="l"/>
                        </a:tabLst>
                      </a:pP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G" sz="24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85495850"/>
                  </a:ext>
                </a:extLst>
              </a:tr>
            </a:tbl>
          </a:graphicData>
        </a:graphic>
      </p:graphicFrame>
    </p:spTree>
    <p:extLst>
      <p:ext uri="{BB962C8B-B14F-4D97-AF65-F5344CB8AC3E}">
        <p14:creationId xmlns:p14="http://schemas.microsoft.com/office/powerpoint/2010/main" val="3276636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0" y="106020"/>
            <a:ext cx="12192000" cy="649357"/>
          </a:xfrm>
        </p:spPr>
        <p:txBody>
          <a:bodyPr>
            <a:noAutofit/>
          </a:bodyPr>
          <a:lstStyle/>
          <a:p>
            <a:pPr algn="ct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br>
              <a:rPr lang="en-US" sz="3600" b="1" dirty="0">
                <a:solidFill>
                  <a:schemeClr val="accent2">
                    <a:lumMod val="75000"/>
                  </a:schemeClr>
                </a:solidFill>
                <a:latin typeface="Century Gothic" panose="020B0502020202020204" pitchFamily="34" charset="0"/>
              </a:rPr>
            </a:br>
            <a:r>
              <a:rPr lang="en-US" sz="3200" b="1" dirty="0">
                <a:solidFill>
                  <a:schemeClr val="accent2">
                    <a:lumMod val="75000"/>
                  </a:schemeClr>
                </a:solidFill>
                <a:latin typeface="Century Gothic" panose="020B0502020202020204" pitchFamily="34" charset="0"/>
              </a:rPr>
              <a:t>Agricultural Applications and solving related problems</a:t>
            </a:r>
            <a:br>
              <a:rPr lang="en-UG" sz="3600" dirty="0"/>
            </a:br>
            <a:br>
              <a:rPr lang="en-UG" dirty="0"/>
            </a:br>
            <a:br>
              <a:rPr lang="en-US" dirty="0"/>
            </a:br>
            <a:br>
              <a:rPr lang="en-US" sz="3600" dirty="0">
                <a:latin typeface="Century Gothic" panose="020B0502020202020204" pitchFamily="34" charset="0"/>
              </a:rPr>
            </a:br>
            <a:endParaRPr lang="en-US" sz="3600" b="1" dirty="0">
              <a:solidFill>
                <a:schemeClr val="accent2">
                  <a:lumMod val="75000"/>
                </a:schemeClr>
              </a:solidFill>
              <a:latin typeface="+mn-lt"/>
            </a:endParaRPr>
          </a:p>
        </p:txBody>
      </p:sp>
      <p:sp>
        <p:nvSpPr>
          <p:cNvPr id="12" name="Rectangle 4">
            <a:extLst>
              <a:ext uri="{FF2B5EF4-FFF2-40B4-BE49-F238E27FC236}">
                <a16:creationId xmlns:a16="http://schemas.microsoft.com/office/drawing/2014/main" id="{C7A428CC-9977-409B-A4F2-DAE08F772C22}"/>
              </a:ext>
            </a:extLst>
          </p:cNvPr>
          <p:cNvSpPr>
            <a:spLocks noChangeArrowheads="1"/>
          </p:cNvSpPr>
          <p:nvPr/>
        </p:nvSpPr>
        <p:spPr bwMode="auto">
          <a:xfrm>
            <a:off x="2746375" y="1805673"/>
            <a:ext cx="67524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G" altLang="en-UG" sz="1800" b="0" i="0" u="none" strike="noStrike" cap="none" normalizeH="0" baseline="0">
                <a:ln>
                  <a:noFill/>
                </a:ln>
                <a:solidFill>
                  <a:schemeClr val="tx1"/>
                </a:solidFill>
                <a:effectLst/>
                <a:latin typeface="Arial" panose="020B0604020202020204" pitchFamily="34" charset="0"/>
              </a:rPr>
            </a:br>
            <a:endParaRPr kumimoji="0" lang="en-UG" altLang="en-UG" sz="1800" b="0" i="0" u="none" strike="noStrike" cap="none" normalizeH="0" baseline="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3DF395E6-7EFA-46ED-80BE-B4681ACDB608}"/>
              </a:ext>
            </a:extLst>
          </p:cNvPr>
          <p:cNvSpPr>
            <a:spLocks noGrp="1"/>
          </p:cNvSpPr>
          <p:nvPr>
            <p:ph idx="1"/>
          </p:nvPr>
        </p:nvSpPr>
        <p:spPr>
          <a:xfrm>
            <a:off x="1" y="543339"/>
            <a:ext cx="12192000" cy="6314661"/>
          </a:xfrm>
        </p:spPr>
        <p:txBody>
          <a:bodyPr>
            <a:normAutofit fontScale="70000" lnSpcReduction="20000"/>
          </a:bodyPr>
          <a:lstStyle/>
          <a:p>
            <a:pPr marL="0" indent="0">
              <a:lnSpc>
                <a:spcPct val="150000"/>
              </a:lnSpc>
              <a:spcAft>
                <a:spcPts val="0"/>
              </a:spcAft>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Linear equations can be used for several purposes in agriculture and the most notable ones include;</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514350" lvl="0" indent="-514350">
              <a:lnSpc>
                <a:spcPct val="150000"/>
              </a:lnSpc>
              <a:spcAft>
                <a:spcPts val="0"/>
              </a:spcAft>
              <a:buFont typeface="+mj-lt"/>
              <a:buAutoNum type="arabicPeriod"/>
              <a:tabLst>
                <a:tab pos="270510" algn="l"/>
              </a:tabLst>
            </a:pPr>
            <a:r>
              <a:rPr lang="en-US" b="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Estimation of demand and supply</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a:latin typeface="Times New Roman" panose="02020603050405020304" pitchFamily="18" charset="0"/>
                <a:ea typeface="Times New Roman" panose="02020603050405020304" pitchFamily="18" charset="0"/>
                <a:cs typeface="Times New Roman" panose="02020603050405020304" pitchFamily="18" charset="0"/>
              </a:rPr>
              <a:t>For example</a:t>
            </a:r>
            <a:r>
              <a:rPr lang="en-US" dirty="0">
                <a:latin typeface="Times New Roman" panose="02020603050405020304" pitchFamily="18" charset="0"/>
                <a:ea typeface="Times New Roman" panose="02020603050405020304" pitchFamily="18" charset="0"/>
                <a:cs typeface="Times New Roman" panose="02020603050405020304" pitchFamily="18" charset="0"/>
              </a:rPr>
              <a:t>; given the following demand and supply functions, the equilibrium price and quantity can be computed.</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1000"/>
              </a:spcAft>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Qs= 5p-25</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1000"/>
              </a:spcAft>
              <a:buNone/>
            </a:pPr>
            <a:r>
              <a:rPr lang="en-US" dirty="0" err="1">
                <a:latin typeface="Times New Roman" panose="02020603050405020304" pitchFamily="18" charset="0"/>
                <a:ea typeface="Times New Roman" panose="02020603050405020304" pitchFamily="18" charset="0"/>
                <a:cs typeface="Times New Roman" panose="02020603050405020304" pitchFamily="18" charset="0"/>
              </a:rPr>
              <a:t>Qd</a:t>
            </a:r>
            <a:r>
              <a:rPr lang="en-US" dirty="0">
                <a:latin typeface="Times New Roman" panose="02020603050405020304" pitchFamily="18" charset="0"/>
                <a:ea typeface="Times New Roman" panose="02020603050405020304" pitchFamily="18" charset="0"/>
                <a:cs typeface="Times New Roman" panose="02020603050405020304" pitchFamily="18" charset="0"/>
              </a:rPr>
              <a:t>= -2P+24</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lvl="0" indent="0">
              <a:lnSpc>
                <a:spcPct val="150000"/>
              </a:lnSpc>
              <a:spcAft>
                <a:spcPts val="0"/>
              </a:spcAft>
              <a:buNone/>
              <a:tabLst>
                <a:tab pos="270510" algn="l"/>
              </a:tabLst>
            </a:pPr>
            <a:r>
              <a:rPr lang="en-US" b="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2. Input-Output Analysis; </a:t>
            </a:r>
            <a:r>
              <a:rPr lang="en-US" dirty="0">
                <a:latin typeface="Times New Roman" panose="02020603050405020304" pitchFamily="18" charset="0"/>
                <a:ea typeface="Times New Roman" panose="02020603050405020304" pitchFamily="18" charset="0"/>
                <a:cs typeface="Times New Roman" panose="02020603050405020304" pitchFamily="18" charset="0"/>
              </a:rPr>
              <a:t>Farmers use these equations to estimate different units of input that are related to different levels of output. By doing this, the right combination of input that produces the largest level of input is selected.</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pPr>
            <a:r>
              <a:rPr lang="en-US" i="1" dirty="0">
                <a:latin typeface="Times New Roman" panose="02020603050405020304" pitchFamily="18" charset="0"/>
                <a:ea typeface="Times New Roman" panose="02020603050405020304" pitchFamily="18" charset="0"/>
                <a:cs typeface="Times New Roman" panose="02020603050405020304" pitchFamily="18" charset="0"/>
              </a:rPr>
              <a:t>For example</a:t>
            </a:r>
            <a:r>
              <a:rPr lang="en-US" dirty="0">
                <a:latin typeface="Times New Roman" panose="02020603050405020304" pitchFamily="18" charset="0"/>
                <a:ea typeface="Times New Roman" panose="02020603050405020304" pitchFamily="18" charset="0"/>
                <a:cs typeface="Times New Roman" panose="02020603050405020304" pitchFamily="18" charset="0"/>
              </a:rPr>
              <a:t>, given the following input-output equations, what combination of fertilizer and land acreage should the farmer choose to maximize his maize production?</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26.53 = 0.82 Units of Fertilizer−0.03 Land Acreage ……………………………..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i</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50000"/>
              </a:lnSpc>
              <a:spcAft>
                <a:spcPts val="0"/>
              </a:spcAft>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36.06 = −0.21 Units of Fertilizer + 0.96 Land Acreage………………………..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i</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UG" sz="24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50000"/>
              </a:lnSpc>
              <a:spcAft>
                <a:spcPts val="0"/>
              </a:spcAft>
              <a:buNone/>
            </a:pPr>
            <a:r>
              <a:rPr lang="en-US"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So, by solving for </a:t>
            </a:r>
            <a:r>
              <a:rPr lang="en-US" b="1" dirty="0" err="1">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Xs</a:t>
            </a:r>
            <a:r>
              <a:rPr lang="en-US"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 (Units of Fertilizer and Land Acreage), the right combination of inputs (</a:t>
            </a:r>
            <a:r>
              <a:rPr lang="en-US" b="1" dirty="0" err="1">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Xs</a:t>
            </a:r>
            <a:r>
              <a:rPr lang="en-US"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rPr>
              <a:t>) can be selected by the farmer.</a:t>
            </a:r>
            <a:endParaRPr lang="en-UG" sz="2400" b="1" dirty="0">
              <a:solidFill>
                <a:srgbClr val="7030A0"/>
              </a:solidFill>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3408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349728" y="453007"/>
            <a:ext cx="9261021" cy="744461"/>
          </a:xfrm>
        </p:spPr>
        <p:txBody>
          <a:bodyPr>
            <a:normAutofit/>
          </a:bodyPr>
          <a:lstStyle/>
          <a:p>
            <a:endParaRPr lang="en-US" b="1" dirty="0">
              <a:solidFill>
                <a:schemeClr val="accent2">
                  <a:lumMod val="50000"/>
                </a:schemeClr>
              </a:solidFill>
              <a:latin typeface="+mn-lt"/>
            </a:endParaRP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72048" y="690407"/>
            <a:ext cx="9538701" cy="5541266"/>
          </a:xfrm>
        </p:spPr>
        <p:txBody>
          <a:bodyPr>
            <a:normAutofit fontScale="92500" lnSpcReduction="10000"/>
          </a:bodyPr>
          <a:lstStyle/>
          <a:p>
            <a:pPr marL="514350" indent="-514350" algn="ctr">
              <a:lnSpc>
                <a:spcPct val="115000"/>
              </a:lnSpc>
              <a:spcBef>
                <a:spcPts val="0"/>
              </a:spcBef>
              <a:spcAft>
                <a:spcPts val="600"/>
              </a:spcAft>
              <a:buSzPct val="130000"/>
              <a:buFont typeface="Wingdings" panose="05000000000000000000" pitchFamily="2" charset="2"/>
              <a:buChar char=""/>
            </a:pPr>
            <a:endParaRPr lang="en-US" sz="31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0" indent="0" algn="ctr">
              <a:lnSpc>
                <a:spcPct val="115000"/>
              </a:lnSpc>
              <a:spcBef>
                <a:spcPts val="0"/>
              </a:spcBef>
              <a:spcAft>
                <a:spcPts val="600"/>
              </a:spcAft>
              <a:buSzPct val="130000"/>
              <a:buNone/>
            </a:pPr>
            <a:endParaRPr lang="en-US" sz="72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marL="0" indent="0" algn="ctr">
              <a:lnSpc>
                <a:spcPct val="115000"/>
              </a:lnSpc>
              <a:spcBef>
                <a:spcPts val="0"/>
              </a:spcBef>
              <a:spcAft>
                <a:spcPts val="600"/>
              </a:spcAft>
              <a:buSzPct val="130000"/>
              <a:buNone/>
            </a:pPr>
            <a:r>
              <a:rPr lang="en-US" sz="11500" b="1" dirty="0">
                <a:effectLst/>
                <a:latin typeface="Freestyle Script" panose="030804020302050B0404" pitchFamily="66" charset="0"/>
                <a:ea typeface="Times New Roman" panose="02020603050405020304" pitchFamily="18" charset="0"/>
                <a:cs typeface="Times New Roman" panose="02020603050405020304" pitchFamily="18" charset="0"/>
              </a:rPr>
              <a:t>Thank you</a:t>
            </a:r>
          </a:p>
          <a:p>
            <a:pPr marL="0" indent="0" algn="ctr">
              <a:lnSpc>
                <a:spcPct val="115000"/>
              </a:lnSpc>
              <a:spcBef>
                <a:spcPts val="0"/>
              </a:spcBef>
              <a:spcAft>
                <a:spcPts val="600"/>
              </a:spcAft>
              <a:buSzPct val="130000"/>
              <a:buNone/>
            </a:pPr>
            <a:r>
              <a:rPr lang="en-US" sz="11500" b="1" dirty="0">
                <a:latin typeface="Freestyle Script" panose="030804020302050B0404" pitchFamily="66" charset="0"/>
                <a:ea typeface="Times New Roman" panose="02020603050405020304" pitchFamily="18" charset="0"/>
                <a:cs typeface="Times New Roman" panose="02020603050405020304" pitchFamily="18" charset="0"/>
              </a:rPr>
              <a:t>@ASK</a:t>
            </a:r>
            <a:endParaRPr lang="en-US" sz="11500" b="1" dirty="0">
              <a:effectLst/>
              <a:latin typeface="Freestyle Script" panose="030804020302050B0404" pitchFamily="66" charset="0"/>
              <a:ea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b="-1"/>
          <a:stretch/>
        </p:blipFill>
        <p:spPr>
          <a:xfrm>
            <a:off x="7952509" y="775984"/>
            <a:ext cx="3997608" cy="5629009"/>
          </a:xfrm>
          <a:prstGeom prst="rect">
            <a:avLst/>
          </a:prstGeom>
        </p:spPr>
      </p:pic>
    </p:spTree>
    <p:extLst>
      <p:ext uri="{BB962C8B-B14F-4D97-AF65-F5344CB8AC3E}">
        <p14:creationId xmlns:p14="http://schemas.microsoft.com/office/powerpoint/2010/main" val="24747506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2.xml><?xml version="1.0" encoding="utf-8"?>
<ds:datastoreItem xmlns:ds="http://schemas.openxmlformats.org/officeDocument/2006/customXml" ds:itemID="{2C4C00F4-06E9-43E3-AD97-88A857CEFA82}">
  <ds:schemaRefs>
    <ds:schemaRef ds:uri="http://schemas.microsoft.com/office/2006/metadata/properties"/>
    <ds:schemaRef ds:uri="http://www.w3.org/2000/xmlns/"/>
    <ds:schemaRef ds:uri="71af3243-3dd4-4a8d-8c0d-dd76da1f02a5"/>
    <ds:schemaRef ds:uri="http://www.w3.org/2001/XMLSchema-instance"/>
    <ds:schemaRef ds:uri="http://schemas.microsoft.com/office/infopath/2007/PartnerControls"/>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6053</TotalTime>
  <Words>1930</Words>
  <Application>Microsoft Office PowerPoint</Application>
  <PresentationFormat>Widescreen</PresentationFormat>
  <Paragraphs>235</Paragraphs>
  <Slides>20</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Calibri Light</vt:lpstr>
      <vt:lpstr>Cambria Math</vt:lpstr>
      <vt:lpstr>Century Gothic</vt:lpstr>
      <vt:lpstr>Freestyle Script</vt:lpstr>
      <vt:lpstr>Times New Roman</vt:lpstr>
      <vt:lpstr>Wingdings</vt:lpstr>
      <vt:lpstr>Office Theme</vt:lpstr>
      <vt:lpstr>   LINEAR EQUATIONS     24th SEPT 2026 </vt:lpstr>
      <vt:lpstr>    Introduction    </vt:lpstr>
      <vt:lpstr>     Simultaneous linear equation systems     </vt:lpstr>
      <vt:lpstr>     Graphical solutions     </vt:lpstr>
      <vt:lpstr>      Graphical solutions (Ct’d)     </vt:lpstr>
      <vt:lpstr>      Graphical solutions (Example)     </vt:lpstr>
      <vt:lpstr>    Exercise    </vt:lpstr>
      <vt:lpstr>      Equating to the same variable     </vt:lpstr>
      <vt:lpstr>   Solution   </vt:lpstr>
      <vt:lpstr>      Substitution method     </vt:lpstr>
      <vt:lpstr>      Solution     </vt:lpstr>
      <vt:lpstr>    Exercise     </vt:lpstr>
      <vt:lpstr>     Solving Equations With More than two unknowns     </vt:lpstr>
      <vt:lpstr>    Elimination method (Solution)    </vt:lpstr>
      <vt:lpstr>PowerPoint Presentation</vt:lpstr>
      <vt:lpstr>PowerPoint Presentation</vt:lpstr>
      <vt:lpstr>PowerPoint Presentation</vt:lpstr>
      <vt:lpstr>PowerPoint Presentation</vt:lpstr>
      <vt:lpstr>    Agricultural Applications and solving related problems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IMPLICATIONS OF MAINSTREAMING UGANDA COFFEE DEVELOPMENT AUTHORITY INTO THE MAAIF.</dc:title>
  <dc:creator>Chris Kyerere</dc:creator>
  <cp:lastModifiedBy>ASk</cp:lastModifiedBy>
  <cp:revision>254</cp:revision>
  <dcterms:created xsi:type="dcterms:W3CDTF">2022-08-24T21:51:22Z</dcterms:created>
  <dcterms:modified xsi:type="dcterms:W3CDTF">2026-09-24T07:30:13Z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