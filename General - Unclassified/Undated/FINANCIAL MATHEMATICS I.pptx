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88" r:id="rId4"/>
  </p:sldMasterIdLst>
  <p:notesMasterIdLst>
    <p:notesMasterId r:id="rId27"/>
  </p:notesMasterIdLst>
  <p:sldIdLst>
    <p:sldId id="278" r:id="rId5"/>
    <p:sldId id="4118" r:id="rId6"/>
    <p:sldId id="4119" r:id="rId7"/>
    <p:sldId id="4135" r:id="rId8"/>
    <p:sldId id="4134" r:id="rId9"/>
    <p:sldId id="4133" r:id="rId10"/>
    <p:sldId id="4132" r:id="rId11"/>
    <p:sldId id="4131" r:id="rId12"/>
    <p:sldId id="4127" r:id="rId13"/>
    <p:sldId id="4130" r:id="rId14"/>
    <p:sldId id="4139" r:id="rId15"/>
    <p:sldId id="4137" r:id="rId16"/>
    <p:sldId id="4129" r:id="rId17"/>
    <p:sldId id="4128" r:id="rId18"/>
    <p:sldId id="4136" r:id="rId19"/>
    <p:sldId id="4126" r:id="rId20"/>
    <p:sldId id="4125" r:id="rId21"/>
    <p:sldId id="4138" r:id="rId22"/>
    <p:sldId id="4124" r:id="rId23"/>
    <p:sldId id="4123" r:id="rId24"/>
    <p:sldId id="4122" r:id="rId25"/>
    <p:sldId id="41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6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019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714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48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874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294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491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563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606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14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017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605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897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455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370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471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081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291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146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422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09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51EA-40F1-042D-56ED-B70F350DF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D080D-C19D-00FD-5006-500F3F67A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35D78-F745-AAAD-0074-681EA78C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403F7-462F-654E-79FC-96BE43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41D2-8D9E-E76F-5B81-C6259827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58BE-554B-1DE7-4912-F3D912A8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1F566-0BF5-CC04-0D39-7C9EB8C6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9DF3-5CD2-9D75-59A0-65F6139A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416D-1DEA-2072-1D2D-FF7D7449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1602-A7BB-3E4E-C935-92695F16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2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C2B2-7BE9-163F-9C39-6DC2A52A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278A6-FC17-7BE6-94B8-52A036D5B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5B86-4AAC-551A-CF01-5E8513E9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60C06-F0F2-C266-5E07-99C3931E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3EE7-7BB5-C98A-1325-016C4325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5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AA62-9F74-233A-69AF-BA8DAD0E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8F59-CCE7-2B35-943B-AC8597729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8EF73-6533-6741-224E-F235452D2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AA60D-8C8C-7453-7C0F-F7D8D6C6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7E0E9-6B5B-3729-8341-EDC49CB0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30D96-8433-0AB0-14CB-F924102F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4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ABF3-CA58-D7CC-9380-BF1E6EBD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060F0-E99A-7811-9462-FD043E2A6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71D8-8176-BD26-B097-F3C0924C5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4DC5C-4F86-F903-09B7-56ECB6876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1BDB9-FF0B-0DEB-F884-8E663FCB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CA072-65EB-50B4-1098-BB2207C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36FB4-FC97-32B5-1549-3C995529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308D96-044C-3A09-C7B0-0D989EEC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70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77C2-B650-8362-924A-841093EA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74029-0078-27C3-E021-A0B94770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88188-8963-8A55-3E75-E7A3ECFD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8F92A-0E4F-07B9-1D67-74B895B6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1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67433-4F05-3620-4088-40CAD87D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3C635-81B9-96CE-8FFC-5EEBD339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FF2F8-7B18-22A7-56E4-F3DD2C2B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785F-2F41-2E10-BEC6-312D5F6C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A06C4-BBBB-CA33-7233-F7C0760EC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D1210-3644-9B54-3C9C-10C82DBF2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D7D7D-C0D2-4B01-5497-950A60E3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55376-0067-2160-B479-AD69C66D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03F41-6815-1729-ACC9-635968B3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9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5780-2559-23A5-BC8D-7A740238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F0093-876C-E15D-E31C-5C5503B5C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85DFC-C372-B076-38CE-EE8038F55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A555-4472-D476-9783-9B542BFB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ED8D2-6062-2A0A-D6F5-BAC9FF60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FC12-0CCA-F6DA-AE1E-EB04FD23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1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57A4-F321-716C-A236-DB05C6E6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D75F0-29A7-50D2-EC51-59CBA89A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AA2A2-C61F-CAE0-5321-501FC1B4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8952-E622-CF59-8C0C-B5C1A6B7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25F8-AFF4-85A2-D462-FA6DC59E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987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B7B4A-7E49-96A4-E24F-C9CEBCF79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3BD46-D8CB-C85B-3C78-096A76B13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0FC3-97DC-2172-B524-828A32F3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2C7F5-7426-F116-3AEA-8BFF322E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4EA9-751B-3168-4AD8-C208438D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594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B4EEA-942A-3C56-03F4-2F8A71A4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52287-078F-FA69-6BCD-3BE7E1F0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95A1-9541-08A8-7215-FFB50128A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0505D-DF78-3B3B-CA81-A94321BE9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51C6-C019-F1D0-72C3-17134E772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1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upPMpcrLA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a/aer.as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U4RNBK9j3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66" y="163107"/>
            <a:ext cx="11158331" cy="5283536"/>
          </a:xfrm>
        </p:spPr>
        <p:txBody>
          <a:bodyPr>
            <a:normAutofit fontScale="90000"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 startAt="7"/>
            </a:pP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GB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FINANCIAL MATHEMATICS I</a:t>
            </a:r>
            <a:br>
              <a:rPr lang="en-UG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8</a:t>
            </a:r>
            <a:r>
              <a:rPr lang="en-US" sz="2700" b="1" baseline="30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th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 OCTOBER 2026</a:t>
            </a:r>
            <a:br>
              <a:rPr lang="en-UG" sz="49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endParaRPr lang="en-US" sz="44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4" r="43228"/>
          <a:stretch/>
        </p:blipFill>
        <p:spPr>
          <a:xfrm>
            <a:off x="11264297" y="0"/>
            <a:ext cx="927704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EC4FC-B239-705F-F5B7-7A84794B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886" y="6069419"/>
            <a:ext cx="6851977" cy="625475"/>
          </a:xfrm>
        </p:spPr>
        <p:txBody>
          <a:bodyPr/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Arinda Shaman</a:t>
            </a:r>
          </a:p>
          <a:p>
            <a:endParaRPr 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Introduction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27432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Mathematics is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field of applied mathematics that is used in defining and solving financial problems.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274320" algn="l"/>
              </a:tabLst>
            </a:pPr>
            <a:r>
              <a:rPr lang="en-GB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 mathematical models can be designed to </a:t>
            </a:r>
            <a:r>
              <a:rPr lang="en-GB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different prevailing financial problems. </a:t>
            </a:r>
            <a:endParaRPr lang="en-UG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5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Discrete and continuous growth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6" y="543339"/>
            <a:ext cx="11907608" cy="631466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Discrete Growth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is the change that happens at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time intervals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 as; mating/pollination season, yearly interest rate, birth etc.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Growth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the change that happens at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every instant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(change can happen at any given point of time) such as; time, temperature, death, competition for resources, growth of an organism etc. 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the link below for more explanation on differentiating between discrete and continuous growth: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https://www.youtube.com/watch?v=zupPMpcrLA8</a:t>
            </a:r>
            <a:endParaRPr lang="en-UG" sz="1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8F990-7D61-42A0-ACBD-E04AA2A90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61" y="2889323"/>
            <a:ext cx="6548570" cy="379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INTEREST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Interest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reward someone gets for lending out capital to another one for a given period. It is the cost of borrowing money, as in the case of interest charged on a loan balance. 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Interest is usually expressed as a percentage. Interest can be calculated in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ways: </a:t>
            </a:r>
            <a:endParaRPr lang="en-UG" sz="24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interest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calculated on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(original amount) of a loan.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Compound interest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calculated on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principal amount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accumulated interest of previous periods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thus can be regarded as “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interest on interest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38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Simple Interest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formula for calculating simple interest is given by:​ 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Interest (total amount payable after a given period) = P*I*N</a:t>
            </a:r>
            <a:endParaRPr lang="en-UG" sz="2400" b="1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where: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P= Principal; I=Interest rate; N =Term of the loan/ Loan repayment period</a:t>
            </a:r>
            <a:endParaRPr lang="en-UG" sz="2400" dirty="0">
              <a:solidFill>
                <a:srgbClr val="7030A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simple interest is charged at 5% on a $10,000 loan that is taken out for three years, then the total amount of interest payable by the borrower is calculated as;</a:t>
            </a:r>
            <a:endParaRPr lang="en-UG" sz="24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$10,000 x 0.05 x 3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$1,500.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Interest on this loan is payable at $500 annually, or $1,500 over the three-year loan term.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78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Compound Interest 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formula for calculating compound interest in a year is: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Compound Interest=[P(1+i)</a:t>
            </a:r>
            <a:r>
              <a:rPr lang="en-US" b="1" baseline="3000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]−P       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OR;     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Compound Interest=P[(1+i)</a:t>
            </a:r>
            <a:r>
              <a:rPr lang="en-US" b="1" baseline="3000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−1]</a:t>
            </a:r>
            <a:endParaRPr lang="en-UG" sz="2400" b="1" dirty="0">
              <a:solidFill>
                <a:srgbClr val="7030A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P=Principal;	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=Interest rate in percentage terms;	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n= number of compounding periods for a year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compound interest is charged at 5% on a $10,000 loan that is taken out for three years, then the total amount of interest payable by the borrower is calculated as;</a:t>
            </a:r>
            <a:endParaRPr lang="en-UG" sz="24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$10,000[(1+0.05)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−1]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$10,000(1.157625−1)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		             </a:t>
            </a:r>
            <a:r>
              <a:rPr lang="en-US" u="wavy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$1,576.25​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90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4"/>
            <a:ext cx="10515600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Illustration</a:t>
            </a:r>
            <a:br>
              <a:rPr lang="en-UG" sz="3600" dirty="0"/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59246B-3BB0-44BE-9245-CE948F97C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739094"/>
            <a:ext cx="12284766" cy="60261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 Interest=[P(1+i)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−P       </a:t>
            </a:r>
            <a:endParaRPr lang="en-U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 1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= [10,000 (1+0.05)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− 10,000    = 500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= [10,500 (1+0.05)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− 10,500   = 525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 3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= [11,025 (1+0.05)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− 11,025       = 551.25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Interest at the end of the third year = (500 +525 +551.25) = 1,576.25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</a:pP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is to say (</a:t>
            </a:r>
            <a:r>
              <a:rPr lang="en-US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amount of principal and interest paid on a yearly basis);</a:t>
            </a:r>
            <a:endParaRPr lang="en-UG" sz="2400" b="1" i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3E2E94-E721-4FDE-8956-51A7BB6B2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23627"/>
              </p:ext>
            </p:extLst>
          </p:nvPr>
        </p:nvGraphicFramePr>
        <p:xfrm>
          <a:off x="2382331" y="4628606"/>
          <a:ext cx="8815756" cy="2041525"/>
        </p:xfrm>
        <a:graphic>
          <a:graphicData uri="http://schemas.openxmlformats.org/drawingml/2006/table">
            <a:tbl>
              <a:tblPr firstRow="1" firstCol="1" bandRow="1"/>
              <a:tblGrid>
                <a:gridCol w="687435">
                  <a:extLst>
                    <a:ext uri="{9D8B030D-6E8A-4147-A177-3AD203B41FA5}">
                      <a16:colId xmlns:a16="http://schemas.microsoft.com/office/drawing/2014/main" val="2498768427"/>
                    </a:ext>
                  </a:extLst>
                </a:gridCol>
                <a:gridCol w="2628669">
                  <a:extLst>
                    <a:ext uri="{9D8B030D-6E8A-4147-A177-3AD203B41FA5}">
                      <a16:colId xmlns:a16="http://schemas.microsoft.com/office/drawing/2014/main" val="366271193"/>
                    </a:ext>
                  </a:extLst>
                </a:gridCol>
                <a:gridCol w="2292626">
                  <a:extLst>
                    <a:ext uri="{9D8B030D-6E8A-4147-A177-3AD203B41FA5}">
                      <a16:colId xmlns:a16="http://schemas.microsoft.com/office/drawing/2014/main" val="630480856"/>
                    </a:ext>
                  </a:extLst>
                </a:gridCol>
                <a:gridCol w="3207026">
                  <a:extLst>
                    <a:ext uri="{9D8B030D-6E8A-4147-A177-3AD203B41FA5}">
                      <a16:colId xmlns:a16="http://schemas.microsoft.com/office/drawing/2014/main" val="2796745910"/>
                    </a:ext>
                  </a:extLst>
                </a:gridCol>
              </a:tblGrid>
              <a:tr h="673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Opening Balance (P)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Interest at 5% (I)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Closing Balance (P+I)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973781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$10,000.00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$500.00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$10,500.00 (10,000+500)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364823"/>
                  </a:ext>
                </a:extLst>
              </a:tr>
              <a:tr h="3365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$10,500.00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$525.00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$11,025.00 (10,500 +525)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239653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$11,025.00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$551.25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$11,576.25 (11,025+ 551.25)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452100"/>
                  </a:ext>
                </a:extLst>
              </a:tr>
              <a:tr h="389890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Interest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$1,576.25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979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15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Exercise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  <a:tabLst>
                <a:tab pos="27432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certain bank in town offers an interest rate of 4.2% per annum on its deposit accounts. Find the accumulation of £5000 after seven years in this account.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  <a:tabLst>
                <a:tab pos="27432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long will it take a principal amount of £900 to increase to £1000 under an interest rate of 3% per annum?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19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lvl="0" algn="ctr">
              <a:lnSpc>
                <a:spcPct val="150000"/>
              </a:lnSpc>
              <a:spcBef>
                <a:spcPts val="1000"/>
              </a:spcBef>
            </a:pP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INVESTMENT APPRAISAL TECHNIQUES </a:t>
            </a:r>
            <a:br>
              <a:rPr lang="en-UG" sz="2800" dirty="0">
                <a:solidFill>
                  <a:prstClr val="black"/>
                </a:solidFill>
                <a:latin typeface="Century Gothic" panose="020B0502020202020204" pitchFamily="34" charset="0"/>
                <a:ea typeface="+mn-ea"/>
                <a:cs typeface="+mn-cs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Investment Appraisal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analysis done to ascertain the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and viability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business before investing in it.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investors use several techniques to conduct investment analysis as discussed below. </a:t>
            </a:r>
            <a:endParaRPr lang="en-U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47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The Annual Equivalent Rate (AER)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6" y="636104"/>
            <a:ext cx="11907608" cy="6221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Annual Equivalent Rate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interest rate for a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saving account or investment product/asset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has more than one compounding period. 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compounding period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(duration taken for interest to be added on your savings/financial investment) could be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weekly, monthly, half/semi annual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yearly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G" sz="2400" dirty="0">
              <a:solidFill>
                <a:srgbClr val="0070C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AER shows how much you could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earn from a savings account over a year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used to make comparisons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 different saving accounts and financial assets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 as; stocks, unit trusts, bonds, treasury bills, and mutual funds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to make appropriate saving/ investment decisions.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AER is captured as a percentage (%).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13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4266787" cy="1036980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Example of a Financial Asset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B91312-0211-BF70-A17F-5241A8751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11902" y="0"/>
            <a:ext cx="6752466" cy="6752466"/>
          </a:xfrm>
        </p:spPr>
      </p:pic>
    </p:spTree>
    <p:extLst>
      <p:ext uri="{BB962C8B-B14F-4D97-AF65-F5344CB8AC3E}">
        <p14:creationId xmlns:p14="http://schemas.microsoft.com/office/powerpoint/2010/main" val="3365183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The Annual Equivalent Rate (AER) –</a:t>
            </a:r>
            <a:r>
              <a:rPr lang="en-US" sz="3200" b="1" dirty="0" err="1">
                <a:latin typeface="Century Gothic" panose="020B0502020202020204" pitchFamily="34" charset="0"/>
              </a:rPr>
              <a:t>Ct’d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6" y="636104"/>
            <a:ext cx="11907608" cy="6221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AER can be computed using the following Formula;</a:t>
            </a: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AER = </a:t>
            </a:r>
            <a:endParaRPr lang="en-UG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Where;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number of compounding periods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stated interest rate.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tabLst>
                <a:tab pos="27432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i="1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https://www.investopedia.com/terms/a/aer.asp</a:t>
            </a:r>
            <a:endParaRPr lang="en-UG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DA18D-FBE5-49FA-A0EA-19FC890BB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083" y="1344818"/>
            <a:ext cx="2943452" cy="14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3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Example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Assume an investor wishes to sell all the securities in their investment portfolio and place all the proceeds in a savings account. The investor is deciding between placing the proceeds in Bank A, Bank B, or Bank C, depending on the highest rate offered. 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 A has a quoted interest rate of 3.7% that pays interest on an annual basis. Bank B has a quoted interest rate of 3.65% that pays interest quarterly, and Bank C has a quoted interest rate of 3.7% that pays interest semi-annually. 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which bank should the investor save?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705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Solution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195" y="543339"/>
                <a:ext cx="11907609" cy="6182137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274320" algn="l"/>
                  </a:tabLst>
                </a:pP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Remember that; AER = (1+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G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baseline="30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-1</a:t>
                </a:r>
              </a:p>
              <a:p>
                <a:pPr marL="0" indent="0" algn="ctr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274320" algn="l"/>
                  </a:tabLst>
                </a:pP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274320" algn="l"/>
                  </a:tabLst>
                </a:pP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274320" algn="l"/>
                  </a:tabLst>
                </a:pP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b="1" u="sng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Criteria</a:t>
                </a:r>
                <a:r>
                  <a:rPr lang="en-GB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banks A and B have the </a:t>
                </a:r>
                <a:r>
                  <a:rPr lang="en-GB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</a:t>
                </a:r>
                <a:r>
                  <a:rPr lang="en-GB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AER (3.7%) implying that it would make no difference if the investor put his savings in any of the two banks.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However, bank C has the </a:t>
                </a:r>
                <a:r>
                  <a:rPr lang="en-GB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highest</a:t>
                </a:r>
                <a:r>
                  <a:rPr lang="en-GB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AER (3.73%) which is the </a:t>
                </a:r>
                <a:r>
                  <a:rPr lang="en-GB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</a:t>
                </a:r>
                <a:r>
                  <a:rPr lang="en-GB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option for the investor since he is assured of a high interest on his savings at the end. </a:t>
                </a:r>
                <a:endParaRPr lang="en-U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274320" algn="l"/>
                  </a:tabLst>
                </a:pPr>
                <a:endParaRPr lang="en-UG" sz="24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G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195" y="543339"/>
                <a:ext cx="11907609" cy="6182137"/>
              </a:xfrm>
              <a:blipFill>
                <a:blip r:embed="rId3"/>
                <a:stretch>
                  <a:fillRect l="-921" r="-870" b="-592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A2B5209-D8D5-485D-A8AF-D394E22316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019079"/>
                  </p:ext>
                </p:extLst>
              </p:nvPr>
            </p:nvGraphicFramePr>
            <p:xfrm>
              <a:off x="1630017" y="1673225"/>
              <a:ext cx="9289775" cy="23289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95904">
                      <a:extLst>
                        <a:ext uri="{9D8B030D-6E8A-4147-A177-3AD203B41FA5}">
                          <a16:colId xmlns:a16="http://schemas.microsoft.com/office/drawing/2014/main" val="2913130399"/>
                        </a:ext>
                      </a:extLst>
                    </a:gridCol>
                    <a:gridCol w="3095904">
                      <a:extLst>
                        <a:ext uri="{9D8B030D-6E8A-4147-A177-3AD203B41FA5}">
                          <a16:colId xmlns:a16="http://schemas.microsoft.com/office/drawing/2014/main" val="105685232"/>
                        </a:ext>
                      </a:extLst>
                    </a:gridCol>
                    <a:gridCol w="3097967">
                      <a:extLst>
                        <a:ext uri="{9D8B030D-6E8A-4147-A177-3AD203B41FA5}">
                          <a16:colId xmlns:a16="http://schemas.microsoft.com/office/drawing/2014/main" val="3859649288"/>
                        </a:ext>
                      </a:extLst>
                    </a:gridCol>
                  </a:tblGrid>
                  <a:tr h="23289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GB" sz="24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BANK A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GB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 = 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G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0.037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24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-1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=3.7%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GB" sz="24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BANK B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GB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 = 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G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0.0365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24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-1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3.7%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GB" sz="24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BANK C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GB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 = 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G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0.037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24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-1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27432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=3.73%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3873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A2B5209-D8D5-485D-A8AF-D394E22316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019079"/>
                  </p:ext>
                </p:extLst>
              </p:nvPr>
            </p:nvGraphicFramePr>
            <p:xfrm>
              <a:off x="1630017" y="1673225"/>
              <a:ext cx="9289775" cy="23289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95904">
                      <a:extLst>
                        <a:ext uri="{9D8B030D-6E8A-4147-A177-3AD203B41FA5}">
                          <a16:colId xmlns:a16="http://schemas.microsoft.com/office/drawing/2014/main" val="2913130399"/>
                        </a:ext>
                      </a:extLst>
                    </a:gridCol>
                    <a:gridCol w="3095904">
                      <a:extLst>
                        <a:ext uri="{9D8B030D-6E8A-4147-A177-3AD203B41FA5}">
                          <a16:colId xmlns:a16="http://schemas.microsoft.com/office/drawing/2014/main" val="105685232"/>
                        </a:ext>
                      </a:extLst>
                    </a:gridCol>
                    <a:gridCol w="3097967">
                      <a:extLst>
                        <a:ext uri="{9D8B030D-6E8A-4147-A177-3AD203B41FA5}">
                          <a16:colId xmlns:a16="http://schemas.microsoft.com/office/drawing/2014/main" val="3859649288"/>
                        </a:ext>
                      </a:extLst>
                    </a:gridCol>
                  </a:tblGrid>
                  <a:tr h="2328932"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" t="-261" r="-200591" b="-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97" t="-261" r="-100591" b="-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804" t="-261" r="-393" b="-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8734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95937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Exercise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investment in bond A pays 5% interest compounded monthly while bond B pays 10% compounded semi-annually. Which bond should the investor opt for and why?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5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34" y="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NET PRESENT VALUE (NPV)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NPV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one of the methods or techniques used to evaluate or appraise individual projects or groups of projects with the aim of selecting the best one to invest in.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743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helps managers to decide on which investment(s) to undertake or not to undertake. In short, it helps to know which investment is viable/worthwhile.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743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method of investment appraisal takes into account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value for money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274320" algn="l"/>
              </a:tabLst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NPV is the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value of the initial cash outlay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a project and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present value of future cash flow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associated with the project. </a:t>
            </a:r>
            <a:endParaRPr lang="en-UG" sz="2400" dirty="0">
              <a:solidFill>
                <a:srgbClr val="7030A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23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Methodology of NPV</a:t>
            </a:r>
            <a:br>
              <a:rPr lang="en-UG" sz="40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involves the following steps: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the initial investment</a:t>
            </a:r>
            <a:endParaRPr lang="en-UG" sz="24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the Net cash inflows (the difference between benefits and costs)</a:t>
            </a:r>
            <a:endParaRPr lang="en-UG" sz="24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the cost of capital which is normally the discount factor</a:t>
            </a:r>
            <a:endParaRPr lang="en-UG" sz="24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Discount the net cash inflows</a:t>
            </a:r>
            <a:endParaRPr lang="en-UG" sz="24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the discounted net cash inflows</a:t>
            </a:r>
            <a:endParaRPr lang="en-UG" sz="24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Subtracts the initial investment (1) from (5), to get NPV</a:t>
            </a:r>
            <a:endParaRPr lang="en-UG" sz="24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306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Methodology of NPV (</a:t>
            </a:r>
            <a:r>
              <a:rPr lang="en-US" sz="3200" b="1" dirty="0" err="1">
                <a:latin typeface="Century Gothic" panose="020B0502020202020204" pitchFamily="34" charset="0"/>
              </a:rPr>
              <a:t>Ct’d</a:t>
            </a:r>
            <a:r>
              <a:rPr lang="en-US" sz="3200" b="1" dirty="0">
                <a:latin typeface="Century Gothic" panose="020B0502020202020204" pitchFamily="34" charset="0"/>
              </a:rPr>
              <a:t>)</a:t>
            </a:r>
            <a:br>
              <a:rPr lang="en-UG" sz="40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  <a:tabLst>
                <a:tab pos="274320" algn="l"/>
              </a:tabLst>
            </a:pPr>
            <a:r>
              <a:rPr lang="en-US" b="1" u="sng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u="sng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Discounting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future cash flow 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means taking into consideration the cost of capital and the risk involved.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example; If you invest money in a given enterprise, you forego interest which you would have earned if you deposited that money on a fixed deposit account.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opposite of discounting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compounding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NPV method simply 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discounts all future cash flows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(both outflows and inflows), at a chosen discount rate to their present value</a:t>
            </a:r>
            <a:endParaRPr lang="en-UG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963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NPV Decision Rule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96F3E4-0D5F-4261-8490-2DF206CC051F}"/>
              </a:ext>
            </a:extLst>
          </p:cNvPr>
          <p:cNvSpPr/>
          <p:nvPr/>
        </p:nvSpPr>
        <p:spPr>
          <a:xfrm>
            <a:off x="0" y="927651"/>
            <a:ext cx="12049804" cy="5840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Positive NPV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This implies the investment benefits outweigh the investment costs-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investment increases owner’s wealth. Thus,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accept the project</a:t>
            </a:r>
            <a:endParaRPr lang="en-UG" sz="24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Negative NPV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This implies Investment reduces shareholder’s wealth. Therefore, the investor should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reject the project</a:t>
            </a:r>
            <a:endParaRPr lang="en-UG" sz="24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274320" algn="l"/>
                <a:tab pos="457200" algn="l"/>
              </a:tabLs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NPV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Investment neither increases nor decreases owner’s wealth; Thus, the investor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 be indifferent between accepting and rejecting the project.</a:t>
            </a:r>
            <a:endParaRPr lang="en-UG" sz="24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274320" algn="l"/>
                <a:tab pos="457200" algn="l"/>
              </a:tabLst>
            </a:pPr>
            <a:r>
              <a:rPr lang="en-US" sz="28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have to choose between two projects with positive NPV,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 the one with greater NPV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49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Example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636104"/>
            <a:ext cx="11811266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Given two projects two projects A (Rearing rabbits) and B (rearing goats).  Determine the NPV and advise the farmer on which project to undertake using a discount factor (cost of capital) of 10%.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6F52DD-26F4-462F-9EDE-404CF5692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858166"/>
              </p:ext>
            </p:extLst>
          </p:nvPr>
        </p:nvGraphicFramePr>
        <p:xfrm>
          <a:off x="1249017" y="2128838"/>
          <a:ext cx="10515600" cy="4651760"/>
        </p:xfrm>
        <a:graphic>
          <a:graphicData uri="http://schemas.openxmlformats.org/drawingml/2006/table">
            <a:tbl>
              <a:tblPr/>
              <a:tblGrid>
                <a:gridCol w="5356646">
                  <a:extLst>
                    <a:ext uri="{9D8B030D-6E8A-4147-A177-3AD203B41FA5}">
                      <a16:colId xmlns:a16="http://schemas.microsoft.com/office/drawing/2014/main" val="1783304510"/>
                    </a:ext>
                  </a:extLst>
                </a:gridCol>
                <a:gridCol w="2778222">
                  <a:extLst>
                    <a:ext uri="{9D8B030D-6E8A-4147-A177-3AD203B41FA5}">
                      <a16:colId xmlns:a16="http://schemas.microsoft.com/office/drawing/2014/main" val="2536021745"/>
                    </a:ext>
                  </a:extLst>
                </a:gridCol>
                <a:gridCol w="2380732">
                  <a:extLst>
                    <a:ext uri="{9D8B030D-6E8A-4147-A177-3AD203B41FA5}">
                      <a16:colId xmlns:a16="http://schemas.microsoft.com/office/drawing/2014/main" val="3448788104"/>
                    </a:ext>
                  </a:extLst>
                </a:gridCol>
              </a:tblGrid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(in $)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 (in $)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598173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Initial investment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250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350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04919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 cash inflows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152855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80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110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136015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100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120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223586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3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70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120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632645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4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100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120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51502"/>
                  </a:ext>
                </a:extLst>
              </a:tr>
              <a:tr h="336487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5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100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120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089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192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Solution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217" y="450574"/>
            <a:ext cx="8918505" cy="6352768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7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GB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PV= Net Cash Inflow *Discount Factor</a:t>
            </a:r>
            <a:endParaRPr lang="en-UG" sz="2400" b="1" dirty="0">
              <a:solidFill>
                <a:srgbClr val="7030A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 value of $1 to be received after t years = 1/(1+r)</a:t>
            </a:r>
            <a:r>
              <a:rPr lang="en-GB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where r is the interest rate and t is the period. </a:t>
            </a:r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can as well be computed from the Present Value Tables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S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S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CCC30-8D02-4836-8F50-D1DFF75A2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13914" y="2743200"/>
            <a:ext cx="3524870" cy="3882887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 Criteria</a:t>
            </a:r>
            <a:endParaRPr lang="en-US" u="sng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B is selected because its NPV is greater than NPV of project A.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 the link below for more explanation on how to compute NPV: 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274320" algn="l"/>
              </a:tabLst>
            </a:pPr>
            <a:r>
              <a:rPr lang="en-US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https://www.youtube.com/watch?v=TU4RNBK9j3k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6A7EE4-0574-412C-8042-AADA9AA57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520334"/>
              </p:ext>
            </p:extLst>
          </p:nvPr>
        </p:nvGraphicFramePr>
        <p:xfrm>
          <a:off x="955592" y="2041256"/>
          <a:ext cx="7131203" cy="4762082"/>
        </p:xfrm>
        <a:graphic>
          <a:graphicData uri="http://schemas.openxmlformats.org/drawingml/2006/table">
            <a:tbl>
              <a:tblPr firstRow="1" firstCol="1" bandRow="1"/>
              <a:tblGrid>
                <a:gridCol w="685852">
                  <a:extLst>
                    <a:ext uri="{9D8B030D-6E8A-4147-A177-3AD203B41FA5}">
                      <a16:colId xmlns:a16="http://schemas.microsoft.com/office/drawing/2014/main" val="2458377068"/>
                    </a:ext>
                  </a:extLst>
                </a:gridCol>
                <a:gridCol w="1112751">
                  <a:extLst>
                    <a:ext uri="{9D8B030D-6E8A-4147-A177-3AD203B41FA5}">
                      <a16:colId xmlns:a16="http://schemas.microsoft.com/office/drawing/2014/main" val="644376493"/>
                    </a:ext>
                  </a:extLst>
                </a:gridCol>
                <a:gridCol w="888527">
                  <a:extLst>
                    <a:ext uri="{9D8B030D-6E8A-4147-A177-3AD203B41FA5}">
                      <a16:colId xmlns:a16="http://schemas.microsoft.com/office/drawing/2014/main" val="2129021840"/>
                    </a:ext>
                  </a:extLst>
                </a:gridCol>
                <a:gridCol w="889246">
                  <a:extLst>
                    <a:ext uri="{9D8B030D-6E8A-4147-A177-3AD203B41FA5}">
                      <a16:colId xmlns:a16="http://schemas.microsoft.com/office/drawing/2014/main" val="1725291029"/>
                    </a:ext>
                  </a:extLst>
                </a:gridCol>
                <a:gridCol w="594746">
                  <a:extLst>
                    <a:ext uri="{9D8B030D-6E8A-4147-A177-3AD203B41FA5}">
                      <a16:colId xmlns:a16="http://schemas.microsoft.com/office/drawing/2014/main" val="1824318377"/>
                    </a:ext>
                  </a:extLst>
                </a:gridCol>
                <a:gridCol w="1323812">
                  <a:extLst>
                    <a:ext uri="{9D8B030D-6E8A-4147-A177-3AD203B41FA5}">
                      <a16:colId xmlns:a16="http://schemas.microsoft.com/office/drawing/2014/main" val="3075496371"/>
                    </a:ext>
                  </a:extLst>
                </a:gridCol>
                <a:gridCol w="916540">
                  <a:extLst>
                    <a:ext uri="{9D8B030D-6E8A-4147-A177-3AD203B41FA5}">
                      <a16:colId xmlns:a16="http://schemas.microsoft.com/office/drawing/2014/main" val="4186032694"/>
                    </a:ext>
                  </a:extLst>
                </a:gridCol>
                <a:gridCol w="719729">
                  <a:extLst>
                    <a:ext uri="{9D8B030D-6E8A-4147-A177-3AD203B41FA5}">
                      <a16:colId xmlns:a16="http://schemas.microsoft.com/office/drawing/2014/main" val="2248945434"/>
                    </a:ext>
                  </a:extLst>
                </a:gridCol>
              </a:tblGrid>
              <a:tr h="356463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A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B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035324"/>
                  </a:ext>
                </a:extLst>
              </a:tr>
              <a:tr h="75561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 cash inflow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DF (10%)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PV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 cash inflows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D.F (10%)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PV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024141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(250)</a:t>
                      </a:r>
                      <a:endParaRPr lang="en-UG" sz="1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(350)</a:t>
                      </a:r>
                      <a:endParaRPr lang="en-UG" sz="1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653316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80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0.909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72.72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1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0.909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99.99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99645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0.826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82.6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2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120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0.826</a:t>
                      </a:r>
                      <a:endParaRPr lang="en-UG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99.12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45858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70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0.751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52.57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3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0.751</a:t>
                      </a:r>
                      <a:endParaRPr lang="en-UG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90.12 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032497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0.683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68.3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4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120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0.683</a:t>
                      </a:r>
                      <a:endParaRPr lang="en-UG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81.96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006348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0.621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62.1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5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0.621</a:t>
                      </a:r>
                      <a:endParaRPr lang="en-UG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74.52</a:t>
                      </a:r>
                      <a:endParaRPr lang="en-UG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80192"/>
                  </a:ext>
                </a:extLst>
              </a:tr>
              <a:tr h="3564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6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b="1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338.29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b="1" i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GB" sz="16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400" b="1" i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445.71</a:t>
                      </a:r>
                      <a:endParaRPr lang="en-UG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968790"/>
                  </a:ext>
                </a:extLst>
              </a:tr>
              <a:tr h="1154764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NPV(A) = TPV-Initial investment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338.29 -250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= 88.29</a:t>
                      </a:r>
                      <a:endParaRPr lang="en-UG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NPV(B) =TPV-Initial investment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=445.71 - 350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=95.71</a:t>
                      </a:r>
                      <a:endParaRPr lang="en-UG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62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373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28" y="453007"/>
            <a:ext cx="9261021" cy="744461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8" y="690407"/>
            <a:ext cx="9538701" cy="5541266"/>
          </a:xfrm>
        </p:spPr>
        <p:txBody>
          <a:bodyPr>
            <a:normAutofit fontScale="92500" lnSpcReduction="10000"/>
          </a:bodyPr>
          <a:lstStyle/>
          <a:p>
            <a:pPr marL="514350" indent="-51435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Font typeface="Wingdings" panose="05000000000000000000" pitchFamily="2" charset="2"/>
              <a:buChar char=""/>
            </a:pPr>
            <a:endParaRPr lang="en-US" sz="31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endParaRPr lang="en-US" sz="72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r>
              <a:rPr lang="en-US" sz="11500" b="1" dirty="0">
                <a:effectLst/>
                <a:latin typeface="Freestyle Script" panose="030804020302050B04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r>
              <a:rPr lang="en-US" sz="11500" b="1" dirty="0">
                <a:latin typeface="Freestyle Script" panose="030804020302050B04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@ASK</a:t>
            </a:r>
            <a:endParaRPr lang="en-US" sz="11500" b="1" dirty="0">
              <a:effectLst/>
              <a:latin typeface="Freestyle Script" panose="030804020302050B04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7952509" y="775984"/>
            <a:ext cx="3997608" cy="562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5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5568</TotalTime>
  <Words>2067</Words>
  <Application>Microsoft Office PowerPoint</Application>
  <PresentationFormat>Widescreen</PresentationFormat>
  <Paragraphs>284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Century Gothic</vt:lpstr>
      <vt:lpstr>Freestyle Script</vt:lpstr>
      <vt:lpstr>Times New Roman</vt:lpstr>
      <vt:lpstr>Wingdings</vt:lpstr>
      <vt:lpstr>Office Theme</vt:lpstr>
      <vt:lpstr>      FINANCIAL MATHEMATICS I  8th OCTOBER 2026 </vt:lpstr>
      <vt:lpstr>   Introduction   </vt:lpstr>
      <vt:lpstr>    Discrete and continuous growth    </vt:lpstr>
      <vt:lpstr>    INTEREST    </vt:lpstr>
      <vt:lpstr>    Simple Interest    </vt:lpstr>
      <vt:lpstr>    Compound Interest     </vt:lpstr>
      <vt:lpstr>    Illustration     </vt:lpstr>
      <vt:lpstr>   Exercise   </vt:lpstr>
      <vt:lpstr>    INVESTMENT APPRAISAL TECHNIQUES     </vt:lpstr>
      <vt:lpstr>    The Annual Equivalent Rate (AER)    </vt:lpstr>
      <vt:lpstr>   Example of a Financial Asset   </vt:lpstr>
      <vt:lpstr>    The Annual Equivalent Rate (AER) –Ct’d    </vt:lpstr>
      <vt:lpstr>   Example   </vt:lpstr>
      <vt:lpstr>    Solution    </vt:lpstr>
      <vt:lpstr>    Exercise    </vt:lpstr>
      <vt:lpstr>    NET PRESENT VALUE (NPV)    </vt:lpstr>
      <vt:lpstr>    Methodology of NPV    </vt:lpstr>
      <vt:lpstr>    Methodology of NPV (Ct’d)    </vt:lpstr>
      <vt:lpstr>    NPV Decision Rule    </vt:lpstr>
      <vt:lpstr>   Example   </vt:lpstr>
      <vt:lpstr>    Solution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IMPLICATIONS OF MAINSTREAMING UGANDA COFFEE DEVELOPMENT AUTHORITY INTO THE MAAIF.</dc:title>
  <dc:creator>Chris Kyerere</dc:creator>
  <cp:lastModifiedBy>ASk</cp:lastModifiedBy>
  <cp:revision>256</cp:revision>
  <dcterms:created xsi:type="dcterms:W3CDTF">2022-08-24T21:51:22Z</dcterms:created>
  <dcterms:modified xsi:type="dcterms:W3CDTF">2026-10-08T05:12:20Z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