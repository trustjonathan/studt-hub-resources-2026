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4" r:id="rId6"/>
    <p:sldId id="263" r:id="rId7"/>
    <p:sldId id="261" r:id="rId8"/>
    <p:sldId id="262" r:id="rId9"/>
    <p:sldId id="265" r:id="rId10"/>
    <p:sldId id="268" r:id="rId11"/>
    <p:sldId id="266" r:id="rId12"/>
    <p:sldId id="267" r:id="rId13"/>
    <p:sldId id="269" r:id="rId14"/>
    <p:sldId id="271" r:id="rId15"/>
    <p:sldId id="270" r:id="rId16"/>
    <p:sldId id="272" r:id="rId17"/>
  </p:sldIdLst>
  <p:sldSz cx="12192000" cy="6858000"/>
  <p:notesSz cx="6858000" cy="9144000"/>
  <p:defaultTextStyle>
    <a:defPPr>
      <a:defRPr lang="en-U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232" y="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42E93-7C59-4A97-B012-06E80B56DF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7684BF-D3FA-492A-9D3B-3294A09DA6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4D27D-CA19-49DC-A700-21575D490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34F5-77B8-450C-9F5F-D8330932A6D0}" type="datetimeFigureOut">
              <a:rPr lang="en-UG" smtClean="0"/>
              <a:t>13/10/2025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71E91-E61D-4A52-AC77-ED8E3A4D1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41C58-76CA-48CC-83FA-692DF3671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16512-434E-4D84-BACF-F31106782817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193845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F5F15-42EF-44CC-B274-B187F3B1B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50705-11E1-41CF-95BE-F65CA324E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1142D-E0EB-4276-B5C7-7BCBACEFC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34F5-77B8-450C-9F5F-D8330932A6D0}" type="datetimeFigureOut">
              <a:rPr lang="en-UG" smtClean="0"/>
              <a:t>13/10/2025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9ED55-7623-4F9C-97C2-A1C0A8974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B13C6-2193-46CB-9564-617DC501F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16512-434E-4D84-BACF-F31106782817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495504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7EBD0-82BF-4760-A620-26C75F22D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6DA147-18B3-404E-9165-9CA785302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D0049-F9B5-4442-A401-3982A3827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34F5-77B8-450C-9F5F-D8330932A6D0}" type="datetimeFigureOut">
              <a:rPr lang="en-UG" smtClean="0"/>
              <a:t>13/10/2025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3589E-BFD6-4066-A2DF-01E671AAA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9EC4C-958F-4829-9C4A-61E42EE29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16512-434E-4D84-BACF-F31106782817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225292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3885A-0144-4F0A-B90F-078DCF5C6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65807-FBE3-4F20-BCC0-7C394511A7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A72088-484B-4543-AE48-F15F268727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AACB2-6282-4C03-A373-6A8C72928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34F5-77B8-450C-9F5F-D8330932A6D0}" type="datetimeFigureOut">
              <a:rPr lang="en-UG" smtClean="0"/>
              <a:t>13/10/2025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EFD2D7-5B03-4F94-B811-A86522F1C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D70F4B-8B5D-4A1F-A4E9-4614918E0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16512-434E-4D84-BACF-F31106782817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14709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5EB7B-D031-4145-8930-9081948BD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13F91C-1471-4C41-8210-CD3B94031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182087-5BDA-4217-8C86-E0701D867B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86B507-BA85-4DB1-A223-0F21733E53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6740FD-F942-4569-9403-F6B34E6019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1237F-B1C8-4787-A099-8D47E2707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34F5-77B8-450C-9F5F-D8330932A6D0}" type="datetimeFigureOut">
              <a:rPr lang="en-UG" smtClean="0"/>
              <a:t>13/10/2025</a:t>
            </a:fld>
            <a:endParaRPr lang="en-U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A8C7CB-50AD-4381-9C8A-D7367C9F8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C3F969-E4F4-4916-B94C-DF82536FB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16512-434E-4D84-BACF-F31106782817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009342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30726-4EAC-4A7C-8C73-120D635C8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A3860D-F1F3-4374-B26B-A850CDDDA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34F5-77B8-450C-9F5F-D8330932A6D0}" type="datetimeFigureOut">
              <a:rPr lang="en-UG" smtClean="0"/>
              <a:t>13/10/2025</a:t>
            </a:fld>
            <a:endParaRPr lang="en-U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20C7C9-6DDC-42DF-AAE7-7A7215E2B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A66BEE-D563-4A95-BACD-5D39D34BF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16512-434E-4D84-BACF-F31106782817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061119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6ED2A3-E484-4FD8-932C-DFEA99545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34F5-77B8-450C-9F5F-D8330932A6D0}" type="datetimeFigureOut">
              <a:rPr lang="en-UG" smtClean="0"/>
              <a:t>13/10/2025</a:t>
            </a:fld>
            <a:endParaRPr lang="en-U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6F427F-864F-435F-B542-78DE17F1D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4387B6-2CC7-47EF-8A7E-319683FCF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16512-434E-4D84-BACF-F31106782817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952187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DDDFA-D3F0-4C47-9645-F85817B39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333D0-0895-4B9A-B202-E3F0627A3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9C26DE-8D22-4A90-B6CC-E63E9064E5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B80480-1FA7-4C41-BB5B-70214C666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34F5-77B8-450C-9F5F-D8330932A6D0}" type="datetimeFigureOut">
              <a:rPr lang="en-UG" smtClean="0"/>
              <a:t>13/10/2025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40C9A1-FF1D-403D-99F9-F98217433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F02B6-01A4-47C0-9A96-5E654F216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16512-434E-4D84-BACF-F31106782817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126325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77C75-A319-4DC4-B6EF-CA7232A18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3126B3-A517-4A38-8C4A-D4837F5CD9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E222A-74F3-4FB4-8849-122C5B6579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34E8E0-F828-4C9F-B021-6775EA49E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34F5-77B8-450C-9F5F-D8330932A6D0}" type="datetimeFigureOut">
              <a:rPr lang="en-UG" smtClean="0"/>
              <a:t>13/10/2025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99F6C-BF1A-40CF-801E-88C7D9A1F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8C417F-403D-46F6-A3A9-02A74198A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16512-434E-4D84-BACF-F31106782817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761747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DF4BE-8BA9-499A-BFC0-C0FE61F01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47CA34-71ED-4DD2-ABDD-0008E2657D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13794E-B760-49A2-9EF1-00A987C2F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34F5-77B8-450C-9F5F-D8330932A6D0}" type="datetimeFigureOut">
              <a:rPr lang="en-UG" smtClean="0"/>
              <a:t>13/10/2025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0DD309-E83D-4BE6-9DBA-3C627D92B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93AE4-D4B7-4850-9A26-4E763D377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16512-434E-4D84-BACF-F31106782817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563753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B1175D-2A5E-4549-AA09-EA943F1BD6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4EA763-ECBF-4605-AE45-87E5D3DFE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8A978-DE65-45FA-938D-A2174B9D4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34F5-77B8-450C-9F5F-D8330932A6D0}" type="datetimeFigureOut">
              <a:rPr lang="en-UG" smtClean="0"/>
              <a:t>13/10/2025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46940-41F1-44B6-85AB-C3E97C316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92D2B-1687-4B06-BB19-246441F9F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16512-434E-4D84-BACF-F31106782817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794378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975B45-CA33-41E9-BBE6-61883F0C8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165F4-7C75-4B50-A9AA-D670FC958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0D906-8717-430B-B4BA-99F95A9E01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8B34F5-77B8-450C-9F5F-D8330932A6D0}" type="datetimeFigureOut">
              <a:rPr lang="en-UG" smtClean="0"/>
              <a:t>13/10/2025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5E742-B069-4AFA-86AB-600338E037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67485-B2AE-4015-8D5B-492E256C2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C16512-434E-4D84-BACF-F31106782817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560162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F909F-93E5-4B71-A3E1-DB693149C4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Plant Physiology</a:t>
            </a:r>
            <a:endParaRPr lang="en-U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690F6B-EAEA-406B-BF37-C1F5755E6C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13</a:t>
            </a:r>
            <a:r>
              <a:rPr lang="en-US" baseline="30000" dirty="0"/>
              <a:t>th</a:t>
            </a:r>
            <a:r>
              <a:rPr lang="en-US" dirty="0"/>
              <a:t> October 2025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769563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A15E8-7A77-4448-8937-8E63D4640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Plant Physiology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85AE9-BFFB-408F-A01C-7CAED568D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0160"/>
            <a:ext cx="10515600" cy="5577839"/>
          </a:xfrm>
        </p:spPr>
        <p:txBody>
          <a:bodyPr>
            <a:normAutofit/>
          </a:bodyPr>
          <a:lstStyle/>
          <a:p>
            <a:r>
              <a:rPr lang="en-US" b="1" dirty="0"/>
              <a:t>What is Plant Physiology?</a:t>
            </a:r>
          </a:p>
          <a:p>
            <a:pPr>
              <a:lnSpc>
                <a:spcPct val="150000"/>
              </a:lnSpc>
            </a:pPr>
            <a:r>
              <a:rPr lang="en-US" dirty="0"/>
              <a:t>Plant physiology is the branch of botany that deals with the functioning, processes, and activities of plants.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Physiology </a:t>
            </a:r>
            <a:r>
              <a:rPr lang="en-US" b="1" dirty="0" err="1"/>
              <a:t>Ttherefore</a:t>
            </a:r>
            <a:r>
              <a:rPr lang="en-US" dirty="0"/>
              <a:t> is the study of the physical and biochemical functions of living organisms.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Plant Physiology</a:t>
            </a:r>
            <a:r>
              <a:rPr lang="en-US" dirty="0"/>
              <a:t> specifically focuses on the </a:t>
            </a:r>
            <a:r>
              <a:rPr lang="en-US" b="1" dirty="0"/>
              <a:t>mechanisms and processes</a:t>
            </a:r>
            <a:r>
              <a:rPr lang="en-US" dirty="0"/>
              <a:t> by which plants operate, grow, and interact with the environment.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4280641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3EED4-B2DF-4659-B6DE-267EE8D1F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Scope of Plant Physiology:</a:t>
            </a:r>
            <a:br>
              <a:rPr lang="en-US" b="1" dirty="0"/>
            </a:b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0407C-2569-45DA-A407-6896D3C59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Explores </a:t>
            </a:r>
            <a:r>
              <a:rPr lang="en-US" b="1" dirty="0"/>
              <a:t>how plants grow, develop, and survive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Studies </a:t>
            </a:r>
            <a:r>
              <a:rPr lang="en-US" b="1" dirty="0"/>
              <a:t>processes like photosynthesis, respiration, transpiration, nutrient uptake</a:t>
            </a:r>
            <a:r>
              <a:rPr lang="en-US" dirty="0"/>
              <a:t>, and </a:t>
            </a:r>
            <a:r>
              <a:rPr lang="en-US" b="1" dirty="0"/>
              <a:t>hormonal regulation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Links between </a:t>
            </a:r>
            <a:r>
              <a:rPr lang="en-US" b="1" dirty="0"/>
              <a:t>structure (anatomy)</a:t>
            </a:r>
            <a:r>
              <a:rPr lang="en-US" dirty="0"/>
              <a:t> and </a:t>
            </a:r>
            <a:r>
              <a:rPr lang="en-US" b="1" dirty="0"/>
              <a:t>function (physiology)</a:t>
            </a:r>
            <a:endParaRPr lang="en-US" dirty="0"/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3263013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346F2-1B66-4788-8955-003689FC0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8780"/>
          </a:xfrm>
        </p:spPr>
        <p:txBody>
          <a:bodyPr/>
          <a:lstStyle/>
          <a:p>
            <a:r>
              <a:rPr lang="en-US" dirty="0"/>
              <a:t>Importance of Plant Physiology:</a:t>
            </a:r>
            <a:endParaRPr lang="en-UG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6A8DBCF-FD19-4517-A5B1-8A25F2DB99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6521570"/>
              </p:ext>
            </p:extLst>
          </p:nvPr>
        </p:nvGraphicFramePr>
        <p:xfrm>
          <a:off x="838200" y="1113906"/>
          <a:ext cx="10515600" cy="5581164"/>
        </p:xfrm>
        <a:graphic>
          <a:graphicData uri="http://schemas.openxmlformats.org/drawingml/2006/table">
            <a:tbl>
              <a:tblPr/>
              <a:tblGrid>
                <a:gridCol w="4191000">
                  <a:extLst>
                    <a:ext uri="{9D8B030D-6E8A-4147-A177-3AD203B41FA5}">
                      <a16:colId xmlns:a16="http://schemas.microsoft.com/office/drawing/2014/main" val="3485209903"/>
                    </a:ext>
                  </a:extLst>
                </a:gridCol>
                <a:gridCol w="6324600">
                  <a:extLst>
                    <a:ext uri="{9D8B030D-6E8A-4147-A177-3AD203B41FA5}">
                      <a16:colId xmlns:a16="http://schemas.microsoft.com/office/drawing/2014/main" val="4055044300"/>
                    </a:ext>
                  </a:extLst>
                </a:gridCol>
              </a:tblGrid>
              <a:tr h="637777">
                <a:tc>
                  <a:txBody>
                    <a:bodyPr/>
                    <a:lstStyle/>
                    <a:p>
                      <a:r>
                        <a:rPr lang="en-US" sz="2400" dirty="0"/>
                        <a:t>Area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Relevance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8440994"/>
                  </a:ext>
                </a:extLst>
              </a:tr>
              <a:tr h="903721">
                <a:tc>
                  <a:txBody>
                    <a:bodyPr/>
                    <a:lstStyle/>
                    <a:p>
                      <a:r>
                        <a:rPr lang="en-UG" sz="2400" dirty="0"/>
                        <a:t>🌾 </a:t>
                      </a:r>
                      <a:r>
                        <a:rPr lang="en-US" sz="2400" b="1" dirty="0"/>
                        <a:t>Agriculture</a:t>
                      </a:r>
                      <a:endParaRPr 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Helps improve crop yield, disease resistance, and stress tolerance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6731279"/>
                  </a:ext>
                </a:extLst>
              </a:tr>
              <a:tr h="1116112">
                <a:tc>
                  <a:txBody>
                    <a:bodyPr/>
                    <a:lstStyle/>
                    <a:p>
                      <a:r>
                        <a:rPr lang="en-UG" sz="2400" dirty="0"/>
                        <a:t>🌍 </a:t>
                      </a:r>
                      <a:r>
                        <a:rPr lang="en-US" sz="2400" b="1" dirty="0"/>
                        <a:t>Environmental Science</a:t>
                      </a:r>
                      <a:endParaRPr 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Understanding how plants respond to climate change and pollutants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1756798"/>
                  </a:ext>
                </a:extLst>
              </a:tr>
              <a:tr h="1116112">
                <a:tc>
                  <a:txBody>
                    <a:bodyPr/>
                    <a:lstStyle/>
                    <a:p>
                      <a:r>
                        <a:rPr lang="en-UG" sz="2400"/>
                        <a:t>🧪 </a:t>
                      </a:r>
                      <a:r>
                        <a:rPr lang="en-US" sz="2400" b="1"/>
                        <a:t>Biotechnology</a:t>
                      </a:r>
                      <a:endParaRPr lang="en-US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Genetic engineering for better growth, resistance, and nutritional quality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2863087"/>
                  </a:ext>
                </a:extLst>
              </a:tr>
              <a:tr h="903721">
                <a:tc>
                  <a:txBody>
                    <a:bodyPr/>
                    <a:lstStyle/>
                    <a:p>
                      <a:r>
                        <a:rPr lang="en-UG" sz="2400"/>
                        <a:t>💧 </a:t>
                      </a:r>
                      <a:r>
                        <a:rPr lang="en-US" sz="2400" b="1"/>
                        <a:t>Water Management</a:t>
                      </a:r>
                      <a:endParaRPr lang="en-US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Knowledge of transpiration and water use efficiency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443560"/>
                  </a:ext>
                </a:extLst>
              </a:tr>
              <a:tr h="903721">
                <a:tc>
                  <a:txBody>
                    <a:bodyPr/>
                    <a:lstStyle/>
                    <a:p>
                      <a:r>
                        <a:rPr lang="en-UG" sz="2400"/>
                        <a:t>🍃 </a:t>
                      </a:r>
                      <a:r>
                        <a:rPr lang="en-US" sz="2400" b="1"/>
                        <a:t>Photosynthesis Research</a:t>
                      </a:r>
                      <a:endParaRPr lang="en-US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Basis for bioenergy and climate mitigation strategies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55804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7607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71A91-2067-4B37-BAAC-4017DEC11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7BA34-8554-4079-A146-A5AF65BB1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734434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3525A-E07F-4388-B0C7-D24DE4687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39726"/>
          </a:xfrm>
        </p:spPr>
        <p:txBody>
          <a:bodyPr/>
          <a:lstStyle/>
          <a:p>
            <a:endParaRPr lang="en-UG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53F6B14-0929-481E-A4FA-405294EDB7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0864" r="14943"/>
          <a:stretch/>
        </p:blipFill>
        <p:spPr>
          <a:xfrm>
            <a:off x="2053244" y="1005840"/>
            <a:ext cx="7689271" cy="5979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345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82DD8-321C-481C-BF18-D3452B821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40962"/>
          </a:xfrm>
        </p:spPr>
        <p:txBody>
          <a:bodyPr>
            <a:normAutofit fontScale="90000"/>
          </a:bodyPr>
          <a:lstStyle/>
          <a:p>
            <a:r>
              <a:rPr lang="en-US" dirty="0"/>
              <a:t>The Plant Cell Structure</a:t>
            </a:r>
            <a:endParaRPr lang="en-UG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DA2E6A4-B381-4026-A43F-C1BE898405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367104"/>
              </p:ext>
            </p:extLst>
          </p:nvPr>
        </p:nvGraphicFramePr>
        <p:xfrm>
          <a:off x="1113905" y="1055716"/>
          <a:ext cx="10515600" cy="6374679"/>
        </p:xfrm>
        <a:graphic>
          <a:graphicData uri="http://schemas.openxmlformats.org/drawingml/2006/table">
            <a:tbl>
              <a:tblPr/>
              <a:tblGrid>
                <a:gridCol w="3217026">
                  <a:extLst>
                    <a:ext uri="{9D8B030D-6E8A-4147-A177-3AD203B41FA5}">
                      <a16:colId xmlns:a16="http://schemas.microsoft.com/office/drawing/2014/main" val="1074892803"/>
                    </a:ext>
                  </a:extLst>
                </a:gridCol>
                <a:gridCol w="7298574">
                  <a:extLst>
                    <a:ext uri="{9D8B030D-6E8A-4147-A177-3AD203B41FA5}">
                      <a16:colId xmlns:a16="http://schemas.microsoft.com/office/drawing/2014/main" val="1234423011"/>
                    </a:ext>
                  </a:extLst>
                </a:gridCol>
              </a:tblGrid>
              <a:tr h="428006">
                <a:tc>
                  <a:txBody>
                    <a:bodyPr/>
                    <a:lstStyle/>
                    <a:p>
                      <a:r>
                        <a:rPr lang="en-US" sz="2000" dirty="0"/>
                        <a:t>Organelle / Structure</a:t>
                      </a:r>
                    </a:p>
                  </a:txBody>
                  <a:tcPr marL="43953" marR="43953" marT="21976" marB="21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Function</a:t>
                      </a:r>
                    </a:p>
                  </a:txBody>
                  <a:tcPr marL="43953" marR="43953" marT="21976" marB="21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0839121"/>
                  </a:ext>
                </a:extLst>
              </a:tr>
              <a:tr h="428006">
                <a:tc>
                  <a:txBody>
                    <a:bodyPr/>
                    <a:lstStyle/>
                    <a:p>
                      <a:r>
                        <a:rPr lang="en-US" sz="2000" b="1" dirty="0"/>
                        <a:t>Nucleus</a:t>
                      </a:r>
                      <a:endParaRPr lang="en-US" sz="2000" dirty="0"/>
                    </a:p>
                  </a:txBody>
                  <a:tcPr marL="43953" marR="43953" marT="21976" marB="21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Controls cell activities; contains DNA (genetic material)</a:t>
                      </a:r>
                    </a:p>
                  </a:txBody>
                  <a:tcPr marL="43953" marR="43953" marT="21976" marB="21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31431"/>
                  </a:ext>
                </a:extLst>
              </a:tr>
              <a:tr h="428006">
                <a:tc>
                  <a:txBody>
                    <a:bodyPr/>
                    <a:lstStyle/>
                    <a:p>
                      <a:r>
                        <a:rPr lang="en-US" sz="2000" b="1" dirty="0"/>
                        <a:t>Nucleolus</a:t>
                      </a:r>
                      <a:endParaRPr lang="en-US" sz="2000" dirty="0"/>
                    </a:p>
                  </a:txBody>
                  <a:tcPr marL="43953" marR="43953" marT="21976" marB="21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Found inside the nucleus; produces ribosomes</a:t>
                      </a:r>
                    </a:p>
                  </a:txBody>
                  <a:tcPr marL="43953" marR="43953" marT="21976" marB="21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2668064"/>
                  </a:ext>
                </a:extLst>
              </a:tr>
              <a:tr h="810098">
                <a:tc>
                  <a:txBody>
                    <a:bodyPr/>
                    <a:lstStyle/>
                    <a:p>
                      <a:r>
                        <a:rPr lang="en-US" sz="2000" b="1" dirty="0"/>
                        <a:t>Rough Endoplasmic Reticulum (Rough ER)</a:t>
                      </a:r>
                      <a:endParaRPr lang="en-US" sz="2000" dirty="0"/>
                    </a:p>
                  </a:txBody>
                  <a:tcPr marL="43953" marR="43953" marT="21976" marB="21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Synthesizes proteins (has ribosomes on its surface)</a:t>
                      </a:r>
                    </a:p>
                  </a:txBody>
                  <a:tcPr marL="43953" marR="43953" marT="21976" marB="21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5105906"/>
                  </a:ext>
                </a:extLst>
              </a:tr>
              <a:tr h="948343">
                <a:tc>
                  <a:txBody>
                    <a:bodyPr/>
                    <a:lstStyle/>
                    <a:p>
                      <a:r>
                        <a:rPr lang="en-US" sz="2000" b="1" dirty="0"/>
                        <a:t>Smooth Endoplasmic Reticulum (Smooth ER)</a:t>
                      </a:r>
                      <a:endParaRPr lang="en-US" sz="2000" dirty="0"/>
                    </a:p>
                  </a:txBody>
                  <a:tcPr marL="43953" marR="43953" marT="21976" marB="21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Synthesizes lipids and detoxifies harmful substances</a:t>
                      </a:r>
                    </a:p>
                  </a:txBody>
                  <a:tcPr marL="43953" marR="43953" marT="21976" marB="21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755955"/>
                  </a:ext>
                </a:extLst>
              </a:tr>
              <a:tr h="428006">
                <a:tc>
                  <a:txBody>
                    <a:bodyPr/>
                    <a:lstStyle/>
                    <a:p>
                      <a:r>
                        <a:rPr lang="en-US" sz="2000" b="1" dirty="0"/>
                        <a:t>Mitochondria</a:t>
                      </a:r>
                      <a:endParaRPr lang="en-US" sz="2000" dirty="0"/>
                    </a:p>
                  </a:txBody>
                  <a:tcPr marL="43953" marR="43953" marT="21976" marB="21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Produces energy (ATP) through cellular respiration</a:t>
                      </a:r>
                    </a:p>
                  </a:txBody>
                  <a:tcPr marL="43953" marR="43953" marT="21976" marB="21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9377530"/>
                  </a:ext>
                </a:extLst>
              </a:tr>
              <a:tr h="428006">
                <a:tc>
                  <a:txBody>
                    <a:bodyPr/>
                    <a:lstStyle/>
                    <a:p>
                      <a:r>
                        <a:rPr lang="en-US" sz="2000" b="1" dirty="0"/>
                        <a:t>Golgi Apparatus</a:t>
                      </a:r>
                      <a:endParaRPr lang="en-US" sz="2000" dirty="0"/>
                    </a:p>
                  </a:txBody>
                  <a:tcPr marL="43953" marR="43953" marT="21976" marB="21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Modifies, packages, and distributes proteins and lipids</a:t>
                      </a:r>
                    </a:p>
                  </a:txBody>
                  <a:tcPr marL="43953" marR="43953" marT="21976" marB="21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5897252"/>
                  </a:ext>
                </a:extLst>
              </a:tr>
              <a:tr h="428006">
                <a:tc>
                  <a:txBody>
                    <a:bodyPr/>
                    <a:lstStyle/>
                    <a:p>
                      <a:r>
                        <a:rPr lang="en-US" sz="2000" b="1" dirty="0"/>
                        <a:t>Golgi Vesicles</a:t>
                      </a:r>
                      <a:endParaRPr lang="en-US" sz="2000" dirty="0"/>
                    </a:p>
                  </a:txBody>
                  <a:tcPr marL="43953" marR="43953" marT="21976" marB="21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Transport materials from the Golgi to other parts of the cell</a:t>
                      </a:r>
                    </a:p>
                  </a:txBody>
                  <a:tcPr marL="43953" marR="43953" marT="21976" marB="21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30091"/>
                  </a:ext>
                </a:extLst>
              </a:tr>
              <a:tr h="810098">
                <a:tc>
                  <a:txBody>
                    <a:bodyPr/>
                    <a:lstStyle/>
                    <a:p>
                      <a:r>
                        <a:rPr lang="en-US" sz="2000" b="1" dirty="0"/>
                        <a:t>Chloroplast</a:t>
                      </a:r>
                      <a:endParaRPr lang="en-US" sz="2000" dirty="0"/>
                    </a:p>
                  </a:txBody>
                  <a:tcPr marL="43953" marR="43953" marT="21976" marB="21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Site of photosynthesis; converts light energy into chemical energy (glucose)</a:t>
                      </a:r>
                    </a:p>
                  </a:txBody>
                  <a:tcPr marL="43953" marR="43953" marT="21976" marB="21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8838359"/>
                  </a:ext>
                </a:extLst>
              </a:tr>
              <a:tr h="810098">
                <a:tc>
                  <a:txBody>
                    <a:bodyPr/>
                    <a:lstStyle/>
                    <a:p>
                      <a:r>
                        <a:rPr lang="en-US" sz="2000" b="1" dirty="0"/>
                        <a:t>Vacuole</a:t>
                      </a:r>
                      <a:endParaRPr lang="en-US" sz="2000" dirty="0"/>
                    </a:p>
                  </a:txBody>
                  <a:tcPr marL="43953" marR="43953" marT="21976" marB="21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Stores water, nutrients, and waste; maintains turgor pressure</a:t>
                      </a:r>
                    </a:p>
                  </a:txBody>
                  <a:tcPr marL="43953" marR="43953" marT="21976" marB="21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5620874"/>
                  </a:ext>
                </a:extLst>
              </a:tr>
              <a:tr h="428006">
                <a:tc>
                  <a:txBody>
                    <a:bodyPr/>
                    <a:lstStyle/>
                    <a:p>
                      <a:r>
                        <a:rPr lang="en-US" sz="2400" b="1" dirty="0"/>
                        <a:t>Druse Crystal</a:t>
                      </a:r>
                      <a:endParaRPr lang="en-US" sz="2400" dirty="0"/>
                    </a:p>
                  </a:txBody>
                  <a:tcPr marL="43953" marR="43953" marT="21976" marB="21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Star-shaped crystals of calcium oxalate; also defensive</a:t>
                      </a:r>
                    </a:p>
                  </a:txBody>
                  <a:tcPr marL="43953" marR="43953" marT="21976" marB="21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99172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5290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F1A4D-0A84-4744-89CD-0157A5566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5777"/>
          </a:xfrm>
        </p:spPr>
        <p:txBody>
          <a:bodyPr>
            <a:normAutofit fontScale="90000"/>
          </a:bodyPr>
          <a:lstStyle/>
          <a:p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E8AAE-C54E-4AFD-B364-AC9487017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3904"/>
            <a:ext cx="10515600" cy="5511339"/>
          </a:xfrm>
        </p:spPr>
        <p:txBody>
          <a:bodyPr>
            <a:normAutofit fontScale="47500" lnSpcReduction="20000"/>
          </a:bodyPr>
          <a:lstStyle/>
          <a:p>
            <a:pPr fontAlgn="ctr"/>
            <a:r>
              <a:rPr lang="en-US" sz="5100" b="1" dirty="0"/>
              <a:t>Ribosome</a:t>
            </a:r>
            <a:endParaRPr lang="en-UG" sz="5100" dirty="0"/>
          </a:p>
          <a:p>
            <a:pPr fontAlgn="ctr"/>
            <a:r>
              <a:rPr lang="en-US" sz="5100" dirty="0"/>
              <a:t>Synthesizes proteins (free-floating or attached to ER)</a:t>
            </a:r>
            <a:endParaRPr lang="en-UG" sz="5100" dirty="0"/>
          </a:p>
          <a:p>
            <a:pPr fontAlgn="ctr"/>
            <a:r>
              <a:rPr lang="en-US" sz="5100" b="1" dirty="0"/>
              <a:t>Cell Membrane</a:t>
            </a:r>
            <a:endParaRPr lang="en-UG" sz="5100" dirty="0"/>
          </a:p>
          <a:p>
            <a:pPr fontAlgn="ctr"/>
            <a:r>
              <a:rPr lang="en-US" sz="5100" dirty="0"/>
              <a:t>Semi-permeable membrane; controls movement of substances in and out of cell</a:t>
            </a:r>
            <a:endParaRPr lang="en-UG" sz="5100" dirty="0"/>
          </a:p>
          <a:p>
            <a:pPr fontAlgn="ctr"/>
            <a:r>
              <a:rPr lang="en-US" sz="5100" b="1" dirty="0"/>
              <a:t>Cell Wall</a:t>
            </a:r>
            <a:endParaRPr lang="en-UG" sz="5100" dirty="0"/>
          </a:p>
          <a:p>
            <a:pPr fontAlgn="ctr"/>
            <a:r>
              <a:rPr lang="en-US" sz="5100" dirty="0"/>
              <a:t>Made of cellulose; provides structure, support, and protection</a:t>
            </a:r>
            <a:endParaRPr lang="en-UG" sz="5100" dirty="0"/>
          </a:p>
          <a:p>
            <a:pPr fontAlgn="ctr"/>
            <a:r>
              <a:rPr lang="en-US" sz="5100" b="1" dirty="0"/>
              <a:t>Peroxisome</a:t>
            </a:r>
            <a:endParaRPr lang="en-UG" sz="5100" dirty="0"/>
          </a:p>
          <a:p>
            <a:pPr fontAlgn="ctr"/>
            <a:r>
              <a:rPr lang="en-US" sz="5100" dirty="0"/>
              <a:t>Breaks down fatty acids and detoxifies hydrogen peroxide (H₂O₂)</a:t>
            </a:r>
            <a:endParaRPr lang="en-UG" sz="5100" dirty="0"/>
          </a:p>
          <a:p>
            <a:pPr fontAlgn="ctr"/>
            <a:r>
              <a:rPr lang="en-US" sz="5100" b="1" dirty="0" err="1"/>
              <a:t>Amyloplast</a:t>
            </a:r>
            <a:endParaRPr lang="en-UG" sz="5100" dirty="0"/>
          </a:p>
          <a:p>
            <a:pPr fontAlgn="ctr"/>
            <a:r>
              <a:rPr lang="en-US" sz="5100" dirty="0"/>
              <a:t>Stores starch (a carbohydrate reserve)</a:t>
            </a:r>
            <a:endParaRPr lang="en-UG" sz="5100" dirty="0"/>
          </a:p>
          <a:p>
            <a:pPr fontAlgn="ctr"/>
            <a:r>
              <a:rPr lang="en-US" sz="5100" b="1" dirty="0"/>
              <a:t>Cytoplasm</a:t>
            </a:r>
            <a:endParaRPr lang="en-UG" sz="5100" dirty="0"/>
          </a:p>
          <a:p>
            <a:pPr fontAlgn="ctr"/>
            <a:r>
              <a:rPr lang="en-US" sz="5100" dirty="0"/>
              <a:t>Gel-like fluid where organelles are suspended; site of metabolic reactions</a:t>
            </a:r>
            <a:endParaRPr lang="en-UG" sz="5100" dirty="0"/>
          </a:p>
          <a:p>
            <a:pPr fontAlgn="ctr"/>
            <a:r>
              <a:rPr lang="en-US" sz="5100" b="1" dirty="0" err="1"/>
              <a:t>Raphide</a:t>
            </a:r>
            <a:r>
              <a:rPr lang="en-US" sz="5100" b="1" dirty="0"/>
              <a:t> Crystal</a:t>
            </a:r>
            <a:endParaRPr lang="en-UG" sz="5100" dirty="0"/>
          </a:p>
          <a:p>
            <a:pPr fontAlgn="ctr"/>
            <a:r>
              <a:rPr lang="en-US" sz="5100" dirty="0"/>
              <a:t>Needle-shaped crystals of calcium oxalate; may deter herbivory</a:t>
            </a:r>
            <a:endParaRPr lang="en-UG" sz="5100" dirty="0"/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239940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A7169-D813-44FC-B1A3-3B908359B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Cell Types in Plants</a:t>
            </a:r>
            <a:endParaRPr lang="en-UG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72638B9-66E5-4DA9-A04A-AD0CC26C5B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2946028"/>
              </p:ext>
            </p:extLst>
          </p:nvPr>
        </p:nvGraphicFramePr>
        <p:xfrm>
          <a:off x="182880" y="1820487"/>
          <a:ext cx="11170920" cy="4186845"/>
        </p:xfrm>
        <a:graphic>
          <a:graphicData uri="http://schemas.openxmlformats.org/drawingml/2006/table">
            <a:tbl>
              <a:tblPr/>
              <a:tblGrid>
                <a:gridCol w="4172989">
                  <a:extLst>
                    <a:ext uri="{9D8B030D-6E8A-4147-A177-3AD203B41FA5}">
                      <a16:colId xmlns:a16="http://schemas.microsoft.com/office/drawing/2014/main" val="3438979088"/>
                    </a:ext>
                  </a:extLst>
                </a:gridCol>
                <a:gridCol w="6997931">
                  <a:extLst>
                    <a:ext uri="{9D8B030D-6E8A-4147-A177-3AD203B41FA5}">
                      <a16:colId xmlns:a16="http://schemas.microsoft.com/office/drawing/2014/main" val="1525905083"/>
                    </a:ext>
                  </a:extLst>
                </a:gridCol>
              </a:tblGrid>
              <a:tr h="648393">
                <a:tc>
                  <a:txBody>
                    <a:bodyPr/>
                    <a:lstStyle/>
                    <a:p>
                      <a:r>
                        <a:rPr lang="en-US" sz="2800" dirty="0"/>
                        <a:t>Cell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4212755"/>
                  </a:ext>
                </a:extLst>
              </a:tr>
              <a:tr h="648393">
                <a:tc>
                  <a:txBody>
                    <a:bodyPr/>
                    <a:lstStyle/>
                    <a:p>
                      <a:r>
                        <a:rPr lang="en-US" sz="2800" b="1" dirty="0"/>
                        <a:t>Parenchyma</a:t>
                      </a:r>
                      <a:endParaRPr lang="en-US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Photosynthesis, storage, healing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9934293"/>
                  </a:ext>
                </a:extLst>
              </a:tr>
              <a:tr h="648393">
                <a:tc>
                  <a:txBody>
                    <a:bodyPr/>
                    <a:lstStyle/>
                    <a:p>
                      <a:r>
                        <a:rPr lang="en-US" sz="2800" b="1" dirty="0"/>
                        <a:t>Collenchyma</a:t>
                      </a:r>
                      <a:endParaRPr lang="en-US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Flexible support in young organs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533829"/>
                  </a:ext>
                </a:extLst>
              </a:tr>
              <a:tr h="648393">
                <a:tc>
                  <a:txBody>
                    <a:bodyPr/>
                    <a:lstStyle/>
                    <a:p>
                      <a:r>
                        <a:rPr lang="en-US" sz="2800" b="1" dirty="0"/>
                        <a:t>Sclerenchyma</a:t>
                      </a:r>
                      <a:endParaRPr lang="en-US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Rigid support (dead cells, thick walls)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561954"/>
                  </a:ext>
                </a:extLst>
              </a:tr>
              <a:tr h="648393">
                <a:tc>
                  <a:txBody>
                    <a:bodyPr/>
                    <a:lstStyle/>
                    <a:p>
                      <a:r>
                        <a:rPr lang="en-US" sz="2800" b="1"/>
                        <a:t>Xylem cells</a:t>
                      </a:r>
                      <a:endParaRPr lang="en-US" sz="2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Water conduction (</a:t>
                      </a:r>
                      <a:r>
                        <a:rPr lang="en-US" sz="2800" dirty="0" err="1"/>
                        <a:t>tracheids</a:t>
                      </a:r>
                      <a:r>
                        <a:rPr lang="en-US" sz="2800" dirty="0"/>
                        <a:t> and vessels)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5715356"/>
                  </a:ext>
                </a:extLst>
              </a:tr>
              <a:tr h="648393">
                <a:tc>
                  <a:txBody>
                    <a:bodyPr/>
                    <a:lstStyle/>
                    <a:p>
                      <a:r>
                        <a:rPr lang="en-US" sz="2800" b="1"/>
                        <a:t>Phloem cells</a:t>
                      </a:r>
                      <a:endParaRPr lang="en-US" sz="2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Food transport (sieve tubes and companion cells)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81498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962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B2067-DBAA-4D45-A5C8-6BE0C67C8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G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3BFBF98-DADD-4A95-8A48-25A9D74A5F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3" y="831273"/>
            <a:ext cx="9503449" cy="5345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443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DE6E3-7253-4986-889E-6307B1987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Morphogenesis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7A385-1966-47B8-B2E6-CDE1FE461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Definition:</a:t>
            </a:r>
            <a:br>
              <a:rPr lang="en-US" dirty="0"/>
            </a:br>
            <a:r>
              <a:rPr lang="en-US" dirty="0"/>
              <a:t>Morphogenesis refers to the biological process that causes an organism or organ to develop its shape and structure.</a:t>
            </a:r>
          </a:p>
          <a:p>
            <a:r>
              <a:rPr lang="en-US" b="1" dirty="0"/>
              <a:t>➤ In Plants:</a:t>
            </a:r>
          </a:p>
          <a:p>
            <a:r>
              <a:rPr lang="en-US" dirty="0"/>
              <a:t>Controlled by </a:t>
            </a:r>
            <a:r>
              <a:rPr lang="en-US" b="1" dirty="0"/>
              <a:t>genes, hormones</a:t>
            </a:r>
            <a:r>
              <a:rPr lang="en-US" dirty="0"/>
              <a:t>, and </a:t>
            </a:r>
            <a:r>
              <a:rPr lang="en-US" b="1" dirty="0"/>
              <a:t>environmental signals</a:t>
            </a:r>
            <a:endParaRPr lang="en-US" dirty="0"/>
          </a:p>
          <a:p>
            <a:r>
              <a:rPr lang="en-US" dirty="0"/>
              <a:t>Involves </a:t>
            </a:r>
            <a:r>
              <a:rPr lang="en-US" b="1" dirty="0"/>
              <a:t>cell division</a:t>
            </a:r>
            <a:r>
              <a:rPr lang="en-US" dirty="0"/>
              <a:t>, </a:t>
            </a:r>
            <a:r>
              <a:rPr lang="en-US" b="1" dirty="0"/>
              <a:t>expansion</a:t>
            </a:r>
            <a:r>
              <a:rPr lang="en-US" dirty="0"/>
              <a:t>, and </a:t>
            </a:r>
            <a:r>
              <a:rPr lang="en-US" b="1" dirty="0"/>
              <a:t>differentiation</a:t>
            </a:r>
            <a:endParaRPr lang="en-US" dirty="0"/>
          </a:p>
          <a:p>
            <a:r>
              <a:rPr lang="en-US" dirty="0"/>
              <a:t>Influences </a:t>
            </a:r>
            <a:r>
              <a:rPr lang="en-US" b="1" dirty="0"/>
              <a:t>organ formation</a:t>
            </a:r>
            <a:r>
              <a:rPr lang="en-US" dirty="0"/>
              <a:t> – roots, leaves, stems, flowers</a:t>
            </a:r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3231411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80ED2-64FC-4EAD-8CEF-118957354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97599-04E5-49F9-AD7F-DE15D8416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➤ Key Regulators:</a:t>
            </a:r>
          </a:p>
          <a:p>
            <a:r>
              <a:rPr lang="en-US" b="1" dirty="0"/>
              <a:t>Plant hormones</a:t>
            </a:r>
            <a:r>
              <a:rPr lang="en-US" dirty="0"/>
              <a:t>: Auxins, </a:t>
            </a:r>
            <a:r>
              <a:rPr lang="en-US" dirty="0" err="1"/>
              <a:t>cytokinins</a:t>
            </a:r>
            <a:r>
              <a:rPr lang="en-US" dirty="0"/>
              <a:t>, gibberellins, ethylene, and abscisic acid</a:t>
            </a:r>
          </a:p>
          <a:p>
            <a:r>
              <a:rPr lang="en-US" b="1" dirty="0"/>
              <a:t>Gene expression</a:t>
            </a:r>
            <a:r>
              <a:rPr lang="en-US" dirty="0"/>
              <a:t>: Developmental genes guide organ formation</a:t>
            </a:r>
          </a:p>
          <a:p>
            <a:r>
              <a:rPr lang="en-US" b="1" dirty="0"/>
              <a:t>Environmental cues</a:t>
            </a:r>
            <a:r>
              <a:rPr lang="en-US" dirty="0"/>
              <a:t>: Light, gravity, water, nutrients</a:t>
            </a:r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327475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82B7E-B14A-4155-BAFD-1EFE8FAD5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Seed Structure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E82B6-C240-4297-A866-9478E4D24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G" dirty="0"/>
              <a:t>A </a:t>
            </a:r>
            <a:r>
              <a:rPr lang="en-UG" b="1" dirty="0"/>
              <a:t>seed</a:t>
            </a:r>
            <a:r>
              <a:rPr lang="en-UG" dirty="0"/>
              <a:t> is a mature ovule containing an embryo, a food reserve, and a protective seed coat.</a:t>
            </a:r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4195609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37BBE-6770-444D-909B-70CCE332B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G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B449448-E6C0-4E68-816D-3F32272772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3960" y="1825625"/>
            <a:ext cx="830408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1041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AFE98-B4AD-425B-B1E7-9263F92F8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G" dirty="0"/>
              <a:t>Main Parts of a Seed:</a:t>
            </a:r>
            <a:br>
              <a:rPr lang="en-UG" dirty="0"/>
            </a:br>
            <a:endParaRPr lang="en-UG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588009D-3AD9-413F-B735-0FD812DD8A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6917" y="1825625"/>
            <a:ext cx="925816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302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EE9C6-82B5-4BA3-806F-44BE4968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3515"/>
          </a:xfrm>
        </p:spPr>
        <p:txBody>
          <a:bodyPr>
            <a:normAutofit fontScale="90000"/>
          </a:bodyPr>
          <a:lstStyle/>
          <a:p>
            <a:endParaRPr lang="en-UG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A9A7812-2958-4184-B1F2-EB4F41F59C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5000913"/>
              </p:ext>
            </p:extLst>
          </p:nvPr>
        </p:nvGraphicFramePr>
        <p:xfrm>
          <a:off x="838200" y="1404852"/>
          <a:ext cx="10515600" cy="5501856"/>
        </p:xfrm>
        <a:graphic>
          <a:graphicData uri="http://schemas.openxmlformats.org/drawingml/2006/table">
            <a:tbl>
              <a:tblPr firstRow="1" firstCol="1" bandRow="1"/>
              <a:tblGrid>
                <a:gridCol w="3210098">
                  <a:extLst>
                    <a:ext uri="{9D8B030D-6E8A-4147-A177-3AD203B41FA5}">
                      <a16:colId xmlns:a16="http://schemas.microsoft.com/office/drawing/2014/main" val="330224413"/>
                    </a:ext>
                  </a:extLst>
                </a:gridCol>
                <a:gridCol w="7305502">
                  <a:extLst>
                    <a:ext uri="{9D8B030D-6E8A-4147-A177-3AD203B41FA5}">
                      <a16:colId xmlns:a16="http://schemas.microsoft.com/office/drawing/2014/main" val="3925971003"/>
                    </a:ext>
                  </a:extLst>
                </a:gridCol>
              </a:tblGrid>
              <a:tr h="6107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G" sz="2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Part</a:t>
                      </a:r>
                      <a:endParaRPr lang="en-UG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G" sz="2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Function</a:t>
                      </a:r>
                      <a:endParaRPr lang="en-UG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2902501"/>
                  </a:ext>
                </a:extLst>
              </a:tr>
              <a:tr h="6107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G" sz="2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Seed coat (Testa)</a:t>
                      </a:r>
                      <a:endParaRPr lang="en-UG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G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Protective outer covering of the seed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203325"/>
                  </a:ext>
                </a:extLst>
              </a:tr>
              <a:tr h="183557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G" sz="2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Embryo</a:t>
                      </a:r>
                      <a:endParaRPr lang="en-UG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G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Young plant consisting of: - </a:t>
                      </a:r>
                      <a:r>
                        <a:rPr lang="en-UG" sz="2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Radicle</a:t>
                      </a:r>
                      <a:r>
                        <a:rPr lang="en-UG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(embryonic root) - </a:t>
                      </a:r>
                      <a:r>
                        <a:rPr lang="en-UG" sz="2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Plumule</a:t>
                      </a:r>
                      <a:r>
                        <a:rPr lang="en-UG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(embryonic shoot) - </a:t>
                      </a:r>
                      <a:r>
                        <a:rPr lang="en-UG" sz="2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Cotyledons</a:t>
                      </a:r>
                      <a:r>
                        <a:rPr lang="en-UG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(seed leaves that store or absorb food)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749725"/>
                  </a:ext>
                </a:extLst>
              </a:tr>
              <a:tr h="122317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G" sz="2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Endosperm</a:t>
                      </a:r>
                      <a:endParaRPr lang="en-UG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G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Nutrient-rich tissue that provides food for the developing embryo (in monocots)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7549111"/>
                  </a:ext>
                </a:extLst>
              </a:tr>
              <a:tr h="6107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G" sz="2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Hilum</a:t>
                      </a:r>
                      <a:endParaRPr lang="en-UG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G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Scar where seed was attached to the fruit or ovary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5919067"/>
                  </a:ext>
                </a:extLst>
              </a:tr>
              <a:tr h="6107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G" sz="2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Micropyle</a:t>
                      </a:r>
                      <a:endParaRPr lang="en-UG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G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Small pore for water entry during germination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8334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6969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630</Words>
  <Application>Microsoft Office PowerPoint</Application>
  <PresentationFormat>Widescreen</PresentationFormat>
  <Paragraphs>100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Introduction to Plant Physiology</vt:lpstr>
      <vt:lpstr>Plant Physiology</vt:lpstr>
      <vt:lpstr>Scope of Plant Physiology: </vt:lpstr>
      <vt:lpstr>Importance of Plant Physiology:</vt:lpstr>
      <vt:lpstr>PowerPoint Presentation</vt:lpstr>
      <vt:lpstr>PowerPoint Presentation</vt:lpstr>
      <vt:lpstr>The Plant Cell Structure</vt:lpstr>
      <vt:lpstr>PowerPoint Presentation</vt:lpstr>
      <vt:lpstr>Basic Cell Types in Plants</vt:lpstr>
      <vt:lpstr>PowerPoint Presentation</vt:lpstr>
      <vt:lpstr>Morphogenesis</vt:lpstr>
      <vt:lpstr>PowerPoint Presentation</vt:lpstr>
      <vt:lpstr>Seed Structure</vt:lpstr>
      <vt:lpstr>PowerPoint Presentation</vt:lpstr>
      <vt:lpstr>Main Parts of a Seed: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plant phyiology</dc:title>
  <dc:creator>KABALE UNIVERSITY</dc:creator>
  <cp:lastModifiedBy>KABALE UNIVERSITY</cp:lastModifiedBy>
  <cp:revision>11</cp:revision>
  <dcterms:created xsi:type="dcterms:W3CDTF">2025-10-13T07:12:10Z</dcterms:created>
  <dcterms:modified xsi:type="dcterms:W3CDTF">2025-10-13T09:37:48Z</dcterms:modified>
</cp:coreProperties>
</file>