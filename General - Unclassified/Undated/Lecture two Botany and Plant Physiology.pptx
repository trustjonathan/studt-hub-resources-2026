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59" r:id="rId6"/>
    <p:sldId id="260" r:id="rId7"/>
    <p:sldId id="262" r:id="rId8"/>
    <p:sldId id="263" r:id="rId9"/>
    <p:sldId id="264" r:id="rId10"/>
    <p:sldId id="270" r:id="rId11"/>
    <p:sldId id="265" r:id="rId12"/>
    <p:sldId id="266" r:id="rId13"/>
    <p:sldId id="267" r:id="rId14"/>
    <p:sldId id="268" r:id="rId15"/>
    <p:sldId id="269" r:id="rId16"/>
    <p:sldId id="271" r:id="rId17"/>
    <p:sldId id="272" r:id="rId18"/>
    <p:sldId id="273" r:id="rId19"/>
    <p:sldId id="287" r:id="rId20"/>
    <p:sldId id="275" r:id="rId21"/>
    <p:sldId id="285" r:id="rId22"/>
    <p:sldId id="288" r:id="rId23"/>
    <p:sldId id="289" r:id="rId24"/>
    <p:sldId id="290" r:id="rId25"/>
    <p:sldId id="291" r:id="rId26"/>
    <p:sldId id="293" r:id="rId27"/>
    <p:sldId id="292" r:id="rId28"/>
    <p:sldId id="276" r:id="rId29"/>
    <p:sldId id="286" r:id="rId30"/>
    <p:sldId id="277" r:id="rId31"/>
    <p:sldId id="278" r:id="rId32"/>
    <p:sldId id="279" r:id="rId33"/>
    <p:sldId id="280" r:id="rId34"/>
    <p:sldId id="281" r:id="rId35"/>
    <p:sldId id="282" r:id="rId36"/>
    <p:sldId id="294" r:id="rId37"/>
    <p:sldId id="283" r:id="rId38"/>
    <p:sldId id="284" r:id="rId39"/>
  </p:sldIdLst>
  <p:sldSz cx="12192000" cy="6858000"/>
  <p:notesSz cx="6858000" cy="9144000"/>
  <p:defaultText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7" d="100"/>
          <a:sy n="77" d="100"/>
        </p:scale>
        <p:origin x="23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7B804-A417-45D9-B9B8-3361B9EA8C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G"/>
          </a:p>
        </p:txBody>
      </p:sp>
      <p:sp>
        <p:nvSpPr>
          <p:cNvPr id="3" name="Subtitle 2">
            <a:extLst>
              <a:ext uri="{FF2B5EF4-FFF2-40B4-BE49-F238E27FC236}">
                <a16:creationId xmlns:a16="http://schemas.microsoft.com/office/drawing/2014/main" id="{031CBE46-6575-4094-9FAB-4FE3B22751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G"/>
          </a:p>
        </p:txBody>
      </p:sp>
      <p:sp>
        <p:nvSpPr>
          <p:cNvPr id="4" name="Date Placeholder 3">
            <a:extLst>
              <a:ext uri="{FF2B5EF4-FFF2-40B4-BE49-F238E27FC236}">
                <a16:creationId xmlns:a16="http://schemas.microsoft.com/office/drawing/2014/main" id="{E5FA6FF1-CA35-4DF9-9160-B1BA2514914E}"/>
              </a:ext>
            </a:extLst>
          </p:cNvPr>
          <p:cNvSpPr>
            <a:spLocks noGrp="1"/>
          </p:cNvSpPr>
          <p:nvPr>
            <p:ph type="dt" sz="half" idx="10"/>
          </p:nvPr>
        </p:nvSpPr>
        <p:spPr/>
        <p:txBody>
          <a:bodyPr/>
          <a:lstStyle/>
          <a:p>
            <a:fld id="{55DE3B7F-B82B-481A-9979-08A41D1A24C2}" type="datetimeFigureOut">
              <a:rPr lang="en-UG" smtClean="0"/>
              <a:t>08/09/2025</a:t>
            </a:fld>
            <a:endParaRPr lang="en-UG"/>
          </a:p>
        </p:txBody>
      </p:sp>
      <p:sp>
        <p:nvSpPr>
          <p:cNvPr id="5" name="Footer Placeholder 4">
            <a:extLst>
              <a:ext uri="{FF2B5EF4-FFF2-40B4-BE49-F238E27FC236}">
                <a16:creationId xmlns:a16="http://schemas.microsoft.com/office/drawing/2014/main" id="{B6C551A4-46D4-4B8E-AEE3-D70EAD0D1730}"/>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094D50A5-038A-46FA-BE74-50A1D486C6F0}"/>
              </a:ext>
            </a:extLst>
          </p:cNvPr>
          <p:cNvSpPr>
            <a:spLocks noGrp="1"/>
          </p:cNvSpPr>
          <p:nvPr>
            <p:ph type="sldNum" sz="quarter" idx="12"/>
          </p:nvPr>
        </p:nvSpPr>
        <p:spPr/>
        <p:txBody>
          <a:bodyPr/>
          <a:lstStyle/>
          <a:p>
            <a:fld id="{B8E3E0A7-94BE-4B14-8B75-EDAEA95E4B2B}" type="slidenum">
              <a:rPr lang="en-UG" smtClean="0"/>
              <a:t>‹#›</a:t>
            </a:fld>
            <a:endParaRPr lang="en-UG"/>
          </a:p>
        </p:txBody>
      </p:sp>
    </p:spTree>
    <p:extLst>
      <p:ext uri="{BB962C8B-B14F-4D97-AF65-F5344CB8AC3E}">
        <p14:creationId xmlns:p14="http://schemas.microsoft.com/office/powerpoint/2010/main" val="1718927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B8266-01A7-424D-820D-039647BFE3F6}"/>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DE4F9369-009D-46BB-87DA-831571B8AC7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9DB70B8A-0471-420A-9C71-5AC2B56C5389}"/>
              </a:ext>
            </a:extLst>
          </p:cNvPr>
          <p:cNvSpPr>
            <a:spLocks noGrp="1"/>
          </p:cNvSpPr>
          <p:nvPr>
            <p:ph type="dt" sz="half" idx="10"/>
          </p:nvPr>
        </p:nvSpPr>
        <p:spPr/>
        <p:txBody>
          <a:bodyPr/>
          <a:lstStyle/>
          <a:p>
            <a:fld id="{55DE3B7F-B82B-481A-9979-08A41D1A24C2}" type="datetimeFigureOut">
              <a:rPr lang="en-UG" smtClean="0"/>
              <a:t>08/09/2025</a:t>
            </a:fld>
            <a:endParaRPr lang="en-UG"/>
          </a:p>
        </p:txBody>
      </p:sp>
      <p:sp>
        <p:nvSpPr>
          <p:cNvPr id="5" name="Footer Placeholder 4">
            <a:extLst>
              <a:ext uri="{FF2B5EF4-FFF2-40B4-BE49-F238E27FC236}">
                <a16:creationId xmlns:a16="http://schemas.microsoft.com/office/drawing/2014/main" id="{3CCBB702-29A0-4B95-B932-0B356A8EA90B}"/>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DAE9EB83-6A27-481B-A33A-24CE7B37BC6F}"/>
              </a:ext>
            </a:extLst>
          </p:cNvPr>
          <p:cNvSpPr>
            <a:spLocks noGrp="1"/>
          </p:cNvSpPr>
          <p:nvPr>
            <p:ph type="sldNum" sz="quarter" idx="12"/>
          </p:nvPr>
        </p:nvSpPr>
        <p:spPr/>
        <p:txBody>
          <a:bodyPr/>
          <a:lstStyle/>
          <a:p>
            <a:fld id="{B8E3E0A7-94BE-4B14-8B75-EDAEA95E4B2B}" type="slidenum">
              <a:rPr lang="en-UG" smtClean="0"/>
              <a:t>‹#›</a:t>
            </a:fld>
            <a:endParaRPr lang="en-UG"/>
          </a:p>
        </p:txBody>
      </p:sp>
    </p:spTree>
    <p:extLst>
      <p:ext uri="{BB962C8B-B14F-4D97-AF65-F5344CB8AC3E}">
        <p14:creationId xmlns:p14="http://schemas.microsoft.com/office/powerpoint/2010/main" val="3521584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A22E8-99DB-4F70-903E-DA94B0CEF4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G"/>
          </a:p>
        </p:txBody>
      </p:sp>
      <p:sp>
        <p:nvSpPr>
          <p:cNvPr id="3" name="Text Placeholder 2">
            <a:extLst>
              <a:ext uri="{FF2B5EF4-FFF2-40B4-BE49-F238E27FC236}">
                <a16:creationId xmlns:a16="http://schemas.microsoft.com/office/drawing/2014/main" id="{92AB28C6-903B-488A-BED4-0450186CBF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F060D45-FB30-48D6-8BE2-929DAEA1F810}"/>
              </a:ext>
            </a:extLst>
          </p:cNvPr>
          <p:cNvSpPr>
            <a:spLocks noGrp="1"/>
          </p:cNvSpPr>
          <p:nvPr>
            <p:ph type="dt" sz="half" idx="10"/>
          </p:nvPr>
        </p:nvSpPr>
        <p:spPr/>
        <p:txBody>
          <a:bodyPr/>
          <a:lstStyle/>
          <a:p>
            <a:fld id="{55DE3B7F-B82B-481A-9979-08A41D1A24C2}" type="datetimeFigureOut">
              <a:rPr lang="en-UG" smtClean="0"/>
              <a:t>08/09/2025</a:t>
            </a:fld>
            <a:endParaRPr lang="en-UG"/>
          </a:p>
        </p:txBody>
      </p:sp>
      <p:sp>
        <p:nvSpPr>
          <p:cNvPr id="5" name="Footer Placeholder 4">
            <a:extLst>
              <a:ext uri="{FF2B5EF4-FFF2-40B4-BE49-F238E27FC236}">
                <a16:creationId xmlns:a16="http://schemas.microsoft.com/office/drawing/2014/main" id="{CD9DF820-07DD-4E6B-876E-90AD6A6AA00E}"/>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23664EF0-35B3-42B7-AE49-2CD13EC1D54E}"/>
              </a:ext>
            </a:extLst>
          </p:cNvPr>
          <p:cNvSpPr>
            <a:spLocks noGrp="1"/>
          </p:cNvSpPr>
          <p:nvPr>
            <p:ph type="sldNum" sz="quarter" idx="12"/>
          </p:nvPr>
        </p:nvSpPr>
        <p:spPr/>
        <p:txBody>
          <a:bodyPr/>
          <a:lstStyle/>
          <a:p>
            <a:fld id="{B8E3E0A7-94BE-4B14-8B75-EDAEA95E4B2B}" type="slidenum">
              <a:rPr lang="en-UG" smtClean="0"/>
              <a:t>‹#›</a:t>
            </a:fld>
            <a:endParaRPr lang="en-UG"/>
          </a:p>
        </p:txBody>
      </p:sp>
    </p:spTree>
    <p:extLst>
      <p:ext uri="{BB962C8B-B14F-4D97-AF65-F5344CB8AC3E}">
        <p14:creationId xmlns:p14="http://schemas.microsoft.com/office/powerpoint/2010/main" val="1844988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7CF70-1D0C-4B3A-A993-5384C9CB2174}"/>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E6D3D9CC-AC24-422D-BF6C-0AC3D0DED0F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Content Placeholder 3">
            <a:extLst>
              <a:ext uri="{FF2B5EF4-FFF2-40B4-BE49-F238E27FC236}">
                <a16:creationId xmlns:a16="http://schemas.microsoft.com/office/drawing/2014/main" id="{878E564D-1C0D-4957-BC63-2842E94A593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Date Placeholder 4">
            <a:extLst>
              <a:ext uri="{FF2B5EF4-FFF2-40B4-BE49-F238E27FC236}">
                <a16:creationId xmlns:a16="http://schemas.microsoft.com/office/drawing/2014/main" id="{BB13827F-804E-4306-9B07-02CF26DCA37A}"/>
              </a:ext>
            </a:extLst>
          </p:cNvPr>
          <p:cNvSpPr>
            <a:spLocks noGrp="1"/>
          </p:cNvSpPr>
          <p:nvPr>
            <p:ph type="dt" sz="half" idx="10"/>
          </p:nvPr>
        </p:nvSpPr>
        <p:spPr/>
        <p:txBody>
          <a:bodyPr/>
          <a:lstStyle/>
          <a:p>
            <a:fld id="{55DE3B7F-B82B-481A-9979-08A41D1A24C2}" type="datetimeFigureOut">
              <a:rPr lang="en-UG" smtClean="0"/>
              <a:t>08/09/2025</a:t>
            </a:fld>
            <a:endParaRPr lang="en-UG"/>
          </a:p>
        </p:txBody>
      </p:sp>
      <p:sp>
        <p:nvSpPr>
          <p:cNvPr id="6" name="Footer Placeholder 5">
            <a:extLst>
              <a:ext uri="{FF2B5EF4-FFF2-40B4-BE49-F238E27FC236}">
                <a16:creationId xmlns:a16="http://schemas.microsoft.com/office/drawing/2014/main" id="{68360869-7BA7-4034-801E-90760DD5C0E1}"/>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2B946555-87AD-43A5-A63F-4D60B13458EF}"/>
              </a:ext>
            </a:extLst>
          </p:cNvPr>
          <p:cNvSpPr>
            <a:spLocks noGrp="1"/>
          </p:cNvSpPr>
          <p:nvPr>
            <p:ph type="sldNum" sz="quarter" idx="12"/>
          </p:nvPr>
        </p:nvSpPr>
        <p:spPr/>
        <p:txBody>
          <a:bodyPr/>
          <a:lstStyle/>
          <a:p>
            <a:fld id="{B8E3E0A7-94BE-4B14-8B75-EDAEA95E4B2B}" type="slidenum">
              <a:rPr lang="en-UG" smtClean="0"/>
              <a:t>‹#›</a:t>
            </a:fld>
            <a:endParaRPr lang="en-UG"/>
          </a:p>
        </p:txBody>
      </p:sp>
    </p:spTree>
    <p:extLst>
      <p:ext uri="{BB962C8B-B14F-4D97-AF65-F5344CB8AC3E}">
        <p14:creationId xmlns:p14="http://schemas.microsoft.com/office/powerpoint/2010/main" val="3404316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E57FB-A140-4D53-A82F-A7054DCB982B}"/>
              </a:ext>
            </a:extLst>
          </p:cNvPr>
          <p:cNvSpPr>
            <a:spLocks noGrp="1"/>
          </p:cNvSpPr>
          <p:nvPr>
            <p:ph type="title"/>
          </p:nvPr>
        </p:nvSpPr>
        <p:spPr>
          <a:xfrm>
            <a:off x="839788" y="365125"/>
            <a:ext cx="10515600" cy="1325563"/>
          </a:xfrm>
        </p:spPr>
        <p:txBody>
          <a:bodyPr/>
          <a:lstStyle/>
          <a:p>
            <a:r>
              <a:rPr lang="en-US"/>
              <a:t>Click to edit Master title style</a:t>
            </a:r>
            <a:endParaRPr lang="en-UG"/>
          </a:p>
        </p:txBody>
      </p:sp>
      <p:sp>
        <p:nvSpPr>
          <p:cNvPr id="3" name="Text Placeholder 2">
            <a:extLst>
              <a:ext uri="{FF2B5EF4-FFF2-40B4-BE49-F238E27FC236}">
                <a16:creationId xmlns:a16="http://schemas.microsoft.com/office/drawing/2014/main" id="{51561E9A-87D6-4451-9223-742791B6F9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E53CA83-E7C2-462C-B87D-B84475A3FD4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Text Placeholder 4">
            <a:extLst>
              <a:ext uri="{FF2B5EF4-FFF2-40B4-BE49-F238E27FC236}">
                <a16:creationId xmlns:a16="http://schemas.microsoft.com/office/drawing/2014/main" id="{E0BD4547-40A8-42CA-9F90-9A86C8C9A0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C6B3937-0044-4B99-B7BC-5BB98CBCC91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7" name="Date Placeholder 6">
            <a:extLst>
              <a:ext uri="{FF2B5EF4-FFF2-40B4-BE49-F238E27FC236}">
                <a16:creationId xmlns:a16="http://schemas.microsoft.com/office/drawing/2014/main" id="{C3E0BC14-B8F4-492F-9FD7-82FEAE892755}"/>
              </a:ext>
            </a:extLst>
          </p:cNvPr>
          <p:cNvSpPr>
            <a:spLocks noGrp="1"/>
          </p:cNvSpPr>
          <p:nvPr>
            <p:ph type="dt" sz="half" idx="10"/>
          </p:nvPr>
        </p:nvSpPr>
        <p:spPr/>
        <p:txBody>
          <a:bodyPr/>
          <a:lstStyle/>
          <a:p>
            <a:fld id="{55DE3B7F-B82B-481A-9979-08A41D1A24C2}" type="datetimeFigureOut">
              <a:rPr lang="en-UG" smtClean="0"/>
              <a:t>08/09/2025</a:t>
            </a:fld>
            <a:endParaRPr lang="en-UG"/>
          </a:p>
        </p:txBody>
      </p:sp>
      <p:sp>
        <p:nvSpPr>
          <p:cNvPr id="8" name="Footer Placeholder 7">
            <a:extLst>
              <a:ext uri="{FF2B5EF4-FFF2-40B4-BE49-F238E27FC236}">
                <a16:creationId xmlns:a16="http://schemas.microsoft.com/office/drawing/2014/main" id="{ABFE9A04-4103-416F-9B1D-52F612178B77}"/>
              </a:ext>
            </a:extLst>
          </p:cNvPr>
          <p:cNvSpPr>
            <a:spLocks noGrp="1"/>
          </p:cNvSpPr>
          <p:nvPr>
            <p:ph type="ftr" sz="quarter" idx="11"/>
          </p:nvPr>
        </p:nvSpPr>
        <p:spPr/>
        <p:txBody>
          <a:bodyPr/>
          <a:lstStyle/>
          <a:p>
            <a:endParaRPr lang="en-UG"/>
          </a:p>
        </p:txBody>
      </p:sp>
      <p:sp>
        <p:nvSpPr>
          <p:cNvPr id="9" name="Slide Number Placeholder 8">
            <a:extLst>
              <a:ext uri="{FF2B5EF4-FFF2-40B4-BE49-F238E27FC236}">
                <a16:creationId xmlns:a16="http://schemas.microsoft.com/office/drawing/2014/main" id="{B2626A9E-9E78-490F-9356-C06CBBFDB1A7}"/>
              </a:ext>
            </a:extLst>
          </p:cNvPr>
          <p:cNvSpPr>
            <a:spLocks noGrp="1"/>
          </p:cNvSpPr>
          <p:nvPr>
            <p:ph type="sldNum" sz="quarter" idx="12"/>
          </p:nvPr>
        </p:nvSpPr>
        <p:spPr/>
        <p:txBody>
          <a:bodyPr/>
          <a:lstStyle/>
          <a:p>
            <a:fld id="{B8E3E0A7-94BE-4B14-8B75-EDAEA95E4B2B}" type="slidenum">
              <a:rPr lang="en-UG" smtClean="0"/>
              <a:t>‹#›</a:t>
            </a:fld>
            <a:endParaRPr lang="en-UG"/>
          </a:p>
        </p:txBody>
      </p:sp>
    </p:spTree>
    <p:extLst>
      <p:ext uri="{BB962C8B-B14F-4D97-AF65-F5344CB8AC3E}">
        <p14:creationId xmlns:p14="http://schemas.microsoft.com/office/powerpoint/2010/main" val="684441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4FE4C-607B-438D-968F-64B65D4E4254}"/>
              </a:ext>
            </a:extLst>
          </p:cNvPr>
          <p:cNvSpPr>
            <a:spLocks noGrp="1"/>
          </p:cNvSpPr>
          <p:nvPr>
            <p:ph type="title"/>
          </p:nvPr>
        </p:nvSpPr>
        <p:spPr/>
        <p:txBody>
          <a:bodyPr/>
          <a:lstStyle/>
          <a:p>
            <a:r>
              <a:rPr lang="en-US"/>
              <a:t>Click to edit Master title style</a:t>
            </a:r>
            <a:endParaRPr lang="en-UG"/>
          </a:p>
        </p:txBody>
      </p:sp>
      <p:sp>
        <p:nvSpPr>
          <p:cNvPr id="3" name="Date Placeholder 2">
            <a:extLst>
              <a:ext uri="{FF2B5EF4-FFF2-40B4-BE49-F238E27FC236}">
                <a16:creationId xmlns:a16="http://schemas.microsoft.com/office/drawing/2014/main" id="{2A8D9F1D-3473-4310-8BAA-607724560D51}"/>
              </a:ext>
            </a:extLst>
          </p:cNvPr>
          <p:cNvSpPr>
            <a:spLocks noGrp="1"/>
          </p:cNvSpPr>
          <p:nvPr>
            <p:ph type="dt" sz="half" idx="10"/>
          </p:nvPr>
        </p:nvSpPr>
        <p:spPr/>
        <p:txBody>
          <a:bodyPr/>
          <a:lstStyle/>
          <a:p>
            <a:fld id="{55DE3B7F-B82B-481A-9979-08A41D1A24C2}" type="datetimeFigureOut">
              <a:rPr lang="en-UG" smtClean="0"/>
              <a:t>08/09/2025</a:t>
            </a:fld>
            <a:endParaRPr lang="en-UG"/>
          </a:p>
        </p:txBody>
      </p:sp>
      <p:sp>
        <p:nvSpPr>
          <p:cNvPr id="4" name="Footer Placeholder 3">
            <a:extLst>
              <a:ext uri="{FF2B5EF4-FFF2-40B4-BE49-F238E27FC236}">
                <a16:creationId xmlns:a16="http://schemas.microsoft.com/office/drawing/2014/main" id="{FE9D3123-C1DD-4B65-96E8-ED6FCBE59323}"/>
              </a:ext>
            </a:extLst>
          </p:cNvPr>
          <p:cNvSpPr>
            <a:spLocks noGrp="1"/>
          </p:cNvSpPr>
          <p:nvPr>
            <p:ph type="ftr" sz="quarter" idx="11"/>
          </p:nvPr>
        </p:nvSpPr>
        <p:spPr/>
        <p:txBody>
          <a:bodyPr/>
          <a:lstStyle/>
          <a:p>
            <a:endParaRPr lang="en-UG"/>
          </a:p>
        </p:txBody>
      </p:sp>
      <p:sp>
        <p:nvSpPr>
          <p:cNvPr id="5" name="Slide Number Placeholder 4">
            <a:extLst>
              <a:ext uri="{FF2B5EF4-FFF2-40B4-BE49-F238E27FC236}">
                <a16:creationId xmlns:a16="http://schemas.microsoft.com/office/drawing/2014/main" id="{AEBBD346-32DE-4362-97ED-027733E83C0C}"/>
              </a:ext>
            </a:extLst>
          </p:cNvPr>
          <p:cNvSpPr>
            <a:spLocks noGrp="1"/>
          </p:cNvSpPr>
          <p:nvPr>
            <p:ph type="sldNum" sz="quarter" idx="12"/>
          </p:nvPr>
        </p:nvSpPr>
        <p:spPr/>
        <p:txBody>
          <a:bodyPr/>
          <a:lstStyle/>
          <a:p>
            <a:fld id="{B8E3E0A7-94BE-4B14-8B75-EDAEA95E4B2B}" type="slidenum">
              <a:rPr lang="en-UG" smtClean="0"/>
              <a:t>‹#›</a:t>
            </a:fld>
            <a:endParaRPr lang="en-UG"/>
          </a:p>
        </p:txBody>
      </p:sp>
    </p:spTree>
    <p:extLst>
      <p:ext uri="{BB962C8B-B14F-4D97-AF65-F5344CB8AC3E}">
        <p14:creationId xmlns:p14="http://schemas.microsoft.com/office/powerpoint/2010/main" val="3333897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25CA3-9B18-4FA9-9888-B5571C0A6479}"/>
              </a:ext>
            </a:extLst>
          </p:cNvPr>
          <p:cNvSpPr>
            <a:spLocks noGrp="1"/>
          </p:cNvSpPr>
          <p:nvPr>
            <p:ph type="dt" sz="half" idx="10"/>
          </p:nvPr>
        </p:nvSpPr>
        <p:spPr/>
        <p:txBody>
          <a:bodyPr/>
          <a:lstStyle/>
          <a:p>
            <a:fld id="{55DE3B7F-B82B-481A-9979-08A41D1A24C2}" type="datetimeFigureOut">
              <a:rPr lang="en-UG" smtClean="0"/>
              <a:t>08/09/2025</a:t>
            </a:fld>
            <a:endParaRPr lang="en-UG"/>
          </a:p>
        </p:txBody>
      </p:sp>
      <p:sp>
        <p:nvSpPr>
          <p:cNvPr id="3" name="Footer Placeholder 2">
            <a:extLst>
              <a:ext uri="{FF2B5EF4-FFF2-40B4-BE49-F238E27FC236}">
                <a16:creationId xmlns:a16="http://schemas.microsoft.com/office/drawing/2014/main" id="{FD3A58AF-2F14-4FCA-B46F-A9A9FEDF2B5C}"/>
              </a:ext>
            </a:extLst>
          </p:cNvPr>
          <p:cNvSpPr>
            <a:spLocks noGrp="1"/>
          </p:cNvSpPr>
          <p:nvPr>
            <p:ph type="ftr" sz="quarter" idx="11"/>
          </p:nvPr>
        </p:nvSpPr>
        <p:spPr/>
        <p:txBody>
          <a:bodyPr/>
          <a:lstStyle/>
          <a:p>
            <a:endParaRPr lang="en-UG"/>
          </a:p>
        </p:txBody>
      </p:sp>
      <p:sp>
        <p:nvSpPr>
          <p:cNvPr id="4" name="Slide Number Placeholder 3">
            <a:extLst>
              <a:ext uri="{FF2B5EF4-FFF2-40B4-BE49-F238E27FC236}">
                <a16:creationId xmlns:a16="http://schemas.microsoft.com/office/drawing/2014/main" id="{96D1E71E-1675-4034-91FB-B3CB69606A32}"/>
              </a:ext>
            </a:extLst>
          </p:cNvPr>
          <p:cNvSpPr>
            <a:spLocks noGrp="1"/>
          </p:cNvSpPr>
          <p:nvPr>
            <p:ph type="sldNum" sz="quarter" idx="12"/>
          </p:nvPr>
        </p:nvSpPr>
        <p:spPr/>
        <p:txBody>
          <a:bodyPr/>
          <a:lstStyle/>
          <a:p>
            <a:fld id="{B8E3E0A7-94BE-4B14-8B75-EDAEA95E4B2B}" type="slidenum">
              <a:rPr lang="en-UG" smtClean="0"/>
              <a:t>‹#›</a:t>
            </a:fld>
            <a:endParaRPr lang="en-UG"/>
          </a:p>
        </p:txBody>
      </p:sp>
    </p:spTree>
    <p:extLst>
      <p:ext uri="{BB962C8B-B14F-4D97-AF65-F5344CB8AC3E}">
        <p14:creationId xmlns:p14="http://schemas.microsoft.com/office/powerpoint/2010/main" val="2906086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DCD8C-F50A-4A72-B32F-4BDE34E1D6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G"/>
          </a:p>
        </p:txBody>
      </p:sp>
      <p:sp>
        <p:nvSpPr>
          <p:cNvPr id="3" name="Content Placeholder 2">
            <a:extLst>
              <a:ext uri="{FF2B5EF4-FFF2-40B4-BE49-F238E27FC236}">
                <a16:creationId xmlns:a16="http://schemas.microsoft.com/office/drawing/2014/main" id="{76A5075C-EBEA-4210-A992-A164078838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Text Placeholder 3">
            <a:extLst>
              <a:ext uri="{FF2B5EF4-FFF2-40B4-BE49-F238E27FC236}">
                <a16:creationId xmlns:a16="http://schemas.microsoft.com/office/drawing/2014/main" id="{7EEB8397-8725-48A3-8E2A-88A85BE0CF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36F16A8-1734-4CBB-AEE0-8AC8D4FE717C}"/>
              </a:ext>
            </a:extLst>
          </p:cNvPr>
          <p:cNvSpPr>
            <a:spLocks noGrp="1"/>
          </p:cNvSpPr>
          <p:nvPr>
            <p:ph type="dt" sz="half" idx="10"/>
          </p:nvPr>
        </p:nvSpPr>
        <p:spPr/>
        <p:txBody>
          <a:bodyPr/>
          <a:lstStyle/>
          <a:p>
            <a:fld id="{55DE3B7F-B82B-481A-9979-08A41D1A24C2}" type="datetimeFigureOut">
              <a:rPr lang="en-UG" smtClean="0"/>
              <a:t>08/09/2025</a:t>
            </a:fld>
            <a:endParaRPr lang="en-UG"/>
          </a:p>
        </p:txBody>
      </p:sp>
      <p:sp>
        <p:nvSpPr>
          <p:cNvPr id="6" name="Footer Placeholder 5">
            <a:extLst>
              <a:ext uri="{FF2B5EF4-FFF2-40B4-BE49-F238E27FC236}">
                <a16:creationId xmlns:a16="http://schemas.microsoft.com/office/drawing/2014/main" id="{3C5DD377-C12A-4037-B9AB-954DFAE606E9}"/>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21B77276-B4E8-4CB5-BCE7-AB1B7342EF67}"/>
              </a:ext>
            </a:extLst>
          </p:cNvPr>
          <p:cNvSpPr>
            <a:spLocks noGrp="1"/>
          </p:cNvSpPr>
          <p:nvPr>
            <p:ph type="sldNum" sz="quarter" idx="12"/>
          </p:nvPr>
        </p:nvSpPr>
        <p:spPr/>
        <p:txBody>
          <a:bodyPr/>
          <a:lstStyle/>
          <a:p>
            <a:fld id="{B8E3E0A7-94BE-4B14-8B75-EDAEA95E4B2B}" type="slidenum">
              <a:rPr lang="en-UG" smtClean="0"/>
              <a:t>‹#›</a:t>
            </a:fld>
            <a:endParaRPr lang="en-UG"/>
          </a:p>
        </p:txBody>
      </p:sp>
    </p:spTree>
    <p:extLst>
      <p:ext uri="{BB962C8B-B14F-4D97-AF65-F5344CB8AC3E}">
        <p14:creationId xmlns:p14="http://schemas.microsoft.com/office/powerpoint/2010/main" val="961181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01118-7A1A-4EAA-8E9A-6CFAF051AB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G"/>
          </a:p>
        </p:txBody>
      </p:sp>
      <p:sp>
        <p:nvSpPr>
          <p:cNvPr id="3" name="Picture Placeholder 2">
            <a:extLst>
              <a:ext uri="{FF2B5EF4-FFF2-40B4-BE49-F238E27FC236}">
                <a16:creationId xmlns:a16="http://schemas.microsoft.com/office/drawing/2014/main" id="{D62BFA7C-AEF9-4747-8695-E417B0C0A4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G"/>
          </a:p>
        </p:txBody>
      </p:sp>
      <p:sp>
        <p:nvSpPr>
          <p:cNvPr id="4" name="Text Placeholder 3">
            <a:extLst>
              <a:ext uri="{FF2B5EF4-FFF2-40B4-BE49-F238E27FC236}">
                <a16:creationId xmlns:a16="http://schemas.microsoft.com/office/drawing/2014/main" id="{36D0466F-3259-4F46-B6D0-6891DF5D7A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A59A0FF-B9A0-4E0F-9A86-CE1351DF91FF}"/>
              </a:ext>
            </a:extLst>
          </p:cNvPr>
          <p:cNvSpPr>
            <a:spLocks noGrp="1"/>
          </p:cNvSpPr>
          <p:nvPr>
            <p:ph type="dt" sz="half" idx="10"/>
          </p:nvPr>
        </p:nvSpPr>
        <p:spPr/>
        <p:txBody>
          <a:bodyPr/>
          <a:lstStyle/>
          <a:p>
            <a:fld id="{55DE3B7F-B82B-481A-9979-08A41D1A24C2}" type="datetimeFigureOut">
              <a:rPr lang="en-UG" smtClean="0"/>
              <a:t>08/09/2025</a:t>
            </a:fld>
            <a:endParaRPr lang="en-UG"/>
          </a:p>
        </p:txBody>
      </p:sp>
      <p:sp>
        <p:nvSpPr>
          <p:cNvPr id="6" name="Footer Placeholder 5">
            <a:extLst>
              <a:ext uri="{FF2B5EF4-FFF2-40B4-BE49-F238E27FC236}">
                <a16:creationId xmlns:a16="http://schemas.microsoft.com/office/drawing/2014/main" id="{F9B6331D-6240-4505-B4C4-8022A6757031}"/>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EB73D3F2-4C22-4709-B0F9-C76D57231045}"/>
              </a:ext>
            </a:extLst>
          </p:cNvPr>
          <p:cNvSpPr>
            <a:spLocks noGrp="1"/>
          </p:cNvSpPr>
          <p:nvPr>
            <p:ph type="sldNum" sz="quarter" idx="12"/>
          </p:nvPr>
        </p:nvSpPr>
        <p:spPr/>
        <p:txBody>
          <a:bodyPr/>
          <a:lstStyle/>
          <a:p>
            <a:fld id="{B8E3E0A7-94BE-4B14-8B75-EDAEA95E4B2B}" type="slidenum">
              <a:rPr lang="en-UG" smtClean="0"/>
              <a:t>‹#›</a:t>
            </a:fld>
            <a:endParaRPr lang="en-UG"/>
          </a:p>
        </p:txBody>
      </p:sp>
    </p:spTree>
    <p:extLst>
      <p:ext uri="{BB962C8B-B14F-4D97-AF65-F5344CB8AC3E}">
        <p14:creationId xmlns:p14="http://schemas.microsoft.com/office/powerpoint/2010/main" val="3130908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7DF3C-F9D4-44D6-8F14-C4C34DB19604}"/>
              </a:ext>
            </a:extLst>
          </p:cNvPr>
          <p:cNvSpPr>
            <a:spLocks noGrp="1"/>
          </p:cNvSpPr>
          <p:nvPr>
            <p:ph type="title"/>
          </p:nvPr>
        </p:nvSpPr>
        <p:spPr/>
        <p:txBody>
          <a:bodyPr/>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A0940C28-D126-4BAE-98DD-3ABF67DCEFB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B2EC78E1-32E8-4B40-8BE1-72B8A38AE648}"/>
              </a:ext>
            </a:extLst>
          </p:cNvPr>
          <p:cNvSpPr>
            <a:spLocks noGrp="1"/>
          </p:cNvSpPr>
          <p:nvPr>
            <p:ph type="dt" sz="half" idx="10"/>
          </p:nvPr>
        </p:nvSpPr>
        <p:spPr/>
        <p:txBody>
          <a:bodyPr/>
          <a:lstStyle/>
          <a:p>
            <a:fld id="{55DE3B7F-B82B-481A-9979-08A41D1A24C2}" type="datetimeFigureOut">
              <a:rPr lang="en-UG" smtClean="0"/>
              <a:t>08/09/2025</a:t>
            </a:fld>
            <a:endParaRPr lang="en-UG"/>
          </a:p>
        </p:txBody>
      </p:sp>
      <p:sp>
        <p:nvSpPr>
          <p:cNvPr id="5" name="Footer Placeholder 4">
            <a:extLst>
              <a:ext uri="{FF2B5EF4-FFF2-40B4-BE49-F238E27FC236}">
                <a16:creationId xmlns:a16="http://schemas.microsoft.com/office/drawing/2014/main" id="{163A64CA-4CDB-401F-9B1C-B1760173A519}"/>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99D3635A-C430-4E57-89E6-7CF196230195}"/>
              </a:ext>
            </a:extLst>
          </p:cNvPr>
          <p:cNvSpPr>
            <a:spLocks noGrp="1"/>
          </p:cNvSpPr>
          <p:nvPr>
            <p:ph type="sldNum" sz="quarter" idx="12"/>
          </p:nvPr>
        </p:nvSpPr>
        <p:spPr/>
        <p:txBody>
          <a:bodyPr/>
          <a:lstStyle/>
          <a:p>
            <a:fld id="{B8E3E0A7-94BE-4B14-8B75-EDAEA95E4B2B}" type="slidenum">
              <a:rPr lang="en-UG" smtClean="0"/>
              <a:t>‹#›</a:t>
            </a:fld>
            <a:endParaRPr lang="en-UG"/>
          </a:p>
        </p:txBody>
      </p:sp>
    </p:spTree>
    <p:extLst>
      <p:ext uri="{BB962C8B-B14F-4D97-AF65-F5344CB8AC3E}">
        <p14:creationId xmlns:p14="http://schemas.microsoft.com/office/powerpoint/2010/main" val="2423057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0307E8-3142-42E3-842E-DD73B3BC1C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4B81AD11-DF87-442D-94F3-E6284CB3BD9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5DC84980-10A8-43EF-B368-52A52CD4726D}"/>
              </a:ext>
            </a:extLst>
          </p:cNvPr>
          <p:cNvSpPr>
            <a:spLocks noGrp="1"/>
          </p:cNvSpPr>
          <p:nvPr>
            <p:ph type="dt" sz="half" idx="10"/>
          </p:nvPr>
        </p:nvSpPr>
        <p:spPr/>
        <p:txBody>
          <a:bodyPr/>
          <a:lstStyle/>
          <a:p>
            <a:fld id="{55DE3B7F-B82B-481A-9979-08A41D1A24C2}" type="datetimeFigureOut">
              <a:rPr lang="en-UG" smtClean="0"/>
              <a:t>08/09/2025</a:t>
            </a:fld>
            <a:endParaRPr lang="en-UG"/>
          </a:p>
        </p:txBody>
      </p:sp>
      <p:sp>
        <p:nvSpPr>
          <p:cNvPr id="5" name="Footer Placeholder 4">
            <a:extLst>
              <a:ext uri="{FF2B5EF4-FFF2-40B4-BE49-F238E27FC236}">
                <a16:creationId xmlns:a16="http://schemas.microsoft.com/office/drawing/2014/main" id="{57FC3C11-3E0D-499F-80B1-F44F3BF47636}"/>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E7DE7AF0-B911-4680-863C-E8C41889D47B}"/>
              </a:ext>
            </a:extLst>
          </p:cNvPr>
          <p:cNvSpPr>
            <a:spLocks noGrp="1"/>
          </p:cNvSpPr>
          <p:nvPr>
            <p:ph type="sldNum" sz="quarter" idx="12"/>
          </p:nvPr>
        </p:nvSpPr>
        <p:spPr/>
        <p:txBody>
          <a:bodyPr/>
          <a:lstStyle/>
          <a:p>
            <a:fld id="{B8E3E0A7-94BE-4B14-8B75-EDAEA95E4B2B}" type="slidenum">
              <a:rPr lang="en-UG" smtClean="0"/>
              <a:t>‹#›</a:t>
            </a:fld>
            <a:endParaRPr lang="en-UG"/>
          </a:p>
        </p:txBody>
      </p:sp>
    </p:spTree>
    <p:extLst>
      <p:ext uri="{BB962C8B-B14F-4D97-AF65-F5344CB8AC3E}">
        <p14:creationId xmlns:p14="http://schemas.microsoft.com/office/powerpoint/2010/main" val="3997368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E92A1C-D588-433C-A85A-3250773040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G"/>
          </a:p>
        </p:txBody>
      </p:sp>
      <p:sp>
        <p:nvSpPr>
          <p:cNvPr id="3" name="Text Placeholder 2">
            <a:extLst>
              <a:ext uri="{FF2B5EF4-FFF2-40B4-BE49-F238E27FC236}">
                <a16:creationId xmlns:a16="http://schemas.microsoft.com/office/drawing/2014/main" id="{989D9E54-BBAD-47B2-8073-478872671D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4B65E8C9-0AED-463B-80B7-0F55B43C60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DE3B7F-B82B-481A-9979-08A41D1A24C2}" type="datetimeFigureOut">
              <a:rPr lang="en-UG" smtClean="0"/>
              <a:t>08/09/2025</a:t>
            </a:fld>
            <a:endParaRPr lang="en-UG"/>
          </a:p>
        </p:txBody>
      </p:sp>
      <p:sp>
        <p:nvSpPr>
          <p:cNvPr id="5" name="Footer Placeholder 4">
            <a:extLst>
              <a:ext uri="{FF2B5EF4-FFF2-40B4-BE49-F238E27FC236}">
                <a16:creationId xmlns:a16="http://schemas.microsoft.com/office/drawing/2014/main" id="{53146291-036B-4073-9DA2-4DE5E3B315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G"/>
          </a:p>
        </p:txBody>
      </p:sp>
      <p:sp>
        <p:nvSpPr>
          <p:cNvPr id="6" name="Slide Number Placeholder 5">
            <a:extLst>
              <a:ext uri="{FF2B5EF4-FFF2-40B4-BE49-F238E27FC236}">
                <a16:creationId xmlns:a16="http://schemas.microsoft.com/office/drawing/2014/main" id="{14DF9872-8522-45F5-919A-3322353076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E3E0A7-94BE-4B14-8B75-EDAEA95E4B2B}" type="slidenum">
              <a:rPr lang="en-UG" smtClean="0"/>
              <a:t>‹#›</a:t>
            </a:fld>
            <a:endParaRPr lang="en-UG"/>
          </a:p>
        </p:txBody>
      </p:sp>
    </p:spTree>
    <p:extLst>
      <p:ext uri="{BB962C8B-B14F-4D97-AF65-F5344CB8AC3E}">
        <p14:creationId xmlns:p14="http://schemas.microsoft.com/office/powerpoint/2010/main" val="4168760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57FBB-9659-4B82-9D2C-7A3FCFE0719E}"/>
              </a:ext>
            </a:extLst>
          </p:cNvPr>
          <p:cNvSpPr>
            <a:spLocks noGrp="1"/>
          </p:cNvSpPr>
          <p:nvPr>
            <p:ph type="ctrTitle"/>
          </p:nvPr>
        </p:nvSpPr>
        <p:spPr/>
        <p:txBody>
          <a:bodyPr/>
          <a:lstStyle/>
          <a:p>
            <a:r>
              <a:rPr lang="en-US" dirty="0"/>
              <a:t>Botany and Plant Physiology </a:t>
            </a:r>
            <a:br>
              <a:rPr lang="en-US" dirty="0"/>
            </a:br>
            <a:r>
              <a:rPr lang="en-US" dirty="0"/>
              <a:t>Lecture two</a:t>
            </a:r>
            <a:endParaRPr lang="en-UG" dirty="0"/>
          </a:p>
        </p:txBody>
      </p:sp>
      <p:sp>
        <p:nvSpPr>
          <p:cNvPr id="3" name="Subtitle 2">
            <a:extLst>
              <a:ext uri="{FF2B5EF4-FFF2-40B4-BE49-F238E27FC236}">
                <a16:creationId xmlns:a16="http://schemas.microsoft.com/office/drawing/2014/main" id="{DC750966-763A-4947-B706-8C5B8D6132C9}"/>
              </a:ext>
            </a:extLst>
          </p:cNvPr>
          <p:cNvSpPr>
            <a:spLocks noGrp="1"/>
          </p:cNvSpPr>
          <p:nvPr>
            <p:ph type="subTitle" idx="1"/>
          </p:nvPr>
        </p:nvSpPr>
        <p:spPr/>
        <p:txBody>
          <a:bodyPr/>
          <a:lstStyle/>
          <a:p>
            <a:r>
              <a:rPr lang="en-US" dirty="0"/>
              <a:t>8</a:t>
            </a:r>
            <a:r>
              <a:rPr lang="en-US" baseline="30000" dirty="0"/>
              <a:t>th</a:t>
            </a:r>
            <a:r>
              <a:rPr lang="en-US" dirty="0"/>
              <a:t> September 2025</a:t>
            </a:r>
            <a:endParaRPr lang="en-UG" dirty="0"/>
          </a:p>
        </p:txBody>
      </p:sp>
    </p:spTree>
    <p:extLst>
      <p:ext uri="{BB962C8B-B14F-4D97-AF65-F5344CB8AC3E}">
        <p14:creationId xmlns:p14="http://schemas.microsoft.com/office/powerpoint/2010/main" val="2959542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A0507-D609-4BED-966B-113E9679C4BD}"/>
              </a:ext>
            </a:extLst>
          </p:cNvPr>
          <p:cNvSpPr>
            <a:spLocks noGrp="1"/>
          </p:cNvSpPr>
          <p:nvPr>
            <p:ph type="title"/>
          </p:nvPr>
        </p:nvSpPr>
        <p:spPr/>
        <p:txBody>
          <a:bodyPr/>
          <a:lstStyle/>
          <a:p>
            <a:r>
              <a:rPr lang="en-US" dirty="0"/>
              <a:t>Vegetative morphology of flowering plants-roots</a:t>
            </a:r>
            <a:endParaRPr lang="en-UG" dirty="0"/>
          </a:p>
        </p:txBody>
      </p:sp>
      <p:sp>
        <p:nvSpPr>
          <p:cNvPr id="3" name="Content Placeholder 2">
            <a:extLst>
              <a:ext uri="{FF2B5EF4-FFF2-40B4-BE49-F238E27FC236}">
                <a16:creationId xmlns:a16="http://schemas.microsoft.com/office/drawing/2014/main" id="{2FC05F47-6D19-4E01-9368-9F31BA2E2E30}"/>
              </a:ext>
            </a:extLst>
          </p:cNvPr>
          <p:cNvSpPr>
            <a:spLocks noGrp="1"/>
          </p:cNvSpPr>
          <p:nvPr>
            <p:ph idx="1"/>
          </p:nvPr>
        </p:nvSpPr>
        <p:spPr/>
        <p:txBody>
          <a:bodyPr/>
          <a:lstStyle/>
          <a:p>
            <a:pPr>
              <a:lnSpc>
                <a:spcPct val="150000"/>
              </a:lnSpc>
            </a:pPr>
            <a:r>
              <a:rPr lang="en-US" dirty="0"/>
              <a:t>The root is a vital organ of vascular plants, typically located below the surface of the soil. It serves multiple physiological and morphological functions. Roots develop from the </a:t>
            </a:r>
            <a:r>
              <a:rPr lang="en-US" b="1" dirty="0">
                <a:highlight>
                  <a:srgbClr val="FFFF00"/>
                </a:highlight>
              </a:rPr>
              <a:t>radicle</a:t>
            </a:r>
            <a:r>
              <a:rPr lang="en-US" dirty="0">
                <a:highlight>
                  <a:srgbClr val="FFFF00"/>
                </a:highlight>
              </a:rPr>
              <a:t> </a:t>
            </a:r>
            <a:r>
              <a:rPr lang="en-US" dirty="0"/>
              <a:t>of the embryo and are </a:t>
            </a:r>
            <a:r>
              <a:rPr lang="en-US" b="1" dirty="0">
                <a:highlight>
                  <a:srgbClr val="FFFF00"/>
                </a:highlight>
              </a:rPr>
              <a:t>non-photosynthetic</a:t>
            </a:r>
            <a:r>
              <a:rPr lang="en-US" dirty="0">
                <a:highlight>
                  <a:srgbClr val="FFFF00"/>
                </a:highlight>
              </a:rPr>
              <a:t>.</a:t>
            </a:r>
            <a:endParaRPr lang="en-UG" dirty="0">
              <a:highlight>
                <a:srgbClr val="FFFF00"/>
              </a:highlight>
            </a:endParaRPr>
          </a:p>
        </p:txBody>
      </p:sp>
    </p:spTree>
    <p:extLst>
      <p:ext uri="{BB962C8B-B14F-4D97-AF65-F5344CB8AC3E}">
        <p14:creationId xmlns:p14="http://schemas.microsoft.com/office/powerpoint/2010/main" val="2539570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FB4B8-97E1-49DC-8EB6-0FFBC384790E}"/>
              </a:ext>
            </a:extLst>
          </p:cNvPr>
          <p:cNvSpPr>
            <a:spLocks noGrp="1"/>
          </p:cNvSpPr>
          <p:nvPr>
            <p:ph type="title"/>
          </p:nvPr>
        </p:nvSpPr>
        <p:spPr/>
        <p:txBody>
          <a:bodyPr/>
          <a:lstStyle/>
          <a:p>
            <a:endParaRPr lang="en-UG"/>
          </a:p>
        </p:txBody>
      </p:sp>
      <p:pic>
        <p:nvPicPr>
          <p:cNvPr id="4" name="Content Placeholder 3">
            <a:extLst>
              <a:ext uri="{FF2B5EF4-FFF2-40B4-BE49-F238E27FC236}">
                <a16:creationId xmlns:a16="http://schemas.microsoft.com/office/drawing/2014/main" id="{CB779323-FE28-4E04-B5C9-3450FEAB0CC4}"/>
              </a:ext>
            </a:extLst>
          </p:cNvPr>
          <p:cNvPicPr>
            <a:picLocks noGrp="1" noChangeAspect="1"/>
          </p:cNvPicPr>
          <p:nvPr>
            <p:ph idx="1"/>
          </p:nvPr>
        </p:nvPicPr>
        <p:blipFill>
          <a:blip r:embed="rId2"/>
          <a:stretch>
            <a:fillRect/>
          </a:stretch>
        </p:blipFill>
        <p:spPr>
          <a:xfrm>
            <a:off x="3501800" y="1825625"/>
            <a:ext cx="5188399" cy="4351338"/>
          </a:xfrm>
          <a:prstGeom prst="rect">
            <a:avLst/>
          </a:prstGeom>
        </p:spPr>
      </p:pic>
    </p:spTree>
    <p:extLst>
      <p:ext uri="{BB962C8B-B14F-4D97-AF65-F5344CB8AC3E}">
        <p14:creationId xmlns:p14="http://schemas.microsoft.com/office/powerpoint/2010/main" val="3758094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A69B5-D354-487D-BE07-FD9FA82C3FBB}"/>
              </a:ext>
            </a:extLst>
          </p:cNvPr>
          <p:cNvSpPr>
            <a:spLocks noGrp="1"/>
          </p:cNvSpPr>
          <p:nvPr>
            <p:ph type="title"/>
          </p:nvPr>
        </p:nvSpPr>
        <p:spPr/>
        <p:txBody>
          <a:bodyPr/>
          <a:lstStyle/>
          <a:p>
            <a:r>
              <a:rPr lang="en-US" dirty="0"/>
              <a:t>2.1 THE ROOT STRUCTURE</a:t>
            </a:r>
            <a:br>
              <a:rPr lang="en-US" dirty="0"/>
            </a:br>
            <a:r>
              <a:rPr lang="en-US" dirty="0"/>
              <a:t>External structure of the root</a:t>
            </a:r>
            <a:endParaRPr lang="en-UG" dirty="0"/>
          </a:p>
        </p:txBody>
      </p:sp>
      <p:pic>
        <p:nvPicPr>
          <p:cNvPr id="4" name="Content Placeholder 3">
            <a:extLst>
              <a:ext uri="{FF2B5EF4-FFF2-40B4-BE49-F238E27FC236}">
                <a16:creationId xmlns:a16="http://schemas.microsoft.com/office/drawing/2014/main" id="{FC9EE88C-BC58-4942-A8B3-92D2CF67D51D}"/>
              </a:ext>
            </a:extLst>
          </p:cNvPr>
          <p:cNvPicPr>
            <a:picLocks noGrp="1" noChangeAspect="1"/>
          </p:cNvPicPr>
          <p:nvPr>
            <p:ph idx="1"/>
          </p:nvPr>
        </p:nvPicPr>
        <p:blipFill>
          <a:blip r:embed="rId2"/>
          <a:stretch>
            <a:fillRect/>
          </a:stretch>
        </p:blipFill>
        <p:spPr>
          <a:xfrm>
            <a:off x="5039585" y="1690688"/>
            <a:ext cx="2243989" cy="5547907"/>
          </a:xfrm>
          <a:prstGeom prst="rect">
            <a:avLst/>
          </a:prstGeom>
        </p:spPr>
      </p:pic>
    </p:spTree>
    <p:extLst>
      <p:ext uri="{BB962C8B-B14F-4D97-AF65-F5344CB8AC3E}">
        <p14:creationId xmlns:p14="http://schemas.microsoft.com/office/powerpoint/2010/main" val="4025916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6C501-4E6D-4426-B4D8-ED5511D9D1B4}"/>
              </a:ext>
            </a:extLst>
          </p:cNvPr>
          <p:cNvSpPr>
            <a:spLocks noGrp="1"/>
          </p:cNvSpPr>
          <p:nvPr>
            <p:ph type="title"/>
          </p:nvPr>
        </p:nvSpPr>
        <p:spPr/>
        <p:txBody>
          <a:bodyPr/>
          <a:lstStyle/>
          <a:p>
            <a:r>
              <a:rPr lang="en-US" dirty="0"/>
              <a:t>2.1 THE ROOT STRUCTURE</a:t>
            </a:r>
            <a:endParaRPr lang="en-UG" dirty="0"/>
          </a:p>
        </p:txBody>
      </p:sp>
      <p:sp>
        <p:nvSpPr>
          <p:cNvPr id="3" name="Content Placeholder 2">
            <a:extLst>
              <a:ext uri="{FF2B5EF4-FFF2-40B4-BE49-F238E27FC236}">
                <a16:creationId xmlns:a16="http://schemas.microsoft.com/office/drawing/2014/main" id="{F99DC0F7-C3E7-4D6D-8887-D7977CCFAB67}"/>
              </a:ext>
            </a:extLst>
          </p:cNvPr>
          <p:cNvSpPr>
            <a:spLocks noGrp="1"/>
          </p:cNvSpPr>
          <p:nvPr>
            <p:ph idx="1"/>
          </p:nvPr>
        </p:nvSpPr>
        <p:spPr/>
        <p:txBody>
          <a:bodyPr>
            <a:normAutofit/>
          </a:bodyPr>
          <a:lstStyle/>
          <a:p>
            <a:r>
              <a:rPr lang="en-US" b="1" dirty="0"/>
              <a:t>External Structure</a:t>
            </a:r>
          </a:p>
          <a:p>
            <a:r>
              <a:rPr lang="en-US" dirty="0"/>
              <a:t>The root is divided into several regions/zones:</a:t>
            </a:r>
          </a:p>
          <a:p>
            <a:r>
              <a:rPr lang="en-US" b="1" dirty="0"/>
              <a:t>Root Cap (Calyptra)</a:t>
            </a:r>
            <a:endParaRPr lang="en-US" dirty="0"/>
          </a:p>
          <a:p>
            <a:pPr lvl="1"/>
            <a:r>
              <a:rPr lang="en-US" dirty="0"/>
              <a:t>Protects the root apical meristem.</a:t>
            </a:r>
          </a:p>
          <a:p>
            <a:pPr lvl="1"/>
            <a:r>
              <a:rPr lang="en-US" dirty="0"/>
              <a:t>Cells are produced by the root apical meristem and slough off as the root grows.</a:t>
            </a:r>
          </a:p>
          <a:p>
            <a:pPr lvl="1"/>
            <a:r>
              <a:rPr lang="en-US" dirty="0"/>
              <a:t>Involved in </a:t>
            </a:r>
            <a:r>
              <a:rPr lang="en-US" b="1" dirty="0"/>
              <a:t>gravitropism</a:t>
            </a:r>
            <a:r>
              <a:rPr lang="en-US" dirty="0"/>
              <a:t> – the response to gravity.</a:t>
            </a:r>
          </a:p>
          <a:p>
            <a:r>
              <a:rPr lang="en-US" b="1" dirty="0"/>
              <a:t>Zone of Cell Division</a:t>
            </a:r>
            <a:endParaRPr lang="en-US" dirty="0"/>
          </a:p>
          <a:p>
            <a:pPr lvl="1"/>
            <a:r>
              <a:rPr lang="en-US" dirty="0"/>
              <a:t>Includes the </a:t>
            </a:r>
            <a:r>
              <a:rPr lang="en-US" b="1" dirty="0"/>
              <a:t>apical meristem</a:t>
            </a:r>
            <a:r>
              <a:rPr lang="en-US" dirty="0"/>
              <a:t>.</a:t>
            </a:r>
          </a:p>
          <a:p>
            <a:pPr lvl="1"/>
            <a:r>
              <a:rPr lang="en-US" dirty="0"/>
              <a:t>Actively dividing cells produce new root cells.</a:t>
            </a:r>
          </a:p>
          <a:p>
            <a:endParaRPr lang="en-UG" dirty="0"/>
          </a:p>
        </p:txBody>
      </p:sp>
    </p:spTree>
    <p:extLst>
      <p:ext uri="{BB962C8B-B14F-4D97-AF65-F5344CB8AC3E}">
        <p14:creationId xmlns:p14="http://schemas.microsoft.com/office/powerpoint/2010/main" val="1583511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943C7-F846-4007-B36A-BEA1753C6E95}"/>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563840E3-06C5-46EB-B51A-0F322E8025DC}"/>
              </a:ext>
            </a:extLst>
          </p:cNvPr>
          <p:cNvSpPr>
            <a:spLocks noGrp="1"/>
          </p:cNvSpPr>
          <p:nvPr>
            <p:ph idx="1"/>
          </p:nvPr>
        </p:nvSpPr>
        <p:spPr/>
        <p:txBody>
          <a:bodyPr/>
          <a:lstStyle/>
          <a:p>
            <a:r>
              <a:rPr lang="en-US" b="1" dirty="0"/>
              <a:t>Zone of Elongation</a:t>
            </a:r>
            <a:endParaRPr lang="en-US" dirty="0"/>
          </a:p>
          <a:p>
            <a:pPr lvl="1"/>
            <a:r>
              <a:rPr lang="en-US" dirty="0"/>
              <a:t>Newly formed cells elongate, pushing the root tip further into the soil.</a:t>
            </a:r>
          </a:p>
          <a:p>
            <a:r>
              <a:rPr lang="en-US" b="1" dirty="0"/>
              <a:t>Zone of Maturation (Differentiation)</a:t>
            </a:r>
            <a:endParaRPr lang="en-US" dirty="0"/>
          </a:p>
          <a:p>
            <a:pPr lvl="1"/>
            <a:r>
              <a:rPr lang="en-US" dirty="0"/>
              <a:t>Cells differentiate into specialized types (e.g., epidermis, cortex, vascular tissue).</a:t>
            </a:r>
          </a:p>
          <a:p>
            <a:pPr lvl="1"/>
            <a:r>
              <a:rPr lang="en-US" dirty="0"/>
              <a:t>Root hairs develop here to increase surface area for absorption.</a:t>
            </a:r>
          </a:p>
          <a:p>
            <a:endParaRPr lang="en-UG" dirty="0"/>
          </a:p>
        </p:txBody>
      </p:sp>
    </p:spTree>
    <p:extLst>
      <p:ext uri="{BB962C8B-B14F-4D97-AF65-F5344CB8AC3E}">
        <p14:creationId xmlns:p14="http://schemas.microsoft.com/office/powerpoint/2010/main" val="127020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0CAE9-9D84-4583-B59C-39638AEB727A}"/>
              </a:ext>
            </a:extLst>
          </p:cNvPr>
          <p:cNvSpPr>
            <a:spLocks noGrp="1"/>
          </p:cNvSpPr>
          <p:nvPr>
            <p:ph type="title"/>
          </p:nvPr>
        </p:nvSpPr>
        <p:spPr>
          <a:xfrm>
            <a:off x="838200" y="298623"/>
            <a:ext cx="10515600" cy="1325563"/>
          </a:xfrm>
        </p:spPr>
        <p:txBody>
          <a:bodyPr/>
          <a:lstStyle/>
          <a:p>
            <a:r>
              <a:rPr lang="en-US" b="1" dirty="0"/>
              <a:t>Internal Structure (Anatomy of a Dicot Root)</a:t>
            </a:r>
            <a:br>
              <a:rPr lang="en-US" b="1" dirty="0"/>
            </a:br>
            <a:endParaRPr lang="en-UG" dirty="0"/>
          </a:p>
        </p:txBody>
      </p:sp>
      <p:sp>
        <p:nvSpPr>
          <p:cNvPr id="3" name="Content Placeholder 2">
            <a:extLst>
              <a:ext uri="{FF2B5EF4-FFF2-40B4-BE49-F238E27FC236}">
                <a16:creationId xmlns:a16="http://schemas.microsoft.com/office/drawing/2014/main" id="{618C3120-5106-484D-9BC9-9EC572F6674A}"/>
              </a:ext>
            </a:extLst>
          </p:cNvPr>
          <p:cNvSpPr>
            <a:spLocks noGrp="1"/>
          </p:cNvSpPr>
          <p:nvPr>
            <p:ph idx="1"/>
          </p:nvPr>
        </p:nvSpPr>
        <p:spPr/>
        <p:txBody>
          <a:bodyPr>
            <a:normAutofit/>
          </a:bodyPr>
          <a:lstStyle/>
          <a:p>
            <a:r>
              <a:rPr lang="en-US" b="1" dirty="0"/>
              <a:t>Epidermis</a:t>
            </a:r>
            <a:endParaRPr lang="en-US" dirty="0"/>
          </a:p>
          <a:p>
            <a:pPr lvl="1"/>
            <a:r>
              <a:rPr lang="en-US" dirty="0"/>
              <a:t>Outer layer; no cuticle; contains root hairs for absorption.</a:t>
            </a:r>
          </a:p>
          <a:p>
            <a:r>
              <a:rPr lang="en-US" b="1" dirty="0"/>
              <a:t>Cortex</a:t>
            </a:r>
            <a:endParaRPr lang="en-US" dirty="0"/>
          </a:p>
          <a:p>
            <a:pPr lvl="1"/>
            <a:r>
              <a:rPr lang="en-US" dirty="0"/>
              <a:t>Made up of parenchyma cells; stores food; loosely packed for gas exchange.</a:t>
            </a:r>
          </a:p>
          <a:p>
            <a:r>
              <a:rPr lang="en-US" b="1" dirty="0"/>
              <a:t>Endodermis</a:t>
            </a:r>
            <a:endParaRPr lang="en-US" dirty="0"/>
          </a:p>
          <a:p>
            <a:pPr lvl="1"/>
            <a:r>
              <a:rPr lang="en-US" dirty="0"/>
              <a:t>Innermost layer of cortex with </a:t>
            </a:r>
            <a:r>
              <a:rPr lang="en-US" b="1" dirty="0" err="1"/>
              <a:t>Casparian</a:t>
            </a:r>
            <a:r>
              <a:rPr lang="en-US" b="1" dirty="0"/>
              <a:t> strips</a:t>
            </a:r>
            <a:r>
              <a:rPr lang="en-US" dirty="0"/>
              <a:t> (suberin bands) that regulate water flow into vascular tissue.</a:t>
            </a:r>
          </a:p>
          <a:p>
            <a:endParaRPr lang="en-UG" dirty="0"/>
          </a:p>
        </p:txBody>
      </p:sp>
    </p:spTree>
    <p:extLst>
      <p:ext uri="{BB962C8B-B14F-4D97-AF65-F5344CB8AC3E}">
        <p14:creationId xmlns:p14="http://schemas.microsoft.com/office/powerpoint/2010/main" val="203234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4E89A-823B-4D24-A725-C5188FAD9075}"/>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8D712848-49DE-4D7E-B7E4-5956B7D409E6}"/>
              </a:ext>
            </a:extLst>
          </p:cNvPr>
          <p:cNvSpPr>
            <a:spLocks noGrp="1"/>
          </p:cNvSpPr>
          <p:nvPr>
            <p:ph idx="1"/>
          </p:nvPr>
        </p:nvSpPr>
        <p:spPr/>
        <p:txBody>
          <a:bodyPr/>
          <a:lstStyle/>
          <a:p>
            <a:r>
              <a:rPr lang="en-US" b="1" dirty="0"/>
              <a:t>Pericycle</a:t>
            </a:r>
            <a:endParaRPr lang="en-US" dirty="0"/>
          </a:p>
          <a:p>
            <a:pPr lvl="1"/>
            <a:r>
              <a:rPr lang="en-US" dirty="0"/>
              <a:t>Layer just inside the endodermis; gives rise to </a:t>
            </a:r>
            <a:r>
              <a:rPr lang="en-US" b="1" dirty="0"/>
              <a:t>lateral roots</a:t>
            </a:r>
            <a:r>
              <a:rPr lang="en-US" dirty="0"/>
              <a:t>.</a:t>
            </a:r>
          </a:p>
          <a:p>
            <a:r>
              <a:rPr lang="en-US" b="1" dirty="0"/>
              <a:t>Vascular Cylinder (Stele)</a:t>
            </a:r>
            <a:endParaRPr lang="en-US" dirty="0"/>
          </a:p>
          <a:p>
            <a:pPr lvl="1"/>
            <a:r>
              <a:rPr lang="en-US" dirty="0"/>
              <a:t>Contains xylem (for water transport) and phloem (for nutrient transport).</a:t>
            </a:r>
          </a:p>
          <a:p>
            <a:pPr lvl="1"/>
            <a:r>
              <a:rPr lang="en-US" dirty="0"/>
              <a:t>In dicots: Xylem is star-shaped; phloem is located between the arms.</a:t>
            </a:r>
          </a:p>
          <a:p>
            <a:pPr lvl="1"/>
            <a:r>
              <a:rPr lang="en-US" dirty="0"/>
              <a:t>In monocots: Vascular bundles are arranged in a ring.</a:t>
            </a:r>
          </a:p>
          <a:p>
            <a:endParaRPr lang="en-UG" dirty="0"/>
          </a:p>
        </p:txBody>
      </p:sp>
    </p:spTree>
    <p:extLst>
      <p:ext uri="{BB962C8B-B14F-4D97-AF65-F5344CB8AC3E}">
        <p14:creationId xmlns:p14="http://schemas.microsoft.com/office/powerpoint/2010/main" val="1622236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0496F-A375-421F-8521-95BEDDC3E3F9}"/>
              </a:ext>
            </a:extLst>
          </p:cNvPr>
          <p:cNvSpPr>
            <a:spLocks noGrp="1"/>
          </p:cNvSpPr>
          <p:nvPr>
            <p:ph type="title"/>
          </p:nvPr>
        </p:nvSpPr>
        <p:spPr/>
        <p:txBody>
          <a:bodyPr/>
          <a:lstStyle/>
          <a:p>
            <a:r>
              <a:rPr lang="en-US" dirty="0"/>
              <a:t>Internal structure of  Dicot root</a:t>
            </a:r>
            <a:endParaRPr lang="en-UG" dirty="0"/>
          </a:p>
        </p:txBody>
      </p:sp>
      <p:pic>
        <p:nvPicPr>
          <p:cNvPr id="4" name="Content Placeholder 3">
            <a:extLst>
              <a:ext uri="{FF2B5EF4-FFF2-40B4-BE49-F238E27FC236}">
                <a16:creationId xmlns:a16="http://schemas.microsoft.com/office/drawing/2014/main" id="{C26D1642-72E2-49A6-8DBB-B91497766F54}"/>
              </a:ext>
            </a:extLst>
          </p:cNvPr>
          <p:cNvPicPr>
            <a:picLocks noGrp="1" noChangeAspect="1"/>
          </p:cNvPicPr>
          <p:nvPr>
            <p:ph idx="1"/>
          </p:nvPr>
        </p:nvPicPr>
        <p:blipFill>
          <a:blip r:embed="rId2"/>
          <a:stretch>
            <a:fillRect/>
          </a:stretch>
        </p:blipFill>
        <p:spPr>
          <a:xfrm>
            <a:off x="3017856" y="2269376"/>
            <a:ext cx="5323223" cy="4106486"/>
          </a:xfrm>
          <a:prstGeom prst="rect">
            <a:avLst/>
          </a:prstGeom>
        </p:spPr>
      </p:pic>
    </p:spTree>
    <p:extLst>
      <p:ext uri="{BB962C8B-B14F-4D97-AF65-F5344CB8AC3E}">
        <p14:creationId xmlns:p14="http://schemas.microsoft.com/office/powerpoint/2010/main" val="3990950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67A58-1C32-44F7-9A35-D277ADF1496C}"/>
              </a:ext>
            </a:extLst>
          </p:cNvPr>
          <p:cNvSpPr>
            <a:spLocks noGrp="1"/>
          </p:cNvSpPr>
          <p:nvPr>
            <p:ph type="title"/>
          </p:nvPr>
        </p:nvSpPr>
        <p:spPr/>
        <p:txBody>
          <a:bodyPr/>
          <a:lstStyle/>
          <a:p>
            <a:endParaRPr lang="en-UG"/>
          </a:p>
        </p:txBody>
      </p:sp>
      <p:pic>
        <p:nvPicPr>
          <p:cNvPr id="4" name="Content Placeholder 3">
            <a:extLst>
              <a:ext uri="{FF2B5EF4-FFF2-40B4-BE49-F238E27FC236}">
                <a16:creationId xmlns:a16="http://schemas.microsoft.com/office/drawing/2014/main" id="{5F81D643-1563-4D0F-9300-6BC210C1EB9E}"/>
              </a:ext>
            </a:extLst>
          </p:cNvPr>
          <p:cNvPicPr>
            <a:picLocks noGrp="1" noChangeAspect="1"/>
          </p:cNvPicPr>
          <p:nvPr>
            <p:ph idx="1"/>
          </p:nvPr>
        </p:nvPicPr>
        <p:blipFill>
          <a:blip r:embed="rId2"/>
          <a:stretch>
            <a:fillRect/>
          </a:stretch>
        </p:blipFill>
        <p:spPr>
          <a:xfrm>
            <a:off x="2019802" y="1825625"/>
            <a:ext cx="7382686" cy="4857808"/>
          </a:xfrm>
          <a:prstGeom prst="rect">
            <a:avLst/>
          </a:prstGeom>
        </p:spPr>
      </p:pic>
    </p:spTree>
    <p:extLst>
      <p:ext uri="{BB962C8B-B14F-4D97-AF65-F5344CB8AC3E}">
        <p14:creationId xmlns:p14="http://schemas.microsoft.com/office/powerpoint/2010/main" val="1202668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14CF6-A4BD-44BD-8F74-1FCE3B77FDB0}"/>
              </a:ext>
            </a:extLst>
          </p:cNvPr>
          <p:cNvSpPr>
            <a:spLocks noGrp="1"/>
          </p:cNvSpPr>
          <p:nvPr>
            <p:ph type="title"/>
          </p:nvPr>
        </p:nvSpPr>
        <p:spPr/>
        <p:txBody>
          <a:bodyPr/>
          <a:lstStyle/>
          <a:p>
            <a:r>
              <a:rPr lang="en-US" dirty="0"/>
              <a:t>2.2 ROOT FUNCTIONS</a:t>
            </a:r>
            <a:endParaRPr lang="en-UG" dirty="0"/>
          </a:p>
        </p:txBody>
      </p:sp>
      <p:sp>
        <p:nvSpPr>
          <p:cNvPr id="3" name="Content Placeholder 2">
            <a:extLst>
              <a:ext uri="{FF2B5EF4-FFF2-40B4-BE49-F238E27FC236}">
                <a16:creationId xmlns:a16="http://schemas.microsoft.com/office/drawing/2014/main" id="{88A04E4B-88AE-4B9A-A99D-88FE8BB82B60}"/>
              </a:ext>
            </a:extLst>
          </p:cNvPr>
          <p:cNvSpPr>
            <a:spLocks noGrp="1"/>
          </p:cNvSpPr>
          <p:nvPr>
            <p:ph idx="1"/>
          </p:nvPr>
        </p:nvSpPr>
        <p:spPr/>
        <p:txBody>
          <a:bodyPr>
            <a:normAutofit/>
          </a:bodyPr>
          <a:lstStyle/>
          <a:p>
            <a:r>
              <a:rPr lang="en-US" b="1" dirty="0"/>
              <a:t>Anchorage</a:t>
            </a:r>
            <a:endParaRPr lang="en-US" dirty="0"/>
          </a:p>
          <a:p>
            <a:pPr lvl="1"/>
            <a:r>
              <a:rPr lang="en-US" dirty="0"/>
              <a:t>Roots firmly anchor the plant in the soil.</a:t>
            </a:r>
          </a:p>
          <a:p>
            <a:r>
              <a:rPr lang="en-US" b="1" dirty="0"/>
              <a:t>Absorption</a:t>
            </a:r>
            <a:endParaRPr lang="en-US" dirty="0"/>
          </a:p>
          <a:p>
            <a:pPr lvl="1"/>
            <a:r>
              <a:rPr lang="en-US" dirty="0"/>
              <a:t>Root hairs absorb water and mineral nutrients from the soil.</a:t>
            </a:r>
          </a:p>
          <a:p>
            <a:r>
              <a:rPr lang="en-US" b="1" dirty="0"/>
              <a:t>Conduction</a:t>
            </a:r>
            <a:endParaRPr lang="en-US" dirty="0"/>
          </a:p>
          <a:p>
            <a:pPr lvl="1"/>
            <a:r>
              <a:rPr lang="en-US" dirty="0"/>
              <a:t>Transport of absorbed nutrients and water to the shoot via xylem and phloem.</a:t>
            </a:r>
          </a:p>
          <a:p>
            <a:r>
              <a:rPr lang="en-US" b="1" dirty="0"/>
              <a:t>Storage</a:t>
            </a:r>
            <a:endParaRPr lang="en-US" dirty="0"/>
          </a:p>
          <a:p>
            <a:pPr lvl="1"/>
            <a:r>
              <a:rPr lang="en-US" dirty="0"/>
              <a:t>Roots store carbohydrates and other nutrients (e.g., carrots, beets).</a:t>
            </a:r>
          </a:p>
          <a:p>
            <a:endParaRPr lang="en-UG" dirty="0"/>
          </a:p>
        </p:txBody>
      </p:sp>
    </p:spTree>
    <p:extLst>
      <p:ext uri="{BB962C8B-B14F-4D97-AF65-F5344CB8AC3E}">
        <p14:creationId xmlns:p14="http://schemas.microsoft.com/office/powerpoint/2010/main" val="2259411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AFAC3-CF07-49EE-8B7A-AD9990A48098}"/>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536270AD-38E8-4E4A-A6FC-AD0916B48BC9}"/>
              </a:ext>
            </a:extLst>
          </p:cNvPr>
          <p:cNvSpPr>
            <a:spLocks noGrp="1"/>
          </p:cNvSpPr>
          <p:nvPr>
            <p:ph idx="1"/>
          </p:nvPr>
        </p:nvSpPr>
        <p:spPr/>
        <p:txBody>
          <a:bodyPr/>
          <a:lstStyle/>
          <a:p>
            <a:r>
              <a:rPr lang="en-US" b="1" dirty="0"/>
              <a:t>Hormone Production</a:t>
            </a:r>
            <a:endParaRPr lang="en-US" dirty="0"/>
          </a:p>
          <a:p>
            <a:pPr lvl="1"/>
            <a:r>
              <a:rPr lang="en-US" dirty="0"/>
              <a:t>Roots produce plant hormones such as </a:t>
            </a:r>
            <a:r>
              <a:rPr lang="en-US" b="1" dirty="0" err="1"/>
              <a:t>cytokinins</a:t>
            </a:r>
            <a:r>
              <a:rPr lang="en-US" dirty="0"/>
              <a:t> and </a:t>
            </a:r>
            <a:r>
              <a:rPr lang="en-US" b="1" dirty="0"/>
              <a:t>abscisic acid (ABA)</a:t>
            </a:r>
            <a:r>
              <a:rPr lang="en-US" dirty="0"/>
              <a:t>.</a:t>
            </a:r>
          </a:p>
          <a:p>
            <a:r>
              <a:rPr lang="en-US" b="1" dirty="0"/>
              <a:t>Symbiotic Associations</a:t>
            </a:r>
            <a:endParaRPr lang="en-US" dirty="0"/>
          </a:p>
          <a:p>
            <a:pPr lvl="1"/>
            <a:r>
              <a:rPr lang="en-US" dirty="0"/>
              <a:t>Mycorrhizae: Fungi-root association to enhance nutrient uptake.</a:t>
            </a:r>
          </a:p>
          <a:p>
            <a:pPr lvl="1"/>
            <a:r>
              <a:rPr lang="en-US" dirty="0"/>
              <a:t>Root nodules (e.g., in legumes): Housing nitrogen-fixing bacteria (</a:t>
            </a:r>
            <a:r>
              <a:rPr lang="en-US" i="1" dirty="0"/>
              <a:t>Rhizobium</a:t>
            </a:r>
            <a:r>
              <a:rPr lang="en-US" dirty="0"/>
              <a:t>).</a:t>
            </a:r>
          </a:p>
          <a:p>
            <a:r>
              <a:rPr lang="en-US" b="1" dirty="0"/>
              <a:t>Vegetative Propagation</a:t>
            </a:r>
            <a:endParaRPr lang="en-US" dirty="0"/>
          </a:p>
          <a:p>
            <a:pPr lvl="1"/>
            <a:r>
              <a:rPr lang="en-US" dirty="0"/>
              <a:t>In some plants, roots can produce new shoots (e.g., sweet potato, dahlia).</a:t>
            </a:r>
          </a:p>
          <a:p>
            <a:endParaRPr lang="en-UG" dirty="0"/>
          </a:p>
        </p:txBody>
      </p:sp>
    </p:spTree>
    <p:extLst>
      <p:ext uri="{BB962C8B-B14F-4D97-AF65-F5344CB8AC3E}">
        <p14:creationId xmlns:p14="http://schemas.microsoft.com/office/powerpoint/2010/main" val="1623242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1C08-FC4A-40ED-A547-196639D6CBE3}"/>
              </a:ext>
            </a:extLst>
          </p:cNvPr>
          <p:cNvSpPr>
            <a:spLocks noGrp="1"/>
          </p:cNvSpPr>
          <p:nvPr>
            <p:ph type="title"/>
          </p:nvPr>
        </p:nvSpPr>
        <p:spPr/>
        <p:txBody>
          <a:bodyPr/>
          <a:lstStyle/>
          <a:p>
            <a:r>
              <a:rPr lang="en-US" dirty="0"/>
              <a:t>2.3 ROOT SYSTEM</a:t>
            </a:r>
            <a:endParaRPr lang="en-UG" dirty="0"/>
          </a:p>
        </p:txBody>
      </p:sp>
      <p:sp>
        <p:nvSpPr>
          <p:cNvPr id="3" name="Content Placeholder 2">
            <a:extLst>
              <a:ext uri="{FF2B5EF4-FFF2-40B4-BE49-F238E27FC236}">
                <a16:creationId xmlns:a16="http://schemas.microsoft.com/office/drawing/2014/main" id="{8C6A2C26-0028-4791-A845-7EB6ED0CC90A}"/>
              </a:ext>
            </a:extLst>
          </p:cNvPr>
          <p:cNvSpPr>
            <a:spLocks noGrp="1"/>
          </p:cNvSpPr>
          <p:nvPr>
            <p:ph idx="1"/>
          </p:nvPr>
        </p:nvSpPr>
        <p:spPr/>
        <p:txBody>
          <a:bodyPr>
            <a:normAutofit/>
          </a:bodyPr>
          <a:lstStyle/>
          <a:p>
            <a:r>
              <a:rPr lang="en-US" dirty="0"/>
              <a:t>A </a:t>
            </a:r>
            <a:r>
              <a:rPr lang="en-US" b="1" dirty="0"/>
              <a:t>root system</a:t>
            </a:r>
            <a:r>
              <a:rPr lang="en-US" dirty="0"/>
              <a:t> refers to the complete set of roots developed by a plant. There are two main types:</a:t>
            </a:r>
          </a:p>
          <a:p>
            <a:r>
              <a:rPr lang="en-US" b="1" dirty="0"/>
              <a:t> 1. Tap Root System</a:t>
            </a:r>
          </a:p>
          <a:p>
            <a:r>
              <a:rPr lang="en-US" b="1" dirty="0"/>
              <a:t>Origin:</a:t>
            </a:r>
            <a:r>
              <a:rPr lang="en-US" dirty="0"/>
              <a:t> Develops from the </a:t>
            </a:r>
            <a:r>
              <a:rPr lang="en-US" b="1" dirty="0"/>
              <a:t>radicle</a:t>
            </a:r>
            <a:r>
              <a:rPr lang="en-US" dirty="0"/>
              <a:t>.</a:t>
            </a:r>
          </a:p>
          <a:p>
            <a:r>
              <a:rPr lang="en-US" b="1" dirty="0"/>
              <a:t>Structure:</a:t>
            </a:r>
            <a:r>
              <a:rPr lang="en-US" dirty="0"/>
              <a:t> Has a main root (taproot) and lateral branches (secondary and tertiary roots).</a:t>
            </a:r>
          </a:p>
          <a:p>
            <a:r>
              <a:rPr lang="en-US" b="1" dirty="0"/>
              <a:t>Example:</a:t>
            </a:r>
            <a:r>
              <a:rPr lang="en-US" dirty="0"/>
              <a:t> Dicots (e.g., beans, mango, mustard).</a:t>
            </a:r>
          </a:p>
          <a:p>
            <a:r>
              <a:rPr lang="en-US" b="1" dirty="0"/>
              <a:t>Function:</a:t>
            </a:r>
            <a:r>
              <a:rPr lang="en-US" dirty="0"/>
              <a:t> Penetrates deep into the soil; efficient in anchorage and water absorption from deeper layers.</a:t>
            </a:r>
          </a:p>
          <a:p>
            <a:endParaRPr lang="en-UG" dirty="0"/>
          </a:p>
        </p:txBody>
      </p:sp>
    </p:spTree>
    <p:extLst>
      <p:ext uri="{BB962C8B-B14F-4D97-AF65-F5344CB8AC3E}">
        <p14:creationId xmlns:p14="http://schemas.microsoft.com/office/powerpoint/2010/main" val="2944375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94B6A-DF51-4EED-8B97-1C890A2AC84A}"/>
              </a:ext>
            </a:extLst>
          </p:cNvPr>
          <p:cNvSpPr>
            <a:spLocks noGrp="1"/>
          </p:cNvSpPr>
          <p:nvPr>
            <p:ph type="title"/>
          </p:nvPr>
        </p:nvSpPr>
        <p:spPr/>
        <p:txBody>
          <a:bodyPr/>
          <a:lstStyle/>
          <a:p>
            <a:r>
              <a:rPr lang="en-US" b="1" dirty="0"/>
              <a:t>2. Fibrous Root System</a:t>
            </a:r>
            <a:endParaRPr lang="en-UG" dirty="0"/>
          </a:p>
        </p:txBody>
      </p:sp>
      <p:sp>
        <p:nvSpPr>
          <p:cNvPr id="3" name="Content Placeholder 2">
            <a:extLst>
              <a:ext uri="{FF2B5EF4-FFF2-40B4-BE49-F238E27FC236}">
                <a16:creationId xmlns:a16="http://schemas.microsoft.com/office/drawing/2014/main" id="{DF2DD6F9-802F-4932-AAEF-DF5DB1715DED}"/>
              </a:ext>
            </a:extLst>
          </p:cNvPr>
          <p:cNvSpPr>
            <a:spLocks noGrp="1"/>
          </p:cNvSpPr>
          <p:nvPr>
            <p:ph idx="1"/>
          </p:nvPr>
        </p:nvSpPr>
        <p:spPr/>
        <p:txBody>
          <a:bodyPr>
            <a:normAutofit fontScale="92500" lnSpcReduction="20000"/>
          </a:bodyPr>
          <a:lstStyle/>
          <a:p>
            <a:endParaRPr lang="en-US" b="1" dirty="0"/>
          </a:p>
          <a:p>
            <a:r>
              <a:rPr lang="en-US" b="1" dirty="0"/>
              <a:t>Origin:</a:t>
            </a:r>
            <a:r>
              <a:rPr lang="en-US" dirty="0"/>
              <a:t> Develops from stem tissue, not from the radicle.</a:t>
            </a:r>
          </a:p>
          <a:p>
            <a:r>
              <a:rPr lang="en-US" b="1" dirty="0"/>
              <a:t>Structure:</a:t>
            </a:r>
            <a:r>
              <a:rPr lang="en-US" dirty="0"/>
              <a:t> A cluster of thin, thread-like roots that are all similar in size.</a:t>
            </a:r>
          </a:p>
          <a:p>
            <a:r>
              <a:rPr lang="en-US" b="1" dirty="0"/>
              <a:t>Example:</a:t>
            </a:r>
            <a:r>
              <a:rPr lang="en-US" dirty="0"/>
              <a:t> Monocots (e.g., maize, wheat, grasses).</a:t>
            </a:r>
          </a:p>
          <a:p>
            <a:r>
              <a:rPr lang="en-US" b="1" dirty="0"/>
              <a:t>Function:</a:t>
            </a:r>
            <a:r>
              <a:rPr lang="en-US" dirty="0"/>
              <a:t> Covers a wide area near the soil surface; excellent for preventing erosion.</a:t>
            </a:r>
          </a:p>
          <a:p>
            <a:r>
              <a:rPr lang="en-US" b="1" dirty="0"/>
              <a:t>3. Adventitious Roots</a:t>
            </a:r>
          </a:p>
          <a:p>
            <a:r>
              <a:rPr lang="en-US" b="1" dirty="0"/>
              <a:t>Origin:</a:t>
            </a:r>
            <a:r>
              <a:rPr lang="en-US" dirty="0"/>
              <a:t> Arise from parts of the plant other than the radicle (e.g., stems, leaves).</a:t>
            </a:r>
          </a:p>
          <a:p>
            <a:r>
              <a:rPr lang="en-US" b="1" dirty="0"/>
              <a:t>Example:</a:t>
            </a:r>
            <a:r>
              <a:rPr lang="en-US" dirty="0"/>
              <a:t> Banyan tree (from branches), maize (prop roots), sugarcane.</a:t>
            </a:r>
          </a:p>
          <a:p>
            <a:r>
              <a:rPr lang="en-US" b="1" dirty="0"/>
              <a:t>Function:</a:t>
            </a:r>
            <a:r>
              <a:rPr lang="en-US" dirty="0"/>
              <a:t> Support (prop/stilt roots), storage, vegetative propagation.</a:t>
            </a:r>
          </a:p>
          <a:p>
            <a:endParaRPr lang="en-UG" dirty="0"/>
          </a:p>
        </p:txBody>
      </p:sp>
    </p:spTree>
    <p:extLst>
      <p:ext uri="{BB962C8B-B14F-4D97-AF65-F5344CB8AC3E}">
        <p14:creationId xmlns:p14="http://schemas.microsoft.com/office/powerpoint/2010/main" val="3503374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E7164-70F5-4506-A206-9A848D0A8364}"/>
              </a:ext>
            </a:extLst>
          </p:cNvPr>
          <p:cNvSpPr>
            <a:spLocks noGrp="1"/>
          </p:cNvSpPr>
          <p:nvPr>
            <p:ph type="title"/>
          </p:nvPr>
        </p:nvSpPr>
        <p:spPr/>
        <p:txBody>
          <a:bodyPr/>
          <a:lstStyle/>
          <a:p>
            <a:endParaRPr lang="en-UG"/>
          </a:p>
        </p:txBody>
      </p:sp>
      <p:pic>
        <p:nvPicPr>
          <p:cNvPr id="4" name="Content Placeholder 3">
            <a:extLst>
              <a:ext uri="{FF2B5EF4-FFF2-40B4-BE49-F238E27FC236}">
                <a16:creationId xmlns:a16="http://schemas.microsoft.com/office/drawing/2014/main" id="{89C6DD84-E3DC-4191-A0C5-FB4D8ADBA917}"/>
              </a:ext>
            </a:extLst>
          </p:cNvPr>
          <p:cNvPicPr>
            <a:picLocks noGrp="1" noChangeAspect="1"/>
          </p:cNvPicPr>
          <p:nvPr>
            <p:ph idx="1"/>
          </p:nvPr>
        </p:nvPicPr>
        <p:blipFill>
          <a:blip r:embed="rId2"/>
          <a:stretch>
            <a:fillRect/>
          </a:stretch>
        </p:blipFill>
        <p:spPr>
          <a:xfrm>
            <a:off x="1943960" y="1825625"/>
            <a:ext cx="8304080" cy="4351338"/>
          </a:xfrm>
          <a:prstGeom prst="rect">
            <a:avLst/>
          </a:prstGeom>
        </p:spPr>
      </p:pic>
    </p:spTree>
    <p:extLst>
      <p:ext uri="{BB962C8B-B14F-4D97-AF65-F5344CB8AC3E}">
        <p14:creationId xmlns:p14="http://schemas.microsoft.com/office/powerpoint/2010/main" val="1950946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0D0CB-4E66-4373-9B28-B7514E942EAD}"/>
              </a:ext>
            </a:extLst>
          </p:cNvPr>
          <p:cNvSpPr>
            <a:spLocks noGrp="1"/>
          </p:cNvSpPr>
          <p:nvPr>
            <p:ph type="title"/>
          </p:nvPr>
        </p:nvSpPr>
        <p:spPr/>
        <p:txBody>
          <a:bodyPr/>
          <a:lstStyle/>
          <a:p>
            <a:r>
              <a:rPr lang="en-US" dirty="0"/>
              <a:t>Summary Table</a:t>
            </a:r>
            <a:endParaRPr lang="en-UG" dirty="0"/>
          </a:p>
        </p:txBody>
      </p:sp>
      <p:graphicFrame>
        <p:nvGraphicFramePr>
          <p:cNvPr id="4" name="Content Placeholder 3">
            <a:extLst>
              <a:ext uri="{FF2B5EF4-FFF2-40B4-BE49-F238E27FC236}">
                <a16:creationId xmlns:a16="http://schemas.microsoft.com/office/drawing/2014/main" id="{49C2D0F2-E7A4-4C6B-99B5-E1BD88991CB6}"/>
              </a:ext>
            </a:extLst>
          </p:cNvPr>
          <p:cNvGraphicFramePr>
            <a:graphicFrameLocks noGrp="1"/>
          </p:cNvGraphicFramePr>
          <p:nvPr>
            <p:ph idx="1"/>
            <p:extLst>
              <p:ext uri="{D42A27DB-BD31-4B8C-83A1-F6EECF244321}">
                <p14:modId xmlns:p14="http://schemas.microsoft.com/office/powerpoint/2010/main" val="1386389429"/>
              </p:ext>
            </p:extLst>
          </p:nvPr>
        </p:nvGraphicFramePr>
        <p:xfrm>
          <a:off x="249381" y="1354975"/>
          <a:ext cx="11355184" cy="4017920"/>
        </p:xfrm>
        <a:graphic>
          <a:graphicData uri="http://schemas.openxmlformats.org/drawingml/2006/table">
            <a:tbl>
              <a:tblPr/>
              <a:tblGrid>
                <a:gridCol w="2838796">
                  <a:extLst>
                    <a:ext uri="{9D8B030D-6E8A-4147-A177-3AD203B41FA5}">
                      <a16:colId xmlns:a16="http://schemas.microsoft.com/office/drawing/2014/main" val="1654897713"/>
                    </a:ext>
                  </a:extLst>
                </a:gridCol>
                <a:gridCol w="2838796">
                  <a:extLst>
                    <a:ext uri="{9D8B030D-6E8A-4147-A177-3AD203B41FA5}">
                      <a16:colId xmlns:a16="http://schemas.microsoft.com/office/drawing/2014/main" val="1715642407"/>
                    </a:ext>
                  </a:extLst>
                </a:gridCol>
                <a:gridCol w="2838796">
                  <a:extLst>
                    <a:ext uri="{9D8B030D-6E8A-4147-A177-3AD203B41FA5}">
                      <a16:colId xmlns:a16="http://schemas.microsoft.com/office/drawing/2014/main" val="2036337895"/>
                    </a:ext>
                  </a:extLst>
                </a:gridCol>
                <a:gridCol w="2838796">
                  <a:extLst>
                    <a:ext uri="{9D8B030D-6E8A-4147-A177-3AD203B41FA5}">
                      <a16:colId xmlns:a16="http://schemas.microsoft.com/office/drawing/2014/main" val="588409106"/>
                    </a:ext>
                  </a:extLst>
                </a:gridCol>
              </a:tblGrid>
              <a:tr h="535723">
                <a:tc>
                  <a:txBody>
                    <a:bodyPr/>
                    <a:lstStyle/>
                    <a:p>
                      <a:r>
                        <a:rPr lang="en-US" b="1" dirty="0"/>
                        <a:t>Feature</a:t>
                      </a:r>
                    </a:p>
                  </a:txBody>
                  <a:tcPr anchor="ctr">
                    <a:lnL>
                      <a:noFill/>
                    </a:lnL>
                    <a:lnR>
                      <a:noFill/>
                    </a:lnR>
                    <a:lnT>
                      <a:noFill/>
                    </a:lnT>
                    <a:lnB>
                      <a:noFill/>
                    </a:lnB>
                  </a:tcPr>
                </a:tc>
                <a:tc>
                  <a:txBody>
                    <a:bodyPr/>
                    <a:lstStyle/>
                    <a:p>
                      <a:r>
                        <a:rPr lang="en-US" b="1" dirty="0"/>
                        <a:t>Tap Root</a:t>
                      </a:r>
                    </a:p>
                  </a:txBody>
                  <a:tcPr anchor="ctr">
                    <a:lnL>
                      <a:noFill/>
                    </a:lnL>
                    <a:lnR>
                      <a:noFill/>
                    </a:lnR>
                    <a:lnT>
                      <a:noFill/>
                    </a:lnT>
                    <a:lnB>
                      <a:noFill/>
                    </a:lnB>
                  </a:tcPr>
                </a:tc>
                <a:tc>
                  <a:txBody>
                    <a:bodyPr/>
                    <a:lstStyle/>
                    <a:p>
                      <a:r>
                        <a:rPr lang="en-US" b="1" dirty="0"/>
                        <a:t>Fibrous Root</a:t>
                      </a:r>
                    </a:p>
                  </a:txBody>
                  <a:tcPr anchor="ctr">
                    <a:lnL>
                      <a:noFill/>
                    </a:lnL>
                    <a:lnR>
                      <a:noFill/>
                    </a:lnR>
                    <a:lnT>
                      <a:noFill/>
                    </a:lnT>
                    <a:lnB>
                      <a:noFill/>
                    </a:lnB>
                  </a:tcPr>
                </a:tc>
                <a:tc>
                  <a:txBody>
                    <a:bodyPr/>
                    <a:lstStyle/>
                    <a:p>
                      <a:r>
                        <a:rPr lang="en-US" b="1" dirty="0"/>
                        <a:t>Adventitious Root</a:t>
                      </a:r>
                    </a:p>
                  </a:txBody>
                  <a:tcPr anchor="ctr">
                    <a:lnL>
                      <a:noFill/>
                    </a:lnL>
                    <a:lnR>
                      <a:noFill/>
                    </a:lnR>
                    <a:lnT>
                      <a:noFill/>
                    </a:lnT>
                    <a:lnB>
                      <a:noFill/>
                    </a:lnB>
                  </a:tcPr>
                </a:tc>
                <a:extLst>
                  <a:ext uri="{0D108BD9-81ED-4DB2-BD59-A6C34878D82A}">
                    <a16:rowId xmlns:a16="http://schemas.microsoft.com/office/drawing/2014/main" val="622029235"/>
                  </a:ext>
                </a:extLst>
              </a:tr>
              <a:tr h="535723">
                <a:tc>
                  <a:txBody>
                    <a:bodyPr/>
                    <a:lstStyle/>
                    <a:p>
                      <a:r>
                        <a:rPr lang="en-US" dirty="0"/>
                        <a:t>Origin</a:t>
                      </a:r>
                    </a:p>
                  </a:txBody>
                  <a:tcPr anchor="ctr">
                    <a:lnL>
                      <a:noFill/>
                    </a:lnL>
                    <a:lnR>
                      <a:noFill/>
                    </a:lnR>
                    <a:lnT>
                      <a:noFill/>
                    </a:lnT>
                    <a:lnB>
                      <a:noFill/>
                    </a:lnB>
                  </a:tcPr>
                </a:tc>
                <a:tc>
                  <a:txBody>
                    <a:bodyPr/>
                    <a:lstStyle/>
                    <a:p>
                      <a:r>
                        <a:rPr lang="en-US" dirty="0"/>
                        <a:t>Radicle</a:t>
                      </a:r>
                    </a:p>
                  </a:txBody>
                  <a:tcPr anchor="ctr">
                    <a:lnL>
                      <a:noFill/>
                    </a:lnL>
                    <a:lnR>
                      <a:noFill/>
                    </a:lnR>
                    <a:lnT>
                      <a:noFill/>
                    </a:lnT>
                    <a:lnB>
                      <a:noFill/>
                    </a:lnB>
                  </a:tcPr>
                </a:tc>
                <a:tc>
                  <a:txBody>
                    <a:bodyPr/>
                    <a:lstStyle/>
                    <a:p>
                      <a:r>
                        <a:rPr lang="en-US"/>
                        <a:t>Stem/base of stem</a:t>
                      </a:r>
                    </a:p>
                  </a:txBody>
                  <a:tcPr anchor="ctr">
                    <a:lnL>
                      <a:noFill/>
                    </a:lnL>
                    <a:lnR>
                      <a:noFill/>
                    </a:lnR>
                    <a:lnT>
                      <a:noFill/>
                    </a:lnT>
                    <a:lnB>
                      <a:noFill/>
                    </a:lnB>
                  </a:tcPr>
                </a:tc>
                <a:tc>
                  <a:txBody>
                    <a:bodyPr/>
                    <a:lstStyle/>
                    <a:p>
                      <a:r>
                        <a:rPr lang="en-US"/>
                        <a:t>Non-radicle parts</a:t>
                      </a:r>
                    </a:p>
                  </a:txBody>
                  <a:tcPr anchor="ctr">
                    <a:lnL>
                      <a:noFill/>
                    </a:lnL>
                    <a:lnR>
                      <a:noFill/>
                    </a:lnR>
                    <a:lnT>
                      <a:noFill/>
                    </a:lnT>
                    <a:lnB>
                      <a:noFill/>
                    </a:lnB>
                  </a:tcPr>
                </a:tc>
                <a:extLst>
                  <a:ext uri="{0D108BD9-81ED-4DB2-BD59-A6C34878D82A}">
                    <a16:rowId xmlns:a16="http://schemas.microsoft.com/office/drawing/2014/main" val="2847606472"/>
                  </a:ext>
                </a:extLst>
              </a:tr>
              <a:tr h="535723">
                <a:tc>
                  <a:txBody>
                    <a:bodyPr/>
                    <a:lstStyle/>
                    <a:p>
                      <a:r>
                        <a:rPr lang="en-US"/>
                        <a:t>Type of Plant</a:t>
                      </a:r>
                    </a:p>
                  </a:txBody>
                  <a:tcPr anchor="ctr">
                    <a:lnL>
                      <a:noFill/>
                    </a:lnL>
                    <a:lnR>
                      <a:noFill/>
                    </a:lnR>
                    <a:lnT>
                      <a:noFill/>
                    </a:lnT>
                    <a:lnB>
                      <a:noFill/>
                    </a:lnB>
                  </a:tcPr>
                </a:tc>
                <a:tc>
                  <a:txBody>
                    <a:bodyPr/>
                    <a:lstStyle/>
                    <a:p>
                      <a:r>
                        <a:rPr lang="en-US"/>
                        <a:t>Dicots</a:t>
                      </a:r>
                    </a:p>
                  </a:txBody>
                  <a:tcPr anchor="ctr">
                    <a:lnL>
                      <a:noFill/>
                    </a:lnL>
                    <a:lnR>
                      <a:noFill/>
                    </a:lnR>
                    <a:lnT>
                      <a:noFill/>
                    </a:lnT>
                    <a:lnB>
                      <a:noFill/>
                    </a:lnB>
                  </a:tcPr>
                </a:tc>
                <a:tc>
                  <a:txBody>
                    <a:bodyPr/>
                    <a:lstStyle/>
                    <a:p>
                      <a:r>
                        <a:rPr lang="en-US"/>
                        <a:t>Monocots</a:t>
                      </a:r>
                    </a:p>
                  </a:txBody>
                  <a:tcPr anchor="ctr">
                    <a:lnL>
                      <a:noFill/>
                    </a:lnL>
                    <a:lnR>
                      <a:noFill/>
                    </a:lnR>
                    <a:lnT>
                      <a:noFill/>
                    </a:lnT>
                    <a:lnB>
                      <a:noFill/>
                    </a:lnB>
                  </a:tcPr>
                </a:tc>
                <a:tc>
                  <a:txBody>
                    <a:bodyPr/>
                    <a:lstStyle/>
                    <a:p>
                      <a:r>
                        <a:rPr lang="en-US"/>
                        <a:t>Both</a:t>
                      </a:r>
                    </a:p>
                  </a:txBody>
                  <a:tcPr anchor="ctr">
                    <a:lnL>
                      <a:noFill/>
                    </a:lnL>
                    <a:lnR>
                      <a:noFill/>
                    </a:lnR>
                    <a:lnT>
                      <a:noFill/>
                    </a:lnT>
                    <a:lnB>
                      <a:noFill/>
                    </a:lnB>
                  </a:tcPr>
                </a:tc>
                <a:extLst>
                  <a:ext uri="{0D108BD9-81ED-4DB2-BD59-A6C34878D82A}">
                    <a16:rowId xmlns:a16="http://schemas.microsoft.com/office/drawing/2014/main" val="3780691378"/>
                  </a:ext>
                </a:extLst>
              </a:tr>
              <a:tr h="937514">
                <a:tc>
                  <a:txBody>
                    <a:bodyPr/>
                    <a:lstStyle/>
                    <a:p>
                      <a:r>
                        <a:rPr lang="en-US" dirty="0"/>
                        <a:t>Structure</a:t>
                      </a:r>
                    </a:p>
                  </a:txBody>
                  <a:tcPr anchor="ctr">
                    <a:lnL>
                      <a:noFill/>
                    </a:lnL>
                    <a:lnR>
                      <a:noFill/>
                    </a:lnR>
                    <a:lnT>
                      <a:noFill/>
                    </a:lnT>
                    <a:lnB>
                      <a:noFill/>
                    </a:lnB>
                  </a:tcPr>
                </a:tc>
                <a:tc>
                  <a:txBody>
                    <a:bodyPr/>
                    <a:lstStyle/>
                    <a:p>
                      <a:r>
                        <a:rPr lang="en-US" dirty="0"/>
                        <a:t>One main root with branches</a:t>
                      </a:r>
                    </a:p>
                  </a:txBody>
                  <a:tcPr anchor="ctr">
                    <a:lnL>
                      <a:noFill/>
                    </a:lnL>
                    <a:lnR>
                      <a:noFill/>
                    </a:lnR>
                    <a:lnT>
                      <a:noFill/>
                    </a:lnT>
                    <a:lnB>
                      <a:noFill/>
                    </a:lnB>
                  </a:tcPr>
                </a:tc>
                <a:tc>
                  <a:txBody>
                    <a:bodyPr/>
                    <a:lstStyle/>
                    <a:p>
                      <a:r>
                        <a:rPr lang="en-US"/>
                        <a:t>Many thin, equal-sized roots</a:t>
                      </a:r>
                    </a:p>
                  </a:txBody>
                  <a:tcPr anchor="ctr">
                    <a:lnL>
                      <a:noFill/>
                    </a:lnL>
                    <a:lnR>
                      <a:noFill/>
                    </a:lnR>
                    <a:lnT>
                      <a:noFill/>
                    </a:lnT>
                    <a:lnB>
                      <a:noFill/>
                    </a:lnB>
                  </a:tcPr>
                </a:tc>
                <a:tc>
                  <a:txBody>
                    <a:bodyPr/>
                    <a:lstStyle/>
                    <a:p>
                      <a:r>
                        <a:rPr lang="en-US"/>
                        <a:t>Variable</a:t>
                      </a:r>
                    </a:p>
                  </a:txBody>
                  <a:tcPr anchor="ctr">
                    <a:lnL>
                      <a:noFill/>
                    </a:lnL>
                    <a:lnR>
                      <a:noFill/>
                    </a:lnR>
                    <a:lnT>
                      <a:noFill/>
                    </a:lnT>
                    <a:lnB>
                      <a:noFill/>
                    </a:lnB>
                  </a:tcPr>
                </a:tc>
                <a:extLst>
                  <a:ext uri="{0D108BD9-81ED-4DB2-BD59-A6C34878D82A}">
                    <a16:rowId xmlns:a16="http://schemas.microsoft.com/office/drawing/2014/main" val="1413732044"/>
                  </a:ext>
                </a:extLst>
              </a:tr>
              <a:tr h="535723">
                <a:tc>
                  <a:txBody>
                    <a:bodyPr/>
                    <a:lstStyle/>
                    <a:p>
                      <a:r>
                        <a:rPr lang="en-US"/>
                        <a:t>Depth</a:t>
                      </a:r>
                    </a:p>
                  </a:txBody>
                  <a:tcPr anchor="ctr">
                    <a:lnL>
                      <a:noFill/>
                    </a:lnL>
                    <a:lnR>
                      <a:noFill/>
                    </a:lnR>
                    <a:lnT>
                      <a:noFill/>
                    </a:lnT>
                    <a:lnB>
                      <a:noFill/>
                    </a:lnB>
                  </a:tcPr>
                </a:tc>
                <a:tc>
                  <a:txBody>
                    <a:bodyPr/>
                    <a:lstStyle/>
                    <a:p>
                      <a:r>
                        <a:rPr lang="en-US"/>
                        <a:t>Deep penetration</a:t>
                      </a:r>
                    </a:p>
                  </a:txBody>
                  <a:tcPr anchor="ctr">
                    <a:lnL>
                      <a:noFill/>
                    </a:lnL>
                    <a:lnR>
                      <a:noFill/>
                    </a:lnR>
                    <a:lnT>
                      <a:noFill/>
                    </a:lnT>
                    <a:lnB>
                      <a:noFill/>
                    </a:lnB>
                  </a:tcPr>
                </a:tc>
                <a:tc>
                  <a:txBody>
                    <a:bodyPr/>
                    <a:lstStyle/>
                    <a:p>
                      <a:r>
                        <a:rPr lang="en-US"/>
                        <a:t>Shallow, widespread</a:t>
                      </a:r>
                    </a:p>
                  </a:txBody>
                  <a:tcPr anchor="ctr">
                    <a:lnL>
                      <a:noFill/>
                    </a:lnL>
                    <a:lnR>
                      <a:noFill/>
                    </a:lnR>
                    <a:lnT>
                      <a:noFill/>
                    </a:lnT>
                    <a:lnB>
                      <a:noFill/>
                    </a:lnB>
                  </a:tcPr>
                </a:tc>
                <a:tc>
                  <a:txBody>
                    <a:bodyPr/>
                    <a:lstStyle/>
                    <a:p>
                      <a:r>
                        <a:rPr lang="en-US"/>
                        <a:t>Depends on function</a:t>
                      </a:r>
                    </a:p>
                  </a:txBody>
                  <a:tcPr anchor="ctr">
                    <a:lnL>
                      <a:noFill/>
                    </a:lnL>
                    <a:lnR>
                      <a:noFill/>
                    </a:lnR>
                    <a:lnT>
                      <a:noFill/>
                    </a:lnT>
                    <a:lnB>
                      <a:noFill/>
                    </a:lnB>
                  </a:tcPr>
                </a:tc>
                <a:extLst>
                  <a:ext uri="{0D108BD9-81ED-4DB2-BD59-A6C34878D82A}">
                    <a16:rowId xmlns:a16="http://schemas.microsoft.com/office/drawing/2014/main" val="2680296368"/>
                  </a:ext>
                </a:extLst>
              </a:tr>
              <a:tr h="937514">
                <a:tc>
                  <a:txBody>
                    <a:bodyPr/>
                    <a:lstStyle/>
                    <a:p>
                      <a:r>
                        <a:rPr lang="en-US"/>
                        <a:t>Examples</a:t>
                      </a:r>
                    </a:p>
                  </a:txBody>
                  <a:tcPr anchor="ctr">
                    <a:lnL>
                      <a:noFill/>
                    </a:lnL>
                    <a:lnR>
                      <a:noFill/>
                    </a:lnR>
                    <a:lnT>
                      <a:noFill/>
                    </a:lnT>
                    <a:lnB>
                      <a:noFill/>
                    </a:lnB>
                  </a:tcPr>
                </a:tc>
                <a:tc>
                  <a:txBody>
                    <a:bodyPr/>
                    <a:lstStyle/>
                    <a:p>
                      <a:r>
                        <a:rPr lang="en-US"/>
                        <a:t>Carrot, mango</a:t>
                      </a:r>
                    </a:p>
                  </a:txBody>
                  <a:tcPr anchor="ctr">
                    <a:lnL>
                      <a:noFill/>
                    </a:lnL>
                    <a:lnR>
                      <a:noFill/>
                    </a:lnR>
                    <a:lnT>
                      <a:noFill/>
                    </a:lnT>
                    <a:lnB>
                      <a:noFill/>
                    </a:lnB>
                  </a:tcPr>
                </a:tc>
                <a:tc>
                  <a:txBody>
                    <a:bodyPr/>
                    <a:lstStyle/>
                    <a:p>
                      <a:r>
                        <a:rPr lang="en-US"/>
                        <a:t>Grass, wheat</a:t>
                      </a:r>
                    </a:p>
                  </a:txBody>
                  <a:tcPr anchor="ctr">
                    <a:lnL>
                      <a:noFill/>
                    </a:lnL>
                    <a:lnR>
                      <a:noFill/>
                    </a:lnR>
                    <a:lnT>
                      <a:noFill/>
                    </a:lnT>
                    <a:lnB>
                      <a:noFill/>
                    </a:lnB>
                  </a:tcPr>
                </a:tc>
                <a:tc>
                  <a:txBody>
                    <a:bodyPr/>
                    <a:lstStyle/>
                    <a:p>
                      <a:r>
                        <a:rPr lang="en-US" dirty="0"/>
                        <a:t>Maize (prop roots), sugarcane</a:t>
                      </a:r>
                    </a:p>
                  </a:txBody>
                  <a:tcPr anchor="ctr">
                    <a:lnL>
                      <a:noFill/>
                    </a:lnL>
                    <a:lnR>
                      <a:noFill/>
                    </a:lnR>
                    <a:lnT>
                      <a:noFill/>
                    </a:lnT>
                    <a:lnB>
                      <a:noFill/>
                    </a:lnB>
                  </a:tcPr>
                </a:tc>
                <a:extLst>
                  <a:ext uri="{0D108BD9-81ED-4DB2-BD59-A6C34878D82A}">
                    <a16:rowId xmlns:a16="http://schemas.microsoft.com/office/drawing/2014/main" val="2636367726"/>
                  </a:ext>
                </a:extLst>
              </a:tr>
            </a:tbl>
          </a:graphicData>
        </a:graphic>
      </p:graphicFrame>
    </p:spTree>
    <p:extLst>
      <p:ext uri="{BB962C8B-B14F-4D97-AF65-F5344CB8AC3E}">
        <p14:creationId xmlns:p14="http://schemas.microsoft.com/office/powerpoint/2010/main" val="3300769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BAB17-6003-41FD-BBB5-AE42F707D8EF}"/>
              </a:ext>
            </a:extLst>
          </p:cNvPr>
          <p:cNvSpPr>
            <a:spLocks noGrp="1"/>
          </p:cNvSpPr>
          <p:nvPr>
            <p:ph type="title"/>
          </p:nvPr>
        </p:nvSpPr>
        <p:spPr/>
        <p:txBody>
          <a:bodyPr/>
          <a:lstStyle/>
          <a:p>
            <a:r>
              <a:rPr lang="en-US" dirty="0"/>
              <a:t>3.0 Plant Morphology – Stem and Leaf</a:t>
            </a:r>
            <a:endParaRPr lang="en-UG" dirty="0"/>
          </a:p>
        </p:txBody>
      </p:sp>
      <p:sp>
        <p:nvSpPr>
          <p:cNvPr id="3" name="Content Placeholder 2">
            <a:extLst>
              <a:ext uri="{FF2B5EF4-FFF2-40B4-BE49-F238E27FC236}">
                <a16:creationId xmlns:a16="http://schemas.microsoft.com/office/drawing/2014/main" id="{22271288-2AB7-4811-9376-749E817C24D2}"/>
              </a:ext>
            </a:extLst>
          </p:cNvPr>
          <p:cNvSpPr>
            <a:spLocks noGrp="1"/>
          </p:cNvSpPr>
          <p:nvPr>
            <p:ph idx="1"/>
          </p:nvPr>
        </p:nvSpPr>
        <p:spPr/>
        <p:txBody>
          <a:bodyPr/>
          <a:lstStyle/>
          <a:p>
            <a:pPr>
              <a:lnSpc>
                <a:spcPct val="150000"/>
              </a:lnSpc>
            </a:pPr>
            <a:r>
              <a:rPr lang="en-US" b="1" dirty="0"/>
              <a:t>Stems </a:t>
            </a:r>
            <a:r>
              <a:rPr lang="en-US" dirty="0"/>
              <a:t> and the </a:t>
            </a:r>
            <a:r>
              <a:rPr lang="en-US" b="1" dirty="0"/>
              <a:t>leaves</a:t>
            </a:r>
            <a:r>
              <a:rPr lang="en-US" dirty="0"/>
              <a:t>, play vital roles in plant growth, survival, and adaptation of plants.</a:t>
            </a:r>
            <a:endParaRPr lang="en-UG" dirty="0"/>
          </a:p>
        </p:txBody>
      </p:sp>
    </p:spTree>
    <p:extLst>
      <p:ext uri="{BB962C8B-B14F-4D97-AF65-F5344CB8AC3E}">
        <p14:creationId xmlns:p14="http://schemas.microsoft.com/office/powerpoint/2010/main" val="225389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96622-5A1A-4DA9-8CD4-5A0405A009D9}"/>
              </a:ext>
            </a:extLst>
          </p:cNvPr>
          <p:cNvSpPr>
            <a:spLocks noGrp="1"/>
          </p:cNvSpPr>
          <p:nvPr>
            <p:ph type="title"/>
          </p:nvPr>
        </p:nvSpPr>
        <p:spPr/>
        <p:txBody>
          <a:bodyPr/>
          <a:lstStyle/>
          <a:p>
            <a:r>
              <a:rPr lang="en-US" dirty="0"/>
              <a:t>3.1 Stem Types, Stem Functions, and Modifications</a:t>
            </a:r>
            <a:endParaRPr lang="en-UG" dirty="0"/>
          </a:p>
        </p:txBody>
      </p:sp>
      <p:sp>
        <p:nvSpPr>
          <p:cNvPr id="3" name="Content Placeholder 2">
            <a:extLst>
              <a:ext uri="{FF2B5EF4-FFF2-40B4-BE49-F238E27FC236}">
                <a16:creationId xmlns:a16="http://schemas.microsoft.com/office/drawing/2014/main" id="{CEE15C90-3780-43D2-98B0-FE049CB03C69}"/>
              </a:ext>
            </a:extLst>
          </p:cNvPr>
          <p:cNvSpPr>
            <a:spLocks noGrp="1"/>
          </p:cNvSpPr>
          <p:nvPr>
            <p:ph idx="1"/>
          </p:nvPr>
        </p:nvSpPr>
        <p:spPr/>
        <p:txBody>
          <a:bodyPr>
            <a:normAutofit/>
          </a:bodyPr>
          <a:lstStyle/>
          <a:p>
            <a:r>
              <a:rPr lang="en-US" b="1" dirty="0"/>
              <a:t>A. Stem Types</a:t>
            </a:r>
          </a:p>
          <a:p>
            <a:r>
              <a:rPr lang="en-US" b="1" dirty="0"/>
              <a:t>Herbaceous stems</a:t>
            </a:r>
            <a:r>
              <a:rPr lang="en-US" dirty="0"/>
              <a:t> – Soft, green, non-woody.</a:t>
            </a:r>
          </a:p>
          <a:p>
            <a:pPr lvl="1"/>
            <a:r>
              <a:rPr lang="en-US" dirty="0"/>
              <a:t>Example: </a:t>
            </a:r>
            <a:r>
              <a:rPr lang="en-US" b="1" dirty="0"/>
              <a:t>Amaranthus spp. (</a:t>
            </a:r>
            <a:r>
              <a:rPr lang="en-US" b="1" dirty="0" err="1"/>
              <a:t>Doodo</a:t>
            </a:r>
            <a:r>
              <a:rPr lang="en-US" b="1" dirty="0"/>
              <a:t>)</a:t>
            </a:r>
            <a:r>
              <a:rPr lang="en-US" dirty="0"/>
              <a:t> – a common leafy vegetable in Uganda. They contain cellulose which is easily decomposed</a:t>
            </a:r>
          </a:p>
          <a:p>
            <a:endParaRPr lang="en-UG" dirty="0"/>
          </a:p>
        </p:txBody>
      </p:sp>
      <p:pic>
        <p:nvPicPr>
          <p:cNvPr id="4" name="Picture 3">
            <a:extLst>
              <a:ext uri="{FF2B5EF4-FFF2-40B4-BE49-F238E27FC236}">
                <a16:creationId xmlns:a16="http://schemas.microsoft.com/office/drawing/2014/main" id="{3FB9F1B7-1D06-4E8D-BCCE-D27699A57AFF}"/>
              </a:ext>
            </a:extLst>
          </p:cNvPr>
          <p:cNvPicPr>
            <a:picLocks noChangeAspect="1"/>
          </p:cNvPicPr>
          <p:nvPr/>
        </p:nvPicPr>
        <p:blipFill>
          <a:blip r:embed="rId2"/>
          <a:stretch>
            <a:fillRect/>
          </a:stretch>
        </p:blipFill>
        <p:spPr>
          <a:xfrm>
            <a:off x="7886904" y="3506871"/>
            <a:ext cx="2914266" cy="3302834"/>
          </a:xfrm>
          <a:prstGeom prst="rect">
            <a:avLst/>
          </a:prstGeom>
        </p:spPr>
      </p:pic>
    </p:spTree>
    <p:extLst>
      <p:ext uri="{BB962C8B-B14F-4D97-AF65-F5344CB8AC3E}">
        <p14:creationId xmlns:p14="http://schemas.microsoft.com/office/powerpoint/2010/main" val="2920812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98854-C2D1-47DB-8523-CC2469AB8851}"/>
              </a:ext>
            </a:extLst>
          </p:cNvPr>
          <p:cNvSpPr>
            <a:spLocks noGrp="1"/>
          </p:cNvSpPr>
          <p:nvPr>
            <p:ph type="title"/>
          </p:nvPr>
        </p:nvSpPr>
        <p:spPr/>
        <p:txBody>
          <a:bodyPr/>
          <a:lstStyle/>
          <a:p>
            <a:r>
              <a:rPr lang="en-US" dirty="0"/>
              <a:t>Other examples of Herbaceous crops</a:t>
            </a:r>
            <a:endParaRPr lang="en-UG" dirty="0"/>
          </a:p>
        </p:txBody>
      </p:sp>
      <p:graphicFrame>
        <p:nvGraphicFramePr>
          <p:cNvPr id="4" name="Content Placeholder 3">
            <a:extLst>
              <a:ext uri="{FF2B5EF4-FFF2-40B4-BE49-F238E27FC236}">
                <a16:creationId xmlns:a16="http://schemas.microsoft.com/office/drawing/2014/main" id="{4E854066-109A-47A7-97CB-9316D70C4A18}"/>
              </a:ext>
            </a:extLst>
          </p:cNvPr>
          <p:cNvGraphicFramePr>
            <a:graphicFrameLocks noGrp="1"/>
          </p:cNvGraphicFramePr>
          <p:nvPr>
            <p:ph idx="1"/>
          </p:nvPr>
        </p:nvGraphicFramePr>
        <p:xfrm>
          <a:off x="838200" y="2675414"/>
          <a:ext cx="10515600" cy="2651760"/>
        </p:xfrm>
        <a:graphic>
          <a:graphicData uri="http://schemas.openxmlformats.org/drawingml/2006/table">
            <a:tbl>
              <a:tblPr/>
              <a:tblGrid>
                <a:gridCol w="3505200">
                  <a:extLst>
                    <a:ext uri="{9D8B030D-6E8A-4147-A177-3AD203B41FA5}">
                      <a16:colId xmlns:a16="http://schemas.microsoft.com/office/drawing/2014/main" val="936796621"/>
                    </a:ext>
                  </a:extLst>
                </a:gridCol>
                <a:gridCol w="3505200">
                  <a:extLst>
                    <a:ext uri="{9D8B030D-6E8A-4147-A177-3AD203B41FA5}">
                      <a16:colId xmlns:a16="http://schemas.microsoft.com/office/drawing/2014/main" val="3811864364"/>
                    </a:ext>
                  </a:extLst>
                </a:gridCol>
                <a:gridCol w="3505200">
                  <a:extLst>
                    <a:ext uri="{9D8B030D-6E8A-4147-A177-3AD203B41FA5}">
                      <a16:colId xmlns:a16="http://schemas.microsoft.com/office/drawing/2014/main" val="3387606123"/>
                    </a:ext>
                  </a:extLst>
                </a:gridCol>
              </a:tblGrid>
              <a:tr h="0">
                <a:tc>
                  <a:txBody>
                    <a:bodyPr/>
                    <a:lstStyle/>
                    <a:p>
                      <a:r>
                        <a:rPr lang="en-US" b="1"/>
                        <a:t>Crop Name</a:t>
                      </a:r>
                      <a:endParaRPr lang="en-US"/>
                    </a:p>
                  </a:txBody>
                  <a:tcPr anchor="ctr">
                    <a:lnL>
                      <a:noFill/>
                    </a:lnL>
                    <a:lnR>
                      <a:noFill/>
                    </a:lnR>
                    <a:lnT>
                      <a:noFill/>
                    </a:lnT>
                    <a:lnB>
                      <a:noFill/>
                    </a:lnB>
                  </a:tcPr>
                </a:tc>
                <a:tc>
                  <a:txBody>
                    <a:bodyPr/>
                    <a:lstStyle/>
                    <a:p>
                      <a:r>
                        <a:rPr lang="en-US" b="1"/>
                        <a:t>Botanical Name</a:t>
                      </a:r>
                      <a:endParaRPr lang="en-US"/>
                    </a:p>
                  </a:txBody>
                  <a:tcPr anchor="ctr">
                    <a:lnL>
                      <a:noFill/>
                    </a:lnL>
                    <a:lnR>
                      <a:noFill/>
                    </a:lnR>
                    <a:lnT>
                      <a:noFill/>
                    </a:lnT>
                    <a:lnB>
                      <a:noFill/>
                    </a:lnB>
                  </a:tcPr>
                </a:tc>
                <a:tc>
                  <a:txBody>
                    <a:bodyPr/>
                    <a:lstStyle/>
                    <a:p>
                      <a:r>
                        <a:rPr lang="en-US" b="1"/>
                        <a:t>Notes</a:t>
                      </a:r>
                      <a:endParaRPr lang="en-US"/>
                    </a:p>
                  </a:txBody>
                  <a:tcPr anchor="ctr">
                    <a:lnL>
                      <a:noFill/>
                    </a:lnL>
                    <a:lnR>
                      <a:noFill/>
                    </a:lnR>
                    <a:lnT>
                      <a:noFill/>
                    </a:lnT>
                    <a:lnB>
                      <a:noFill/>
                    </a:lnB>
                  </a:tcPr>
                </a:tc>
                <a:extLst>
                  <a:ext uri="{0D108BD9-81ED-4DB2-BD59-A6C34878D82A}">
                    <a16:rowId xmlns:a16="http://schemas.microsoft.com/office/drawing/2014/main" val="2935719699"/>
                  </a:ext>
                </a:extLst>
              </a:tr>
              <a:tr h="0">
                <a:tc>
                  <a:txBody>
                    <a:bodyPr/>
                    <a:lstStyle/>
                    <a:p>
                      <a:r>
                        <a:rPr lang="en-US" b="1"/>
                        <a:t>Maize</a:t>
                      </a:r>
                      <a:endParaRPr lang="en-US"/>
                    </a:p>
                  </a:txBody>
                  <a:tcPr anchor="ctr">
                    <a:lnL>
                      <a:noFill/>
                    </a:lnL>
                    <a:lnR>
                      <a:noFill/>
                    </a:lnR>
                    <a:lnT>
                      <a:noFill/>
                    </a:lnT>
                    <a:lnB>
                      <a:noFill/>
                    </a:lnB>
                  </a:tcPr>
                </a:tc>
                <a:tc>
                  <a:txBody>
                    <a:bodyPr/>
                    <a:lstStyle/>
                    <a:p>
                      <a:r>
                        <a:rPr lang="en-US" i="1"/>
                        <a:t>Zea mays</a:t>
                      </a:r>
                      <a:endParaRPr lang="en-US"/>
                    </a:p>
                  </a:txBody>
                  <a:tcPr anchor="ctr">
                    <a:lnL>
                      <a:noFill/>
                    </a:lnL>
                    <a:lnR>
                      <a:noFill/>
                    </a:lnR>
                    <a:lnT>
                      <a:noFill/>
                    </a:lnT>
                    <a:lnB>
                      <a:noFill/>
                    </a:lnB>
                  </a:tcPr>
                </a:tc>
                <a:tc>
                  <a:txBody>
                    <a:bodyPr/>
                    <a:lstStyle/>
                    <a:p>
                      <a:r>
                        <a:rPr lang="en-US"/>
                        <a:t>Staple food crop across Uganda</a:t>
                      </a:r>
                    </a:p>
                  </a:txBody>
                  <a:tcPr anchor="ctr">
                    <a:lnL>
                      <a:noFill/>
                    </a:lnL>
                    <a:lnR>
                      <a:noFill/>
                    </a:lnR>
                    <a:lnT>
                      <a:noFill/>
                    </a:lnT>
                    <a:lnB>
                      <a:noFill/>
                    </a:lnB>
                  </a:tcPr>
                </a:tc>
                <a:extLst>
                  <a:ext uri="{0D108BD9-81ED-4DB2-BD59-A6C34878D82A}">
                    <a16:rowId xmlns:a16="http://schemas.microsoft.com/office/drawing/2014/main" val="1402960331"/>
                  </a:ext>
                </a:extLst>
              </a:tr>
              <a:tr h="0">
                <a:tc>
                  <a:txBody>
                    <a:bodyPr/>
                    <a:lstStyle/>
                    <a:p>
                      <a:r>
                        <a:rPr lang="en-US" b="1"/>
                        <a:t>Sorghum</a:t>
                      </a:r>
                      <a:endParaRPr lang="en-US"/>
                    </a:p>
                  </a:txBody>
                  <a:tcPr anchor="ctr">
                    <a:lnL>
                      <a:noFill/>
                    </a:lnL>
                    <a:lnR>
                      <a:noFill/>
                    </a:lnR>
                    <a:lnT>
                      <a:noFill/>
                    </a:lnT>
                    <a:lnB>
                      <a:noFill/>
                    </a:lnB>
                  </a:tcPr>
                </a:tc>
                <a:tc>
                  <a:txBody>
                    <a:bodyPr/>
                    <a:lstStyle/>
                    <a:p>
                      <a:r>
                        <a:rPr lang="en-US" i="1"/>
                        <a:t>Sorghum bicolor</a:t>
                      </a:r>
                      <a:endParaRPr lang="en-US"/>
                    </a:p>
                  </a:txBody>
                  <a:tcPr anchor="ctr">
                    <a:lnL>
                      <a:noFill/>
                    </a:lnL>
                    <a:lnR>
                      <a:noFill/>
                    </a:lnR>
                    <a:lnT>
                      <a:noFill/>
                    </a:lnT>
                    <a:lnB>
                      <a:noFill/>
                    </a:lnB>
                  </a:tcPr>
                </a:tc>
                <a:tc>
                  <a:txBody>
                    <a:bodyPr/>
                    <a:lstStyle/>
                    <a:p>
                      <a:r>
                        <a:rPr lang="en-US"/>
                        <a:t>Drought-tolerant, grown in dry areas</a:t>
                      </a:r>
                    </a:p>
                  </a:txBody>
                  <a:tcPr anchor="ctr">
                    <a:lnL>
                      <a:noFill/>
                    </a:lnL>
                    <a:lnR>
                      <a:noFill/>
                    </a:lnR>
                    <a:lnT>
                      <a:noFill/>
                    </a:lnT>
                    <a:lnB>
                      <a:noFill/>
                    </a:lnB>
                  </a:tcPr>
                </a:tc>
                <a:extLst>
                  <a:ext uri="{0D108BD9-81ED-4DB2-BD59-A6C34878D82A}">
                    <a16:rowId xmlns:a16="http://schemas.microsoft.com/office/drawing/2014/main" val="2624010002"/>
                  </a:ext>
                </a:extLst>
              </a:tr>
              <a:tr h="0">
                <a:tc>
                  <a:txBody>
                    <a:bodyPr/>
                    <a:lstStyle/>
                    <a:p>
                      <a:r>
                        <a:rPr lang="en-US" b="1"/>
                        <a:t>Millet</a:t>
                      </a:r>
                      <a:endParaRPr lang="en-US"/>
                    </a:p>
                  </a:txBody>
                  <a:tcPr anchor="ctr">
                    <a:lnL>
                      <a:noFill/>
                    </a:lnL>
                    <a:lnR>
                      <a:noFill/>
                    </a:lnR>
                    <a:lnT>
                      <a:noFill/>
                    </a:lnT>
                    <a:lnB>
                      <a:noFill/>
                    </a:lnB>
                  </a:tcPr>
                </a:tc>
                <a:tc>
                  <a:txBody>
                    <a:bodyPr/>
                    <a:lstStyle/>
                    <a:p>
                      <a:r>
                        <a:rPr lang="en-US" i="1"/>
                        <a:t>Eleusine coracana</a:t>
                      </a:r>
                      <a:endParaRPr lang="en-US"/>
                    </a:p>
                  </a:txBody>
                  <a:tcPr anchor="ctr">
                    <a:lnL>
                      <a:noFill/>
                    </a:lnL>
                    <a:lnR>
                      <a:noFill/>
                    </a:lnR>
                    <a:lnT>
                      <a:noFill/>
                    </a:lnT>
                    <a:lnB>
                      <a:noFill/>
                    </a:lnB>
                  </a:tcPr>
                </a:tc>
                <a:tc>
                  <a:txBody>
                    <a:bodyPr/>
                    <a:lstStyle/>
                    <a:p>
                      <a:r>
                        <a:rPr lang="en-US"/>
                        <a:t>Important in Eastern &amp; Northern Uganda</a:t>
                      </a:r>
                    </a:p>
                  </a:txBody>
                  <a:tcPr anchor="ctr">
                    <a:lnL>
                      <a:noFill/>
                    </a:lnL>
                    <a:lnR>
                      <a:noFill/>
                    </a:lnR>
                    <a:lnT>
                      <a:noFill/>
                    </a:lnT>
                    <a:lnB>
                      <a:noFill/>
                    </a:lnB>
                  </a:tcPr>
                </a:tc>
                <a:extLst>
                  <a:ext uri="{0D108BD9-81ED-4DB2-BD59-A6C34878D82A}">
                    <a16:rowId xmlns:a16="http://schemas.microsoft.com/office/drawing/2014/main" val="2925180025"/>
                  </a:ext>
                </a:extLst>
              </a:tr>
              <a:tr h="0">
                <a:tc>
                  <a:txBody>
                    <a:bodyPr/>
                    <a:lstStyle/>
                    <a:p>
                      <a:r>
                        <a:rPr lang="en-US" b="1"/>
                        <a:t>Rice</a:t>
                      </a:r>
                      <a:endParaRPr lang="en-US"/>
                    </a:p>
                  </a:txBody>
                  <a:tcPr anchor="ctr">
                    <a:lnL>
                      <a:noFill/>
                    </a:lnL>
                    <a:lnR>
                      <a:noFill/>
                    </a:lnR>
                    <a:lnT>
                      <a:noFill/>
                    </a:lnT>
                    <a:lnB>
                      <a:noFill/>
                    </a:lnB>
                  </a:tcPr>
                </a:tc>
                <a:tc>
                  <a:txBody>
                    <a:bodyPr/>
                    <a:lstStyle/>
                    <a:p>
                      <a:r>
                        <a:rPr lang="en-US" i="1"/>
                        <a:t>Oryza sativa</a:t>
                      </a:r>
                      <a:endParaRPr lang="en-US"/>
                    </a:p>
                  </a:txBody>
                  <a:tcPr anchor="ctr">
                    <a:lnL>
                      <a:noFill/>
                    </a:lnL>
                    <a:lnR>
                      <a:noFill/>
                    </a:lnR>
                    <a:lnT>
                      <a:noFill/>
                    </a:lnT>
                    <a:lnB>
                      <a:noFill/>
                    </a:lnB>
                  </a:tcPr>
                </a:tc>
                <a:tc>
                  <a:txBody>
                    <a:bodyPr/>
                    <a:lstStyle/>
                    <a:p>
                      <a:r>
                        <a:rPr lang="en-US" dirty="0"/>
                        <a:t>Grown in wetlands and irrigated areas</a:t>
                      </a:r>
                    </a:p>
                  </a:txBody>
                  <a:tcPr anchor="ctr">
                    <a:lnL>
                      <a:noFill/>
                    </a:lnL>
                    <a:lnR>
                      <a:noFill/>
                    </a:lnR>
                    <a:lnT>
                      <a:noFill/>
                    </a:lnT>
                    <a:lnB>
                      <a:noFill/>
                    </a:lnB>
                  </a:tcPr>
                </a:tc>
                <a:extLst>
                  <a:ext uri="{0D108BD9-81ED-4DB2-BD59-A6C34878D82A}">
                    <a16:rowId xmlns:a16="http://schemas.microsoft.com/office/drawing/2014/main" val="3748577674"/>
                  </a:ext>
                </a:extLst>
              </a:tr>
            </a:tbl>
          </a:graphicData>
        </a:graphic>
      </p:graphicFrame>
    </p:spTree>
    <p:extLst>
      <p:ext uri="{BB962C8B-B14F-4D97-AF65-F5344CB8AC3E}">
        <p14:creationId xmlns:p14="http://schemas.microsoft.com/office/powerpoint/2010/main" val="27837412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75F3E-4778-4E4C-AD8A-EA288E443F98}"/>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203540E9-1647-42CE-B885-9C2201BD0DE7}"/>
              </a:ext>
            </a:extLst>
          </p:cNvPr>
          <p:cNvSpPr>
            <a:spLocks noGrp="1"/>
          </p:cNvSpPr>
          <p:nvPr>
            <p:ph idx="1"/>
          </p:nvPr>
        </p:nvSpPr>
        <p:spPr/>
        <p:txBody>
          <a:bodyPr/>
          <a:lstStyle/>
          <a:p>
            <a:r>
              <a:rPr lang="en-US" b="1" dirty="0"/>
              <a:t>Woody stems</a:t>
            </a:r>
            <a:r>
              <a:rPr lang="en-US" dirty="0"/>
              <a:t> – Hard, lignified stems that persist year after year.</a:t>
            </a:r>
          </a:p>
          <a:p>
            <a:pPr lvl="1"/>
            <a:r>
              <a:rPr lang="en-US" dirty="0"/>
              <a:t>Example: </a:t>
            </a:r>
            <a:r>
              <a:rPr lang="en-US" b="1" dirty="0" err="1"/>
              <a:t>Mangifera</a:t>
            </a:r>
            <a:r>
              <a:rPr lang="en-US" b="1" dirty="0"/>
              <a:t> </a:t>
            </a:r>
            <a:r>
              <a:rPr lang="en-US" b="1" dirty="0" err="1"/>
              <a:t>indica</a:t>
            </a:r>
            <a:r>
              <a:rPr lang="en-US" b="1" dirty="0"/>
              <a:t> (Mango tree)</a:t>
            </a:r>
            <a:r>
              <a:rPr lang="en-US" dirty="0"/>
              <a:t>. Lignin takes a long time to decompose</a:t>
            </a:r>
          </a:p>
          <a:p>
            <a:r>
              <a:rPr lang="en-US" b="1" dirty="0"/>
              <a:t>Climbing stems</a:t>
            </a:r>
            <a:r>
              <a:rPr lang="en-US" dirty="0"/>
              <a:t> – Adapted to climb supports.</a:t>
            </a:r>
          </a:p>
          <a:p>
            <a:pPr lvl="1"/>
            <a:r>
              <a:rPr lang="en-US" dirty="0"/>
              <a:t>Example: </a:t>
            </a:r>
            <a:r>
              <a:rPr lang="en-US" b="1" dirty="0"/>
              <a:t>Phaseolus vulgaris (Common bean)</a:t>
            </a:r>
            <a:r>
              <a:rPr lang="en-US" dirty="0"/>
              <a:t> – climbs using tendrils.</a:t>
            </a:r>
          </a:p>
          <a:p>
            <a:r>
              <a:rPr lang="en-US" b="1" dirty="0"/>
              <a:t>Creeping stems</a:t>
            </a:r>
            <a:r>
              <a:rPr lang="en-US" dirty="0"/>
              <a:t> – Grow horizontally on the ground.</a:t>
            </a:r>
          </a:p>
          <a:p>
            <a:pPr lvl="1"/>
            <a:r>
              <a:rPr lang="en-US" dirty="0"/>
              <a:t>Example: </a:t>
            </a:r>
            <a:r>
              <a:rPr lang="en-US" b="1" dirty="0" err="1"/>
              <a:t>Cynodon</a:t>
            </a:r>
            <a:r>
              <a:rPr lang="en-US" b="1" dirty="0"/>
              <a:t> </a:t>
            </a:r>
            <a:r>
              <a:rPr lang="en-US" b="1" dirty="0" err="1"/>
              <a:t>dactylon</a:t>
            </a:r>
            <a:r>
              <a:rPr lang="en-US" b="1" dirty="0"/>
              <a:t> (Couch grass)</a:t>
            </a:r>
            <a:r>
              <a:rPr lang="en-US" dirty="0"/>
              <a:t>.</a:t>
            </a:r>
          </a:p>
          <a:p>
            <a:endParaRPr lang="en-UG" dirty="0"/>
          </a:p>
        </p:txBody>
      </p:sp>
    </p:spTree>
    <p:extLst>
      <p:ext uri="{BB962C8B-B14F-4D97-AF65-F5344CB8AC3E}">
        <p14:creationId xmlns:p14="http://schemas.microsoft.com/office/powerpoint/2010/main" val="1654568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E1336-4BE5-4818-898A-F48686101C06}"/>
              </a:ext>
            </a:extLst>
          </p:cNvPr>
          <p:cNvSpPr>
            <a:spLocks noGrp="1"/>
          </p:cNvSpPr>
          <p:nvPr>
            <p:ph type="title"/>
          </p:nvPr>
        </p:nvSpPr>
        <p:spPr>
          <a:xfrm>
            <a:off x="838200" y="140682"/>
            <a:ext cx="10515600" cy="1325563"/>
          </a:xfrm>
        </p:spPr>
        <p:txBody>
          <a:bodyPr/>
          <a:lstStyle/>
          <a:p>
            <a:r>
              <a:rPr lang="en-US" dirty="0"/>
              <a:t>Woody plants/crops</a:t>
            </a:r>
            <a:endParaRPr lang="en-UG" dirty="0"/>
          </a:p>
        </p:txBody>
      </p:sp>
      <p:graphicFrame>
        <p:nvGraphicFramePr>
          <p:cNvPr id="4" name="Content Placeholder 3">
            <a:extLst>
              <a:ext uri="{FF2B5EF4-FFF2-40B4-BE49-F238E27FC236}">
                <a16:creationId xmlns:a16="http://schemas.microsoft.com/office/drawing/2014/main" id="{19541DD6-5062-4529-BE7F-D48ACCE569EA}"/>
              </a:ext>
            </a:extLst>
          </p:cNvPr>
          <p:cNvGraphicFramePr>
            <a:graphicFrameLocks noGrp="1"/>
          </p:cNvGraphicFramePr>
          <p:nvPr>
            <p:ph idx="1"/>
            <p:extLst>
              <p:ext uri="{D42A27DB-BD31-4B8C-83A1-F6EECF244321}">
                <p14:modId xmlns:p14="http://schemas.microsoft.com/office/powerpoint/2010/main" val="1881495786"/>
              </p:ext>
            </p:extLst>
          </p:nvPr>
        </p:nvGraphicFramePr>
        <p:xfrm>
          <a:off x="332510" y="1568810"/>
          <a:ext cx="11729259" cy="6038010"/>
        </p:xfrm>
        <a:graphic>
          <a:graphicData uri="http://schemas.openxmlformats.org/drawingml/2006/table">
            <a:tbl>
              <a:tblPr/>
              <a:tblGrid>
                <a:gridCol w="3458094">
                  <a:extLst>
                    <a:ext uri="{9D8B030D-6E8A-4147-A177-3AD203B41FA5}">
                      <a16:colId xmlns:a16="http://schemas.microsoft.com/office/drawing/2014/main" val="4050999959"/>
                    </a:ext>
                  </a:extLst>
                </a:gridCol>
                <a:gridCol w="3316778">
                  <a:extLst>
                    <a:ext uri="{9D8B030D-6E8A-4147-A177-3AD203B41FA5}">
                      <a16:colId xmlns:a16="http://schemas.microsoft.com/office/drawing/2014/main" val="4207250595"/>
                    </a:ext>
                  </a:extLst>
                </a:gridCol>
                <a:gridCol w="4954387">
                  <a:extLst>
                    <a:ext uri="{9D8B030D-6E8A-4147-A177-3AD203B41FA5}">
                      <a16:colId xmlns:a16="http://schemas.microsoft.com/office/drawing/2014/main" val="3959102897"/>
                    </a:ext>
                  </a:extLst>
                </a:gridCol>
              </a:tblGrid>
              <a:tr h="740844">
                <a:tc>
                  <a:txBody>
                    <a:bodyPr/>
                    <a:lstStyle/>
                    <a:p>
                      <a:r>
                        <a:rPr lang="en-US" sz="2400" b="1" dirty="0"/>
                        <a:t>Crop Name</a:t>
                      </a:r>
                      <a:endParaRPr lang="en-US" sz="2400" dirty="0"/>
                    </a:p>
                  </a:txBody>
                  <a:tcPr anchor="ctr">
                    <a:lnL>
                      <a:noFill/>
                    </a:lnL>
                    <a:lnR>
                      <a:noFill/>
                    </a:lnR>
                    <a:lnT>
                      <a:noFill/>
                    </a:lnT>
                    <a:lnB>
                      <a:noFill/>
                    </a:lnB>
                  </a:tcPr>
                </a:tc>
                <a:tc>
                  <a:txBody>
                    <a:bodyPr/>
                    <a:lstStyle/>
                    <a:p>
                      <a:r>
                        <a:rPr lang="en-US" sz="2400" b="1" dirty="0"/>
                        <a:t>Botanical Name</a:t>
                      </a:r>
                      <a:endParaRPr lang="en-US" sz="2400" dirty="0"/>
                    </a:p>
                  </a:txBody>
                  <a:tcPr anchor="ctr">
                    <a:lnL>
                      <a:noFill/>
                    </a:lnL>
                    <a:lnR>
                      <a:noFill/>
                    </a:lnR>
                    <a:lnT>
                      <a:noFill/>
                    </a:lnT>
                    <a:lnB>
                      <a:noFill/>
                    </a:lnB>
                  </a:tcPr>
                </a:tc>
                <a:tc>
                  <a:txBody>
                    <a:bodyPr/>
                    <a:lstStyle/>
                    <a:p>
                      <a:r>
                        <a:rPr lang="en-US" sz="2400" b="1"/>
                        <a:t>Notes</a:t>
                      </a:r>
                      <a:endParaRPr lang="en-US" sz="2400"/>
                    </a:p>
                  </a:txBody>
                  <a:tcPr anchor="ctr">
                    <a:lnL>
                      <a:noFill/>
                    </a:lnL>
                    <a:lnR>
                      <a:noFill/>
                    </a:lnR>
                    <a:lnT>
                      <a:noFill/>
                    </a:lnT>
                    <a:lnB>
                      <a:noFill/>
                    </a:lnB>
                  </a:tcPr>
                </a:tc>
                <a:extLst>
                  <a:ext uri="{0D108BD9-81ED-4DB2-BD59-A6C34878D82A}">
                    <a16:rowId xmlns:a16="http://schemas.microsoft.com/office/drawing/2014/main" val="550360738"/>
                  </a:ext>
                </a:extLst>
              </a:tr>
              <a:tr h="662499">
                <a:tc>
                  <a:txBody>
                    <a:bodyPr/>
                    <a:lstStyle/>
                    <a:p>
                      <a:r>
                        <a:rPr lang="en-US" sz="2400" b="1" dirty="0"/>
                        <a:t>Mango</a:t>
                      </a:r>
                      <a:endParaRPr lang="en-US" sz="2400" dirty="0"/>
                    </a:p>
                  </a:txBody>
                  <a:tcPr anchor="ctr">
                    <a:lnL>
                      <a:noFill/>
                    </a:lnL>
                    <a:lnR>
                      <a:noFill/>
                    </a:lnR>
                    <a:lnT>
                      <a:noFill/>
                    </a:lnT>
                    <a:lnB>
                      <a:noFill/>
                    </a:lnB>
                  </a:tcPr>
                </a:tc>
                <a:tc>
                  <a:txBody>
                    <a:bodyPr/>
                    <a:lstStyle/>
                    <a:p>
                      <a:r>
                        <a:rPr lang="en-US" sz="2400" i="1" dirty="0" err="1"/>
                        <a:t>Mangifera</a:t>
                      </a:r>
                      <a:r>
                        <a:rPr lang="en-US" sz="2400" i="1" dirty="0"/>
                        <a:t> </a:t>
                      </a:r>
                      <a:r>
                        <a:rPr lang="en-US" sz="2400" i="1" dirty="0" err="1"/>
                        <a:t>indica</a:t>
                      </a:r>
                      <a:endParaRPr lang="en-US" sz="2400" dirty="0"/>
                    </a:p>
                  </a:txBody>
                  <a:tcPr anchor="ctr">
                    <a:lnL>
                      <a:noFill/>
                    </a:lnL>
                    <a:lnR>
                      <a:noFill/>
                    </a:lnR>
                    <a:lnT>
                      <a:noFill/>
                    </a:lnT>
                    <a:lnB>
                      <a:noFill/>
                    </a:lnB>
                  </a:tcPr>
                </a:tc>
                <a:tc>
                  <a:txBody>
                    <a:bodyPr/>
                    <a:lstStyle/>
                    <a:p>
                      <a:r>
                        <a:rPr lang="en-US" sz="2400"/>
                        <a:t>Common in central and eastern Uganda</a:t>
                      </a:r>
                    </a:p>
                  </a:txBody>
                  <a:tcPr anchor="ctr">
                    <a:lnL>
                      <a:noFill/>
                    </a:lnL>
                    <a:lnR>
                      <a:noFill/>
                    </a:lnR>
                    <a:lnT>
                      <a:noFill/>
                    </a:lnT>
                    <a:lnB>
                      <a:noFill/>
                    </a:lnB>
                  </a:tcPr>
                </a:tc>
                <a:extLst>
                  <a:ext uri="{0D108BD9-81ED-4DB2-BD59-A6C34878D82A}">
                    <a16:rowId xmlns:a16="http://schemas.microsoft.com/office/drawing/2014/main" val="686688523"/>
                  </a:ext>
                </a:extLst>
              </a:tr>
              <a:tr h="662499">
                <a:tc>
                  <a:txBody>
                    <a:bodyPr/>
                    <a:lstStyle/>
                    <a:p>
                      <a:r>
                        <a:rPr lang="en-US" sz="2400" b="1" dirty="0"/>
                        <a:t>Avocado</a:t>
                      </a:r>
                      <a:endParaRPr lang="en-US" sz="2400" dirty="0"/>
                    </a:p>
                  </a:txBody>
                  <a:tcPr anchor="ctr">
                    <a:lnL>
                      <a:noFill/>
                    </a:lnL>
                    <a:lnR>
                      <a:noFill/>
                    </a:lnR>
                    <a:lnT>
                      <a:noFill/>
                    </a:lnT>
                    <a:lnB>
                      <a:noFill/>
                    </a:lnB>
                  </a:tcPr>
                </a:tc>
                <a:tc>
                  <a:txBody>
                    <a:bodyPr/>
                    <a:lstStyle/>
                    <a:p>
                      <a:r>
                        <a:rPr lang="en-US" sz="2400" i="1" dirty="0" err="1"/>
                        <a:t>Persea</a:t>
                      </a:r>
                      <a:r>
                        <a:rPr lang="en-US" sz="2400" i="1" dirty="0"/>
                        <a:t> </a:t>
                      </a:r>
                      <a:r>
                        <a:rPr lang="en-US" sz="2400" i="1" dirty="0" err="1"/>
                        <a:t>americana</a:t>
                      </a:r>
                      <a:endParaRPr lang="en-US" sz="2400" dirty="0"/>
                    </a:p>
                  </a:txBody>
                  <a:tcPr anchor="ctr">
                    <a:lnL>
                      <a:noFill/>
                    </a:lnL>
                    <a:lnR>
                      <a:noFill/>
                    </a:lnR>
                    <a:lnT>
                      <a:noFill/>
                    </a:lnT>
                    <a:lnB>
                      <a:noFill/>
                    </a:lnB>
                  </a:tcPr>
                </a:tc>
                <a:tc>
                  <a:txBody>
                    <a:bodyPr/>
                    <a:lstStyle/>
                    <a:p>
                      <a:r>
                        <a:rPr lang="en-US" sz="2400"/>
                        <a:t>Grown in both home gardens and farms</a:t>
                      </a:r>
                    </a:p>
                  </a:txBody>
                  <a:tcPr anchor="ctr">
                    <a:lnL>
                      <a:noFill/>
                    </a:lnL>
                    <a:lnR>
                      <a:noFill/>
                    </a:lnR>
                    <a:lnT>
                      <a:noFill/>
                    </a:lnT>
                    <a:lnB>
                      <a:noFill/>
                    </a:lnB>
                  </a:tcPr>
                </a:tc>
                <a:extLst>
                  <a:ext uri="{0D108BD9-81ED-4DB2-BD59-A6C34878D82A}">
                    <a16:rowId xmlns:a16="http://schemas.microsoft.com/office/drawing/2014/main" val="643258475"/>
                  </a:ext>
                </a:extLst>
              </a:tr>
              <a:tr h="368055">
                <a:tc>
                  <a:txBody>
                    <a:bodyPr/>
                    <a:lstStyle/>
                    <a:p>
                      <a:r>
                        <a:rPr lang="en-US" sz="2400" b="1"/>
                        <a:t>Guava</a:t>
                      </a:r>
                      <a:endParaRPr lang="en-US" sz="2400"/>
                    </a:p>
                  </a:txBody>
                  <a:tcPr anchor="ctr">
                    <a:lnL>
                      <a:noFill/>
                    </a:lnL>
                    <a:lnR>
                      <a:noFill/>
                    </a:lnR>
                    <a:lnT>
                      <a:noFill/>
                    </a:lnT>
                    <a:lnB>
                      <a:noFill/>
                    </a:lnB>
                  </a:tcPr>
                </a:tc>
                <a:tc>
                  <a:txBody>
                    <a:bodyPr/>
                    <a:lstStyle/>
                    <a:p>
                      <a:r>
                        <a:rPr lang="en-US" sz="2400" i="1" dirty="0"/>
                        <a:t>Psidium </a:t>
                      </a:r>
                      <a:r>
                        <a:rPr lang="en-US" sz="2400" i="1" dirty="0" err="1"/>
                        <a:t>guajava</a:t>
                      </a:r>
                      <a:endParaRPr lang="en-US" sz="2400" dirty="0"/>
                    </a:p>
                  </a:txBody>
                  <a:tcPr anchor="ctr">
                    <a:lnL>
                      <a:noFill/>
                    </a:lnL>
                    <a:lnR>
                      <a:noFill/>
                    </a:lnR>
                    <a:lnT>
                      <a:noFill/>
                    </a:lnT>
                    <a:lnB>
                      <a:noFill/>
                    </a:lnB>
                  </a:tcPr>
                </a:tc>
                <a:tc>
                  <a:txBody>
                    <a:bodyPr/>
                    <a:lstStyle/>
                    <a:p>
                      <a:r>
                        <a:rPr lang="en-US" sz="2400"/>
                        <a:t>Hardy tree, grown widely</a:t>
                      </a:r>
                    </a:p>
                  </a:txBody>
                  <a:tcPr anchor="ctr">
                    <a:lnL>
                      <a:noFill/>
                    </a:lnL>
                    <a:lnR>
                      <a:noFill/>
                    </a:lnR>
                    <a:lnT>
                      <a:noFill/>
                    </a:lnT>
                    <a:lnB>
                      <a:noFill/>
                    </a:lnB>
                  </a:tcPr>
                </a:tc>
                <a:extLst>
                  <a:ext uri="{0D108BD9-81ED-4DB2-BD59-A6C34878D82A}">
                    <a16:rowId xmlns:a16="http://schemas.microsoft.com/office/drawing/2014/main" val="1580746419"/>
                  </a:ext>
                </a:extLst>
              </a:tr>
              <a:tr h="368055">
                <a:tc>
                  <a:txBody>
                    <a:bodyPr/>
                    <a:lstStyle/>
                    <a:p>
                      <a:r>
                        <a:rPr lang="en-US" sz="2400" b="1"/>
                        <a:t>Jackfruit</a:t>
                      </a:r>
                      <a:endParaRPr lang="en-US" sz="2400"/>
                    </a:p>
                  </a:txBody>
                  <a:tcPr anchor="ctr">
                    <a:lnL>
                      <a:noFill/>
                    </a:lnL>
                    <a:lnR>
                      <a:noFill/>
                    </a:lnR>
                    <a:lnT>
                      <a:noFill/>
                    </a:lnT>
                    <a:lnB>
                      <a:noFill/>
                    </a:lnB>
                  </a:tcPr>
                </a:tc>
                <a:tc>
                  <a:txBody>
                    <a:bodyPr/>
                    <a:lstStyle/>
                    <a:p>
                      <a:r>
                        <a:rPr lang="en-US" sz="2400" i="1" dirty="0" err="1"/>
                        <a:t>Artocarpus</a:t>
                      </a:r>
                      <a:r>
                        <a:rPr lang="en-US" sz="2400" i="1" dirty="0"/>
                        <a:t> </a:t>
                      </a:r>
                      <a:r>
                        <a:rPr lang="en-US" sz="2400" i="1" dirty="0" err="1"/>
                        <a:t>heterophyllus</a:t>
                      </a:r>
                      <a:endParaRPr lang="en-US" sz="2400" dirty="0"/>
                    </a:p>
                  </a:txBody>
                  <a:tcPr anchor="ctr">
                    <a:lnL>
                      <a:noFill/>
                    </a:lnL>
                    <a:lnR>
                      <a:noFill/>
                    </a:lnR>
                    <a:lnT>
                      <a:noFill/>
                    </a:lnT>
                    <a:lnB>
                      <a:noFill/>
                    </a:lnB>
                  </a:tcPr>
                </a:tc>
                <a:tc>
                  <a:txBody>
                    <a:bodyPr/>
                    <a:lstStyle/>
                    <a:p>
                      <a:r>
                        <a:rPr lang="en-US" sz="2400"/>
                        <a:t>Popular in central Uganda</a:t>
                      </a:r>
                    </a:p>
                  </a:txBody>
                  <a:tcPr anchor="ctr">
                    <a:lnL>
                      <a:noFill/>
                    </a:lnL>
                    <a:lnR>
                      <a:noFill/>
                    </a:lnR>
                    <a:lnT>
                      <a:noFill/>
                    </a:lnT>
                    <a:lnB>
                      <a:noFill/>
                    </a:lnB>
                  </a:tcPr>
                </a:tc>
                <a:extLst>
                  <a:ext uri="{0D108BD9-81ED-4DB2-BD59-A6C34878D82A}">
                    <a16:rowId xmlns:a16="http://schemas.microsoft.com/office/drawing/2014/main" val="1060991143"/>
                  </a:ext>
                </a:extLst>
              </a:tr>
              <a:tr h="956943">
                <a:tc>
                  <a:txBody>
                    <a:bodyPr/>
                    <a:lstStyle/>
                    <a:p>
                      <a:r>
                        <a:rPr lang="en-US" sz="2400" b="1"/>
                        <a:t>Pawpaw (Papaya)</a:t>
                      </a:r>
                      <a:endParaRPr lang="en-US" sz="2400"/>
                    </a:p>
                  </a:txBody>
                  <a:tcPr anchor="ctr">
                    <a:lnL>
                      <a:noFill/>
                    </a:lnL>
                    <a:lnR>
                      <a:noFill/>
                    </a:lnR>
                    <a:lnT>
                      <a:noFill/>
                    </a:lnT>
                    <a:lnB>
                      <a:noFill/>
                    </a:lnB>
                  </a:tcPr>
                </a:tc>
                <a:tc>
                  <a:txBody>
                    <a:bodyPr/>
                    <a:lstStyle/>
                    <a:p>
                      <a:r>
                        <a:rPr lang="en-US" sz="2400" i="1" dirty="0" err="1"/>
                        <a:t>Carica</a:t>
                      </a:r>
                      <a:r>
                        <a:rPr lang="en-US" sz="2400" i="1" dirty="0"/>
                        <a:t> papaya</a:t>
                      </a:r>
                      <a:endParaRPr lang="en-US" sz="2400" dirty="0"/>
                    </a:p>
                  </a:txBody>
                  <a:tcPr anchor="ctr">
                    <a:lnL>
                      <a:noFill/>
                    </a:lnL>
                    <a:lnR>
                      <a:noFill/>
                    </a:lnR>
                    <a:lnT>
                      <a:noFill/>
                    </a:lnT>
                    <a:lnB>
                      <a:noFill/>
                    </a:lnB>
                  </a:tcPr>
                </a:tc>
                <a:tc>
                  <a:txBody>
                    <a:bodyPr/>
                    <a:lstStyle/>
                    <a:p>
                      <a:r>
                        <a:rPr lang="en-US" sz="2400"/>
                        <a:t>Technically herbaceous-tree like, but often semi-woody</a:t>
                      </a:r>
                    </a:p>
                  </a:txBody>
                  <a:tcPr anchor="ctr">
                    <a:lnL>
                      <a:noFill/>
                    </a:lnL>
                    <a:lnR>
                      <a:noFill/>
                    </a:lnR>
                    <a:lnT>
                      <a:noFill/>
                    </a:lnT>
                    <a:lnB>
                      <a:noFill/>
                    </a:lnB>
                  </a:tcPr>
                </a:tc>
                <a:extLst>
                  <a:ext uri="{0D108BD9-81ED-4DB2-BD59-A6C34878D82A}">
                    <a16:rowId xmlns:a16="http://schemas.microsoft.com/office/drawing/2014/main" val="2567316897"/>
                  </a:ext>
                </a:extLst>
              </a:tr>
              <a:tr h="662499">
                <a:tc>
                  <a:txBody>
                    <a:bodyPr/>
                    <a:lstStyle/>
                    <a:p>
                      <a:r>
                        <a:rPr lang="en-US" sz="2400" b="1"/>
                        <a:t>Citrus (Oranges, Lemons)</a:t>
                      </a:r>
                      <a:endParaRPr lang="en-US" sz="2400"/>
                    </a:p>
                  </a:txBody>
                  <a:tcPr anchor="ctr">
                    <a:lnL>
                      <a:noFill/>
                    </a:lnL>
                    <a:lnR>
                      <a:noFill/>
                    </a:lnR>
                    <a:lnT>
                      <a:noFill/>
                    </a:lnT>
                    <a:lnB>
                      <a:noFill/>
                    </a:lnB>
                  </a:tcPr>
                </a:tc>
                <a:tc>
                  <a:txBody>
                    <a:bodyPr/>
                    <a:lstStyle/>
                    <a:p>
                      <a:r>
                        <a:rPr lang="en-US" sz="2400" i="1" dirty="0"/>
                        <a:t>Citrus spp.</a:t>
                      </a:r>
                      <a:endParaRPr lang="en-US" sz="2400" dirty="0"/>
                    </a:p>
                  </a:txBody>
                  <a:tcPr anchor="ctr">
                    <a:lnL>
                      <a:noFill/>
                    </a:lnL>
                    <a:lnR>
                      <a:noFill/>
                    </a:lnR>
                    <a:lnT>
                      <a:noFill/>
                    </a:lnT>
                    <a:lnB>
                      <a:noFill/>
                    </a:lnB>
                  </a:tcPr>
                </a:tc>
                <a:tc>
                  <a:txBody>
                    <a:bodyPr/>
                    <a:lstStyle/>
                    <a:p>
                      <a:r>
                        <a:rPr lang="en-US" sz="2400" dirty="0"/>
                        <a:t>Grown in northern and eastern Uganda</a:t>
                      </a:r>
                    </a:p>
                  </a:txBody>
                  <a:tcPr anchor="ctr">
                    <a:lnL>
                      <a:noFill/>
                    </a:lnL>
                    <a:lnR>
                      <a:noFill/>
                    </a:lnR>
                    <a:lnT>
                      <a:noFill/>
                    </a:lnT>
                    <a:lnB>
                      <a:noFill/>
                    </a:lnB>
                  </a:tcPr>
                </a:tc>
                <a:extLst>
                  <a:ext uri="{0D108BD9-81ED-4DB2-BD59-A6C34878D82A}">
                    <a16:rowId xmlns:a16="http://schemas.microsoft.com/office/drawing/2014/main" val="2565396242"/>
                  </a:ext>
                </a:extLst>
              </a:tr>
              <a:tr h="956943">
                <a:tc>
                  <a:txBody>
                    <a:bodyPr/>
                    <a:lstStyle/>
                    <a:p>
                      <a:r>
                        <a:rPr lang="en-US" sz="2400" b="1"/>
                        <a:t>Banana (Matooke)</a:t>
                      </a:r>
                      <a:endParaRPr lang="en-US" sz="2400"/>
                    </a:p>
                  </a:txBody>
                  <a:tcPr anchor="ctr">
                    <a:lnL>
                      <a:noFill/>
                    </a:lnL>
                    <a:lnR>
                      <a:noFill/>
                    </a:lnR>
                    <a:lnT>
                      <a:noFill/>
                    </a:lnT>
                    <a:lnB>
                      <a:noFill/>
                    </a:lnB>
                  </a:tcPr>
                </a:tc>
                <a:tc>
                  <a:txBody>
                    <a:bodyPr/>
                    <a:lstStyle/>
                    <a:p>
                      <a:r>
                        <a:rPr lang="en-US" sz="2400" i="1"/>
                        <a:t>Musa spp.</a:t>
                      </a:r>
                      <a:endParaRPr lang="en-US" sz="2400"/>
                    </a:p>
                  </a:txBody>
                  <a:tcPr anchor="ctr">
                    <a:lnL>
                      <a:noFill/>
                    </a:lnL>
                    <a:lnR>
                      <a:noFill/>
                    </a:lnR>
                    <a:lnT>
                      <a:noFill/>
                    </a:lnT>
                    <a:lnB>
                      <a:noFill/>
                    </a:lnB>
                  </a:tcPr>
                </a:tc>
                <a:tc>
                  <a:txBody>
                    <a:bodyPr/>
                    <a:lstStyle/>
                    <a:p>
                      <a:r>
                        <a:rPr lang="en-US" sz="2400" dirty="0"/>
                        <a:t>Pseudo-stem; not truly woody but often grouped with trees</a:t>
                      </a:r>
                    </a:p>
                  </a:txBody>
                  <a:tcPr anchor="ctr">
                    <a:lnL>
                      <a:noFill/>
                    </a:lnL>
                    <a:lnR>
                      <a:noFill/>
                    </a:lnR>
                    <a:lnT>
                      <a:noFill/>
                    </a:lnT>
                    <a:lnB>
                      <a:noFill/>
                    </a:lnB>
                  </a:tcPr>
                </a:tc>
                <a:extLst>
                  <a:ext uri="{0D108BD9-81ED-4DB2-BD59-A6C34878D82A}">
                    <a16:rowId xmlns:a16="http://schemas.microsoft.com/office/drawing/2014/main" val="1600734668"/>
                  </a:ext>
                </a:extLst>
              </a:tr>
            </a:tbl>
          </a:graphicData>
        </a:graphic>
      </p:graphicFrame>
    </p:spTree>
    <p:extLst>
      <p:ext uri="{BB962C8B-B14F-4D97-AF65-F5344CB8AC3E}">
        <p14:creationId xmlns:p14="http://schemas.microsoft.com/office/powerpoint/2010/main" val="316496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47ABE-8F3C-44F4-A2C2-EEDE0044B985}"/>
              </a:ext>
            </a:extLst>
          </p:cNvPr>
          <p:cNvSpPr>
            <a:spLocks noGrp="1"/>
          </p:cNvSpPr>
          <p:nvPr>
            <p:ph type="title"/>
          </p:nvPr>
        </p:nvSpPr>
        <p:spPr/>
        <p:txBody>
          <a:bodyPr/>
          <a:lstStyle/>
          <a:p>
            <a:r>
              <a:rPr lang="en-US" dirty="0"/>
              <a:t>Why Is Banana Sometimes Classified Under Woody Plants?</a:t>
            </a:r>
            <a:endParaRPr lang="en-UG" dirty="0"/>
          </a:p>
        </p:txBody>
      </p:sp>
      <p:sp>
        <p:nvSpPr>
          <p:cNvPr id="3" name="Content Placeholder 2">
            <a:extLst>
              <a:ext uri="{FF2B5EF4-FFF2-40B4-BE49-F238E27FC236}">
                <a16:creationId xmlns:a16="http://schemas.microsoft.com/office/drawing/2014/main" id="{2678EDFC-AC5F-4FAE-AF19-814D816BF474}"/>
              </a:ext>
            </a:extLst>
          </p:cNvPr>
          <p:cNvSpPr>
            <a:spLocks noGrp="1"/>
          </p:cNvSpPr>
          <p:nvPr>
            <p:ph idx="1"/>
          </p:nvPr>
        </p:nvSpPr>
        <p:spPr/>
        <p:txBody>
          <a:bodyPr/>
          <a:lstStyle/>
          <a:p>
            <a:r>
              <a:rPr lang="en-US" b="1" dirty="0"/>
              <a:t>Banana (</a:t>
            </a:r>
            <a:r>
              <a:rPr lang="en-US" b="1" i="1" dirty="0"/>
              <a:t>Musa spp.</a:t>
            </a:r>
            <a:r>
              <a:rPr lang="en-US" b="1" dirty="0"/>
              <a:t>)</a:t>
            </a:r>
            <a:r>
              <a:rPr lang="en-US" dirty="0"/>
              <a:t> is </a:t>
            </a:r>
            <a:r>
              <a:rPr lang="en-US" b="1" dirty="0"/>
              <a:t>not a true woody plant</a:t>
            </a:r>
            <a:r>
              <a:rPr lang="en-US" dirty="0"/>
              <a:t>, but it is often </a:t>
            </a:r>
            <a:r>
              <a:rPr lang="en-US" b="1" dirty="0"/>
              <a:t>grouped with woody plants</a:t>
            </a:r>
            <a:r>
              <a:rPr lang="en-US" dirty="0"/>
              <a:t> because of its </a:t>
            </a:r>
            <a:r>
              <a:rPr lang="en-US" b="1" dirty="0"/>
              <a:t>large size, tree-like structure</a:t>
            </a:r>
            <a:r>
              <a:rPr lang="en-US" dirty="0"/>
              <a:t>, and </a:t>
            </a:r>
            <a:r>
              <a:rPr lang="en-US" b="1" dirty="0"/>
              <a:t>perennial nature</a:t>
            </a:r>
            <a:r>
              <a:rPr lang="en-US" dirty="0"/>
              <a:t> — </a:t>
            </a:r>
            <a:r>
              <a:rPr lang="en-US" b="1" dirty="0"/>
              <a:t>despite having no true woody tissue</a:t>
            </a:r>
            <a:r>
              <a:rPr lang="en-US" dirty="0"/>
              <a:t>.</a:t>
            </a:r>
            <a:endParaRPr lang="en-UG" dirty="0"/>
          </a:p>
        </p:txBody>
      </p:sp>
    </p:spTree>
    <p:extLst>
      <p:ext uri="{BB962C8B-B14F-4D97-AF65-F5344CB8AC3E}">
        <p14:creationId xmlns:p14="http://schemas.microsoft.com/office/powerpoint/2010/main" val="19004885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14AED-E434-4DCB-A892-227DF6D8A5DF}"/>
              </a:ext>
            </a:extLst>
          </p:cNvPr>
          <p:cNvSpPr>
            <a:spLocks noGrp="1"/>
          </p:cNvSpPr>
          <p:nvPr>
            <p:ph type="title"/>
          </p:nvPr>
        </p:nvSpPr>
        <p:spPr/>
        <p:txBody>
          <a:bodyPr/>
          <a:lstStyle/>
          <a:p>
            <a:r>
              <a:rPr lang="en-US" b="1" dirty="0"/>
              <a:t>Botanical Structure</a:t>
            </a:r>
            <a:br>
              <a:rPr lang="en-US" b="1" dirty="0"/>
            </a:br>
            <a:endParaRPr lang="en-UG" dirty="0"/>
          </a:p>
        </p:txBody>
      </p:sp>
      <p:sp>
        <p:nvSpPr>
          <p:cNvPr id="3" name="Content Placeholder 2">
            <a:extLst>
              <a:ext uri="{FF2B5EF4-FFF2-40B4-BE49-F238E27FC236}">
                <a16:creationId xmlns:a16="http://schemas.microsoft.com/office/drawing/2014/main" id="{08B26F66-8513-40BD-81AF-1DAE07D4F3D6}"/>
              </a:ext>
            </a:extLst>
          </p:cNvPr>
          <p:cNvSpPr>
            <a:spLocks noGrp="1"/>
          </p:cNvSpPr>
          <p:nvPr>
            <p:ph idx="1"/>
          </p:nvPr>
        </p:nvSpPr>
        <p:spPr/>
        <p:txBody>
          <a:bodyPr/>
          <a:lstStyle/>
          <a:p>
            <a:r>
              <a:rPr lang="en-US" dirty="0"/>
              <a:t>The </a:t>
            </a:r>
            <a:r>
              <a:rPr lang="en-US" b="1" dirty="0"/>
              <a:t>banana "stem"</a:t>
            </a:r>
            <a:r>
              <a:rPr lang="en-US" dirty="0"/>
              <a:t> is actually a </a:t>
            </a:r>
            <a:r>
              <a:rPr lang="en-US" b="1" dirty="0" err="1"/>
              <a:t>pseudostem</a:t>
            </a:r>
            <a:r>
              <a:rPr lang="en-US" dirty="0"/>
              <a:t>, made up of </a:t>
            </a:r>
            <a:r>
              <a:rPr lang="en-US" b="1" dirty="0"/>
              <a:t>tightly packed leaf sheaths</a:t>
            </a:r>
            <a:r>
              <a:rPr lang="en-US" dirty="0"/>
              <a:t>, not woody tissue (no lignin).</a:t>
            </a:r>
          </a:p>
          <a:p>
            <a:r>
              <a:rPr lang="en-US" b="1" dirty="0"/>
              <a:t>True woody plants</a:t>
            </a:r>
            <a:r>
              <a:rPr lang="en-US" dirty="0"/>
              <a:t> develop </a:t>
            </a:r>
            <a:r>
              <a:rPr lang="en-US" b="1" dirty="0"/>
              <a:t>lignified, secondary growth</a:t>
            </a:r>
            <a:r>
              <a:rPr lang="en-US" dirty="0"/>
              <a:t> (true wood) from vascular cambium — bananas do </a:t>
            </a:r>
            <a:r>
              <a:rPr lang="en-US" b="1" dirty="0"/>
              <a:t>not</a:t>
            </a:r>
            <a:r>
              <a:rPr lang="en-US" dirty="0"/>
              <a:t>.</a:t>
            </a:r>
          </a:p>
          <a:p>
            <a:endParaRPr lang="en-UG" dirty="0"/>
          </a:p>
        </p:txBody>
      </p:sp>
    </p:spTree>
    <p:extLst>
      <p:ext uri="{BB962C8B-B14F-4D97-AF65-F5344CB8AC3E}">
        <p14:creationId xmlns:p14="http://schemas.microsoft.com/office/powerpoint/2010/main" val="1644622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2AF13-D28C-43F1-88CD-E408CF066CEC}"/>
              </a:ext>
            </a:extLst>
          </p:cNvPr>
          <p:cNvSpPr>
            <a:spLocks noGrp="1"/>
          </p:cNvSpPr>
          <p:nvPr>
            <p:ph type="title"/>
          </p:nvPr>
        </p:nvSpPr>
        <p:spPr/>
        <p:txBody>
          <a:bodyPr/>
          <a:lstStyle/>
          <a:p>
            <a:r>
              <a:rPr lang="en-US" b="1" dirty="0"/>
              <a:t>Tree-like Appearance</a:t>
            </a:r>
            <a:br>
              <a:rPr lang="en-US" b="1" dirty="0"/>
            </a:br>
            <a:endParaRPr lang="en-UG" dirty="0"/>
          </a:p>
        </p:txBody>
      </p:sp>
      <p:sp>
        <p:nvSpPr>
          <p:cNvPr id="3" name="Content Placeholder 2">
            <a:extLst>
              <a:ext uri="{FF2B5EF4-FFF2-40B4-BE49-F238E27FC236}">
                <a16:creationId xmlns:a16="http://schemas.microsoft.com/office/drawing/2014/main" id="{A72FB9FD-B9FB-4756-BC96-F73D9A0B4768}"/>
              </a:ext>
            </a:extLst>
          </p:cNvPr>
          <p:cNvSpPr>
            <a:spLocks noGrp="1"/>
          </p:cNvSpPr>
          <p:nvPr>
            <p:ph idx="1"/>
          </p:nvPr>
        </p:nvSpPr>
        <p:spPr/>
        <p:txBody>
          <a:bodyPr/>
          <a:lstStyle/>
          <a:p>
            <a:r>
              <a:rPr lang="en-US" dirty="0"/>
              <a:t>Bananas can grow </a:t>
            </a:r>
            <a:r>
              <a:rPr lang="en-US" b="1" dirty="0"/>
              <a:t>2–7 meters tall</a:t>
            </a:r>
            <a:r>
              <a:rPr lang="en-US" dirty="0"/>
              <a:t>, resembling small trees.</a:t>
            </a:r>
          </a:p>
          <a:p>
            <a:r>
              <a:rPr lang="en-US" dirty="0"/>
              <a:t>Because of this </a:t>
            </a:r>
            <a:r>
              <a:rPr lang="en-US" b="1" dirty="0"/>
              <a:t>tree-like form</a:t>
            </a:r>
            <a:r>
              <a:rPr lang="en-US" dirty="0"/>
              <a:t>, they are </a:t>
            </a:r>
            <a:r>
              <a:rPr lang="en-US" b="1" dirty="0"/>
              <a:t>functionally treated like woody perennials</a:t>
            </a:r>
            <a:r>
              <a:rPr lang="en-US" dirty="0"/>
              <a:t> in </a:t>
            </a:r>
            <a:r>
              <a:rPr lang="en-US" b="1" dirty="0"/>
              <a:t>farming systems</a:t>
            </a:r>
            <a:r>
              <a:rPr lang="en-US" dirty="0"/>
              <a:t>, especially when classifying crops by structure or longevity.</a:t>
            </a:r>
          </a:p>
          <a:p>
            <a:endParaRPr lang="en-UG" dirty="0"/>
          </a:p>
        </p:txBody>
      </p:sp>
    </p:spTree>
    <p:extLst>
      <p:ext uri="{BB962C8B-B14F-4D97-AF65-F5344CB8AC3E}">
        <p14:creationId xmlns:p14="http://schemas.microsoft.com/office/powerpoint/2010/main" val="1499650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CEAA7-9D9B-4E44-AABC-E0A7565FEE0D}"/>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E4B239F2-446D-4DB2-A736-B531AB664DF4}"/>
              </a:ext>
            </a:extLst>
          </p:cNvPr>
          <p:cNvSpPr>
            <a:spLocks noGrp="1"/>
          </p:cNvSpPr>
          <p:nvPr>
            <p:ph idx="1"/>
          </p:nvPr>
        </p:nvSpPr>
        <p:spPr/>
        <p:txBody>
          <a:bodyPr/>
          <a:lstStyle/>
          <a:p>
            <a:r>
              <a:rPr lang="en-US" b="1" dirty="0"/>
              <a:t>Perennial Habit</a:t>
            </a:r>
          </a:p>
          <a:p>
            <a:r>
              <a:rPr lang="en-US" dirty="0"/>
              <a:t>Bananas live for </a:t>
            </a:r>
            <a:r>
              <a:rPr lang="en-US" b="1" dirty="0"/>
              <a:t>multiple years</a:t>
            </a:r>
            <a:r>
              <a:rPr lang="en-US" dirty="0"/>
              <a:t>, producing </a:t>
            </a:r>
            <a:r>
              <a:rPr lang="en-US" b="1" dirty="0"/>
              <a:t>new suckers</a:t>
            </a:r>
            <a:r>
              <a:rPr lang="en-US" dirty="0"/>
              <a:t> after harvesting.</a:t>
            </a:r>
          </a:p>
          <a:p>
            <a:r>
              <a:rPr lang="en-US" dirty="0"/>
              <a:t>This </a:t>
            </a:r>
            <a:r>
              <a:rPr lang="en-US" b="1" dirty="0"/>
              <a:t>longevity</a:t>
            </a:r>
            <a:r>
              <a:rPr lang="en-US" dirty="0"/>
              <a:t> and regrowth behavior is </a:t>
            </a:r>
            <a:r>
              <a:rPr lang="en-US" b="1" dirty="0"/>
              <a:t>more like woody shrubs or trees</a:t>
            </a:r>
            <a:r>
              <a:rPr lang="en-US" dirty="0"/>
              <a:t> than short-lived herbaceous plants.</a:t>
            </a:r>
          </a:p>
          <a:p>
            <a:r>
              <a:rPr lang="en-US" b="1" dirty="0"/>
              <a:t>No True Wood = Not Technically Woody</a:t>
            </a:r>
          </a:p>
          <a:p>
            <a:r>
              <a:rPr lang="en-US" dirty="0"/>
              <a:t>Bananas lack </a:t>
            </a:r>
            <a:r>
              <a:rPr lang="en-US" b="1" dirty="0"/>
              <a:t>woody tissue (xylem with lignin)</a:t>
            </a:r>
            <a:r>
              <a:rPr lang="en-US" dirty="0"/>
              <a:t>.</a:t>
            </a:r>
          </a:p>
          <a:p>
            <a:r>
              <a:rPr lang="en-US" dirty="0"/>
              <a:t>Their stems </a:t>
            </a:r>
            <a:r>
              <a:rPr lang="en-US" b="1" dirty="0"/>
              <a:t>cannot become hardened</a:t>
            </a:r>
            <a:r>
              <a:rPr lang="en-US" dirty="0"/>
              <a:t> or produce bark.</a:t>
            </a:r>
          </a:p>
          <a:p>
            <a:r>
              <a:rPr lang="en-US" b="1" dirty="0"/>
              <a:t>Technically</a:t>
            </a:r>
            <a:r>
              <a:rPr lang="en-US" dirty="0"/>
              <a:t>, bananas are </a:t>
            </a:r>
            <a:r>
              <a:rPr lang="en-US" b="1" dirty="0"/>
              <a:t>large herbaceous monocots</a:t>
            </a:r>
            <a:r>
              <a:rPr lang="en-US" dirty="0"/>
              <a:t>.</a:t>
            </a:r>
          </a:p>
          <a:p>
            <a:endParaRPr lang="en-UG" dirty="0"/>
          </a:p>
        </p:txBody>
      </p:sp>
    </p:spTree>
    <p:extLst>
      <p:ext uri="{BB962C8B-B14F-4D97-AF65-F5344CB8AC3E}">
        <p14:creationId xmlns:p14="http://schemas.microsoft.com/office/powerpoint/2010/main" val="57771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96A7A-EA16-4097-93C1-021F5479D599}"/>
              </a:ext>
            </a:extLst>
          </p:cNvPr>
          <p:cNvSpPr>
            <a:spLocks noGrp="1"/>
          </p:cNvSpPr>
          <p:nvPr>
            <p:ph type="title"/>
          </p:nvPr>
        </p:nvSpPr>
        <p:spPr/>
        <p:txBody>
          <a:bodyPr/>
          <a:lstStyle/>
          <a:p>
            <a:r>
              <a:rPr lang="en-US" dirty="0"/>
              <a:t>Summary </a:t>
            </a:r>
            <a:endParaRPr lang="en-UG" dirty="0"/>
          </a:p>
        </p:txBody>
      </p:sp>
      <p:graphicFrame>
        <p:nvGraphicFramePr>
          <p:cNvPr id="4" name="Content Placeholder 3">
            <a:extLst>
              <a:ext uri="{FF2B5EF4-FFF2-40B4-BE49-F238E27FC236}">
                <a16:creationId xmlns:a16="http://schemas.microsoft.com/office/drawing/2014/main" id="{6B7E4227-615B-4867-81E7-504596EAC769}"/>
              </a:ext>
            </a:extLst>
          </p:cNvPr>
          <p:cNvGraphicFramePr>
            <a:graphicFrameLocks noGrp="1"/>
          </p:cNvGraphicFramePr>
          <p:nvPr>
            <p:ph idx="1"/>
            <p:extLst>
              <p:ext uri="{D42A27DB-BD31-4B8C-83A1-F6EECF244321}">
                <p14:modId xmlns:p14="http://schemas.microsoft.com/office/powerpoint/2010/main" val="906143341"/>
              </p:ext>
            </p:extLst>
          </p:nvPr>
        </p:nvGraphicFramePr>
        <p:xfrm>
          <a:off x="838200" y="1928552"/>
          <a:ext cx="10708179" cy="4148052"/>
        </p:xfrm>
        <a:graphic>
          <a:graphicData uri="http://schemas.openxmlformats.org/drawingml/2006/table">
            <a:tbl>
              <a:tblPr/>
              <a:tblGrid>
                <a:gridCol w="3569393">
                  <a:extLst>
                    <a:ext uri="{9D8B030D-6E8A-4147-A177-3AD203B41FA5}">
                      <a16:colId xmlns:a16="http://schemas.microsoft.com/office/drawing/2014/main" val="1616569145"/>
                    </a:ext>
                  </a:extLst>
                </a:gridCol>
                <a:gridCol w="3569393">
                  <a:extLst>
                    <a:ext uri="{9D8B030D-6E8A-4147-A177-3AD203B41FA5}">
                      <a16:colId xmlns:a16="http://schemas.microsoft.com/office/drawing/2014/main" val="1531971744"/>
                    </a:ext>
                  </a:extLst>
                </a:gridCol>
                <a:gridCol w="3569393">
                  <a:extLst>
                    <a:ext uri="{9D8B030D-6E8A-4147-A177-3AD203B41FA5}">
                      <a16:colId xmlns:a16="http://schemas.microsoft.com/office/drawing/2014/main" val="1418425429"/>
                    </a:ext>
                  </a:extLst>
                </a:gridCol>
              </a:tblGrid>
              <a:tr h="691342">
                <a:tc>
                  <a:txBody>
                    <a:bodyPr/>
                    <a:lstStyle/>
                    <a:p>
                      <a:r>
                        <a:rPr lang="en-US" b="1" dirty="0"/>
                        <a:t>Feature</a:t>
                      </a:r>
                      <a:endParaRPr lang="en-US" dirty="0"/>
                    </a:p>
                  </a:txBody>
                  <a:tcPr anchor="ctr">
                    <a:lnL>
                      <a:noFill/>
                    </a:lnL>
                    <a:lnR>
                      <a:noFill/>
                    </a:lnR>
                    <a:lnT>
                      <a:noFill/>
                    </a:lnT>
                    <a:lnB>
                      <a:noFill/>
                    </a:lnB>
                  </a:tcPr>
                </a:tc>
                <a:tc>
                  <a:txBody>
                    <a:bodyPr/>
                    <a:lstStyle/>
                    <a:p>
                      <a:r>
                        <a:rPr lang="en-US" b="1" dirty="0"/>
                        <a:t>Banana</a:t>
                      </a:r>
                      <a:endParaRPr lang="en-US" dirty="0"/>
                    </a:p>
                  </a:txBody>
                  <a:tcPr anchor="ctr">
                    <a:lnL>
                      <a:noFill/>
                    </a:lnL>
                    <a:lnR>
                      <a:noFill/>
                    </a:lnR>
                    <a:lnT>
                      <a:noFill/>
                    </a:lnT>
                    <a:lnB>
                      <a:noFill/>
                    </a:lnB>
                  </a:tcPr>
                </a:tc>
                <a:tc>
                  <a:txBody>
                    <a:bodyPr/>
                    <a:lstStyle/>
                    <a:p>
                      <a:r>
                        <a:rPr lang="en-US" b="1"/>
                        <a:t>Woody Plant</a:t>
                      </a:r>
                      <a:endParaRPr lang="en-US"/>
                    </a:p>
                  </a:txBody>
                  <a:tcPr anchor="ctr">
                    <a:lnL>
                      <a:noFill/>
                    </a:lnL>
                    <a:lnR>
                      <a:noFill/>
                    </a:lnR>
                    <a:lnT>
                      <a:noFill/>
                    </a:lnT>
                    <a:lnB>
                      <a:noFill/>
                    </a:lnB>
                  </a:tcPr>
                </a:tc>
                <a:extLst>
                  <a:ext uri="{0D108BD9-81ED-4DB2-BD59-A6C34878D82A}">
                    <a16:rowId xmlns:a16="http://schemas.microsoft.com/office/drawing/2014/main" val="1717710155"/>
                  </a:ext>
                </a:extLst>
              </a:tr>
              <a:tr h="691342">
                <a:tc>
                  <a:txBody>
                    <a:bodyPr/>
                    <a:lstStyle/>
                    <a:p>
                      <a:r>
                        <a:rPr lang="en-US" dirty="0"/>
                        <a:t>Stem type</a:t>
                      </a:r>
                    </a:p>
                  </a:txBody>
                  <a:tcPr anchor="ctr">
                    <a:lnL>
                      <a:noFill/>
                    </a:lnL>
                    <a:lnR>
                      <a:noFill/>
                    </a:lnR>
                    <a:lnT>
                      <a:noFill/>
                    </a:lnT>
                    <a:lnB>
                      <a:noFill/>
                    </a:lnB>
                  </a:tcPr>
                </a:tc>
                <a:tc>
                  <a:txBody>
                    <a:bodyPr/>
                    <a:lstStyle/>
                    <a:p>
                      <a:r>
                        <a:rPr lang="en-US" dirty="0" err="1"/>
                        <a:t>Pseudostem</a:t>
                      </a:r>
                      <a:r>
                        <a:rPr lang="en-US" dirty="0"/>
                        <a:t> (leaf bases)</a:t>
                      </a:r>
                    </a:p>
                  </a:txBody>
                  <a:tcPr anchor="ctr">
                    <a:lnL>
                      <a:noFill/>
                    </a:lnL>
                    <a:lnR>
                      <a:noFill/>
                    </a:lnR>
                    <a:lnT>
                      <a:noFill/>
                    </a:lnT>
                    <a:lnB>
                      <a:noFill/>
                    </a:lnB>
                  </a:tcPr>
                </a:tc>
                <a:tc>
                  <a:txBody>
                    <a:bodyPr/>
                    <a:lstStyle/>
                    <a:p>
                      <a:r>
                        <a:rPr lang="en-US"/>
                        <a:t>True stem with wood (lignin)</a:t>
                      </a:r>
                    </a:p>
                  </a:txBody>
                  <a:tcPr anchor="ctr">
                    <a:lnL>
                      <a:noFill/>
                    </a:lnL>
                    <a:lnR>
                      <a:noFill/>
                    </a:lnR>
                    <a:lnT>
                      <a:noFill/>
                    </a:lnT>
                    <a:lnB>
                      <a:noFill/>
                    </a:lnB>
                  </a:tcPr>
                </a:tc>
                <a:extLst>
                  <a:ext uri="{0D108BD9-81ED-4DB2-BD59-A6C34878D82A}">
                    <a16:rowId xmlns:a16="http://schemas.microsoft.com/office/drawing/2014/main" val="3727226071"/>
                  </a:ext>
                </a:extLst>
              </a:tr>
              <a:tr h="691342">
                <a:tc>
                  <a:txBody>
                    <a:bodyPr/>
                    <a:lstStyle/>
                    <a:p>
                      <a:r>
                        <a:rPr lang="en-US" dirty="0"/>
                        <a:t>Woody tissue</a:t>
                      </a:r>
                    </a:p>
                  </a:txBody>
                  <a:tcPr anchor="ctr">
                    <a:lnL>
                      <a:noFill/>
                    </a:lnL>
                    <a:lnR>
                      <a:noFill/>
                    </a:lnR>
                    <a:lnT>
                      <a:noFill/>
                    </a:lnT>
                    <a:lnB>
                      <a:noFill/>
                    </a:lnB>
                  </a:tcPr>
                </a:tc>
                <a:tc>
                  <a:txBody>
                    <a:bodyPr/>
                    <a:lstStyle/>
                    <a:p>
                      <a:r>
                        <a:rPr lang="en-UG" dirty="0"/>
                        <a:t>❌ </a:t>
                      </a:r>
                      <a:r>
                        <a:rPr lang="en-US" dirty="0"/>
                        <a:t>None</a:t>
                      </a:r>
                    </a:p>
                  </a:txBody>
                  <a:tcPr anchor="ctr">
                    <a:lnL>
                      <a:noFill/>
                    </a:lnL>
                    <a:lnR>
                      <a:noFill/>
                    </a:lnR>
                    <a:lnT>
                      <a:noFill/>
                    </a:lnT>
                    <a:lnB>
                      <a:noFill/>
                    </a:lnB>
                  </a:tcPr>
                </a:tc>
                <a:tc>
                  <a:txBody>
                    <a:bodyPr/>
                    <a:lstStyle/>
                    <a:p>
                      <a:r>
                        <a:rPr lang="en-UG"/>
                        <a:t>✅ </a:t>
                      </a:r>
                      <a:r>
                        <a:rPr lang="en-US"/>
                        <a:t>Present</a:t>
                      </a:r>
                    </a:p>
                  </a:txBody>
                  <a:tcPr anchor="ctr">
                    <a:lnL>
                      <a:noFill/>
                    </a:lnL>
                    <a:lnR>
                      <a:noFill/>
                    </a:lnR>
                    <a:lnT>
                      <a:noFill/>
                    </a:lnT>
                    <a:lnB>
                      <a:noFill/>
                    </a:lnB>
                  </a:tcPr>
                </a:tc>
                <a:extLst>
                  <a:ext uri="{0D108BD9-81ED-4DB2-BD59-A6C34878D82A}">
                    <a16:rowId xmlns:a16="http://schemas.microsoft.com/office/drawing/2014/main" val="2114337408"/>
                  </a:ext>
                </a:extLst>
              </a:tr>
              <a:tr h="691342">
                <a:tc>
                  <a:txBody>
                    <a:bodyPr/>
                    <a:lstStyle/>
                    <a:p>
                      <a:r>
                        <a:rPr lang="en-US"/>
                        <a:t>Tree-like size</a:t>
                      </a:r>
                    </a:p>
                  </a:txBody>
                  <a:tcPr anchor="ctr">
                    <a:lnL>
                      <a:noFill/>
                    </a:lnL>
                    <a:lnR>
                      <a:noFill/>
                    </a:lnR>
                    <a:lnT>
                      <a:noFill/>
                    </a:lnT>
                    <a:lnB>
                      <a:noFill/>
                    </a:lnB>
                  </a:tcPr>
                </a:tc>
                <a:tc>
                  <a:txBody>
                    <a:bodyPr/>
                    <a:lstStyle/>
                    <a:p>
                      <a:r>
                        <a:rPr lang="en-UG" dirty="0"/>
                        <a:t>✅ </a:t>
                      </a:r>
                      <a:r>
                        <a:rPr lang="en-US" dirty="0"/>
                        <a:t>Yes</a:t>
                      </a:r>
                    </a:p>
                  </a:txBody>
                  <a:tcPr anchor="ctr">
                    <a:lnL>
                      <a:noFill/>
                    </a:lnL>
                    <a:lnR>
                      <a:noFill/>
                    </a:lnR>
                    <a:lnT>
                      <a:noFill/>
                    </a:lnT>
                    <a:lnB>
                      <a:noFill/>
                    </a:lnB>
                  </a:tcPr>
                </a:tc>
                <a:tc>
                  <a:txBody>
                    <a:bodyPr/>
                    <a:lstStyle/>
                    <a:p>
                      <a:r>
                        <a:rPr lang="en-UG"/>
                        <a:t>✅ </a:t>
                      </a:r>
                      <a:r>
                        <a:rPr lang="en-US"/>
                        <a:t>Yes</a:t>
                      </a:r>
                    </a:p>
                  </a:txBody>
                  <a:tcPr anchor="ctr">
                    <a:lnL>
                      <a:noFill/>
                    </a:lnL>
                    <a:lnR>
                      <a:noFill/>
                    </a:lnR>
                    <a:lnT>
                      <a:noFill/>
                    </a:lnT>
                    <a:lnB>
                      <a:noFill/>
                    </a:lnB>
                  </a:tcPr>
                </a:tc>
                <a:extLst>
                  <a:ext uri="{0D108BD9-81ED-4DB2-BD59-A6C34878D82A}">
                    <a16:rowId xmlns:a16="http://schemas.microsoft.com/office/drawing/2014/main" val="1279643683"/>
                  </a:ext>
                </a:extLst>
              </a:tr>
              <a:tr h="691342">
                <a:tc>
                  <a:txBody>
                    <a:bodyPr/>
                    <a:lstStyle/>
                    <a:p>
                      <a:r>
                        <a:rPr lang="en-US"/>
                        <a:t>Perennial growth</a:t>
                      </a:r>
                    </a:p>
                  </a:txBody>
                  <a:tcPr anchor="ctr">
                    <a:lnL>
                      <a:noFill/>
                    </a:lnL>
                    <a:lnR>
                      <a:noFill/>
                    </a:lnR>
                    <a:lnT>
                      <a:noFill/>
                    </a:lnT>
                    <a:lnB>
                      <a:noFill/>
                    </a:lnB>
                  </a:tcPr>
                </a:tc>
                <a:tc>
                  <a:txBody>
                    <a:bodyPr/>
                    <a:lstStyle/>
                    <a:p>
                      <a:r>
                        <a:rPr lang="en-UG"/>
                        <a:t>✅ </a:t>
                      </a:r>
                      <a:r>
                        <a:rPr lang="en-US"/>
                        <a:t>Yes</a:t>
                      </a:r>
                    </a:p>
                  </a:txBody>
                  <a:tcPr anchor="ctr">
                    <a:lnL>
                      <a:noFill/>
                    </a:lnL>
                    <a:lnR>
                      <a:noFill/>
                    </a:lnR>
                    <a:lnT>
                      <a:noFill/>
                    </a:lnT>
                    <a:lnB>
                      <a:noFill/>
                    </a:lnB>
                  </a:tcPr>
                </a:tc>
                <a:tc>
                  <a:txBody>
                    <a:bodyPr/>
                    <a:lstStyle/>
                    <a:p>
                      <a:r>
                        <a:rPr lang="en-UG"/>
                        <a:t>✅ </a:t>
                      </a:r>
                      <a:r>
                        <a:rPr lang="en-US"/>
                        <a:t>Yes</a:t>
                      </a:r>
                    </a:p>
                  </a:txBody>
                  <a:tcPr anchor="ctr">
                    <a:lnL>
                      <a:noFill/>
                    </a:lnL>
                    <a:lnR>
                      <a:noFill/>
                    </a:lnR>
                    <a:lnT>
                      <a:noFill/>
                    </a:lnT>
                    <a:lnB>
                      <a:noFill/>
                    </a:lnB>
                  </a:tcPr>
                </a:tc>
                <a:extLst>
                  <a:ext uri="{0D108BD9-81ED-4DB2-BD59-A6C34878D82A}">
                    <a16:rowId xmlns:a16="http://schemas.microsoft.com/office/drawing/2014/main" val="2964468079"/>
                  </a:ext>
                </a:extLst>
              </a:tr>
              <a:tr h="691342">
                <a:tc>
                  <a:txBody>
                    <a:bodyPr/>
                    <a:lstStyle/>
                    <a:p>
                      <a:r>
                        <a:rPr lang="en-US"/>
                        <a:t>True wood/bark</a:t>
                      </a:r>
                    </a:p>
                  </a:txBody>
                  <a:tcPr anchor="ctr">
                    <a:lnL>
                      <a:noFill/>
                    </a:lnL>
                    <a:lnR>
                      <a:noFill/>
                    </a:lnR>
                    <a:lnT>
                      <a:noFill/>
                    </a:lnT>
                    <a:lnB>
                      <a:noFill/>
                    </a:lnB>
                  </a:tcPr>
                </a:tc>
                <a:tc>
                  <a:txBody>
                    <a:bodyPr/>
                    <a:lstStyle/>
                    <a:p>
                      <a:r>
                        <a:rPr lang="en-UG"/>
                        <a:t>❌ </a:t>
                      </a:r>
                      <a:r>
                        <a:rPr lang="en-US"/>
                        <a:t>No</a:t>
                      </a:r>
                    </a:p>
                  </a:txBody>
                  <a:tcPr anchor="ctr">
                    <a:lnL>
                      <a:noFill/>
                    </a:lnL>
                    <a:lnR>
                      <a:noFill/>
                    </a:lnR>
                    <a:lnT>
                      <a:noFill/>
                    </a:lnT>
                    <a:lnB>
                      <a:noFill/>
                    </a:lnB>
                  </a:tcPr>
                </a:tc>
                <a:tc>
                  <a:txBody>
                    <a:bodyPr/>
                    <a:lstStyle/>
                    <a:p>
                      <a:r>
                        <a:rPr lang="en-UG" dirty="0"/>
                        <a:t>✅ </a:t>
                      </a:r>
                      <a:r>
                        <a:rPr lang="en-US" dirty="0"/>
                        <a:t>Yes</a:t>
                      </a:r>
                    </a:p>
                  </a:txBody>
                  <a:tcPr anchor="ctr">
                    <a:lnL>
                      <a:noFill/>
                    </a:lnL>
                    <a:lnR>
                      <a:noFill/>
                    </a:lnR>
                    <a:lnT>
                      <a:noFill/>
                    </a:lnT>
                    <a:lnB>
                      <a:noFill/>
                    </a:lnB>
                  </a:tcPr>
                </a:tc>
                <a:extLst>
                  <a:ext uri="{0D108BD9-81ED-4DB2-BD59-A6C34878D82A}">
                    <a16:rowId xmlns:a16="http://schemas.microsoft.com/office/drawing/2014/main" val="2240489008"/>
                  </a:ext>
                </a:extLst>
              </a:tr>
            </a:tbl>
          </a:graphicData>
        </a:graphic>
      </p:graphicFrame>
    </p:spTree>
    <p:extLst>
      <p:ext uri="{BB962C8B-B14F-4D97-AF65-F5344CB8AC3E}">
        <p14:creationId xmlns:p14="http://schemas.microsoft.com/office/powerpoint/2010/main" val="99232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101E7-2C7E-46A9-AE00-B02FFC2EC5C0}"/>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DA2123BE-D4B8-4857-9C2E-CFE308651E67}"/>
              </a:ext>
            </a:extLst>
          </p:cNvPr>
          <p:cNvSpPr>
            <a:spLocks noGrp="1"/>
          </p:cNvSpPr>
          <p:nvPr>
            <p:ph idx="1"/>
          </p:nvPr>
        </p:nvSpPr>
        <p:spPr/>
        <p:txBody>
          <a:bodyPr/>
          <a:lstStyle/>
          <a:p>
            <a:pPr>
              <a:lnSpc>
                <a:spcPct val="150000"/>
              </a:lnSpc>
            </a:pPr>
            <a:r>
              <a:rPr lang="en-US" dirty="0"/>
              <a:t>So, bananas are </a:t>
            </a:r>
            <a:r>
              <a:rPr lang="en-US" i="1" dirty="0"/>
              <a:t>not woody plants</a:t>
            </a:r>
            <a:r>
              <a:rPr lang="en-US" dirty="0"/>
              <a:t> botanically, but are often grouped with them in agriculture due to size, longevity, and structure.</a:t>
            </a:r>
            <a:endParaRPr lang="en-UG" dirty="0"/>
          </a:p>
        </p:txBody>
      </p:sp>
    </p:spTree>
    <p:extLst>
      <p:ext uri="{BB962C8B-B14F-4D97-AF65-F5344CB8AC3E}">
        <p14:creationId xmlns:p14="http://schemas.microsoft.com/office/powerpoint/2010/main" val="1791228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8E6AB-B36F-4093-B6DB-CF54AB016DF6}"/>
              </a:ext>
            </a:extLst>
          </p:cNvPr>
          <p:cNvSpPr>
            <a:spLocks noGrp="1"/>
          </p:cNvSpPr>
          <p:nvPr>
            <p:ph type="title"/>
          </p:nvPr>
        </p:nvSpPr>
        <p:spPr/>
        <p:txBody>
          <a:bodyPr/>
          <a:lstStyle/>
          <a:p>
            <a:r>
              <a:rPr lang="en-US" dirty="0"/>
              <a:t>Shrubs </a:t>
            </a:r>
            <a:endParaRPr lang="en-UG" dirty="0"/>
          </a:p>
        </p:txBody>
      </p:sp>
      <p:sp>
        <p:nvSpPr>
          <p:cNvPr id="3" name="Content Placeholder 2">
            <a:extLst>
              <a:ext uri="{FF2B5EF4-FFF2-40B4-BE49-F238E27FC236}">
                <a16:creationId xmlns:a16="http://schemas.microsoft.com/office/drawing/2014/main" id="{8D816336-A4CA-4AEB-9804-51529C7035D9}"/>
              </a:ext>
            </a:extLst>
          </p:cNvPr>
          <p:cNvSpPr>
            <a:spLocks noGrp="1"/>
          </p:cNvSpPr>
          <p:nvPr>
            <p:ph idx="1"/>
          </p:nvPr>
        </p:nvSpPr>
        <p:spPr/>
        <p:txBody>
          <a:bodyPr/>
          <a:lstStyle/>
          <a:p>
            <a:pPr algn="just">
              <a:lnSpc>
                <a:spcPct val="150000"/>
              </a:lnSpc>
            </a:pPr>
            <a:r>
              <a:rPr lang="en-US" dirty="0"/>
              <a:t>The stem type for shrubs is woody and persistent, meaning it is hard, durable, and remains above ground year after year, unlike the soft stems of herbaceous plants. Shrubs are characterized by having multiple stems branching from or near the base of the plant, which gives them a bushy, short-to-medium height appearance, distinguishing them from trees with a single main trunk</a:t>
            </a:r>
            <a:endParaRPr lang="en-UG" dirty="0"/>
          </a:p>
        </p:txBody>
      </p:sp>
    </p:spTree>
    <p:extLst>
      <p:ext uri="{BB962C8B-B14F-4D97-AF65-F5344CB8AC3E}">
        <p14:creationId xmlns:p14="http://schemas.microsoft.com/office/powerpoint/2010/main" val="42610079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45AFA-BE42-47D5-92DC-5DBD58750DE1}"/>
              </a:ext>
            </a:extLst>
          </p:cNvPr>
          <p:cNvSpPr>
            <a:spLocks noGrp="1"/>
          </p:cNvSpPr>
          <p:nvPr>
            <p:ph type="title"/>
          </p:nvPr>
        </p:nvSpPr>
        <p:spPr>
          <a:xfrm>
            <a:off x="838200" y="365126"/>
            <a:ext cx="10515600" cy="649028"/>
          </a:xfrm>
        </p:spPr>
        <p:txBody>
          <a:bodyPr>
            <a:normAutofit fontScale="90000"/>
          </a:bodyPr>
          <a:lstStyle/>
          <a:p>
            <a:r>
              <a:rPr lang="en-US" dirty="0"/>
              <a:t>Examples of shrub crops</a:t>
            </a:r>
            <a:endParaRPr lang="en-UG" dirty="0"/>
          </a:p>
        </p:txBody>
      </p:sp>
      <p:graphicFrame>
        <p:nvGraphicFramePr>
          <p:cNvPr id="4" name="Content Placeholder 3">
            <a:extLst>
              <a:ext uri="{FF2B5EF4-FFF2-40B4-BE49-F238E27FC236}">
                <a16:creationId xmlns:a16="http://schemas.microsoft.com/office/drawing/2014/main" id="{AD04F072-A01F-4B71-BA52-3821C21E2F5E}"/>
              </a:ext>
            </a:extLst>
          </p:cNvPr>
          <p:cNvGraphicFramePr>
            <a:graphicFrameLocks noGrp="1"/>
          </p:cNvGraphicFramePr>
          <p:nvPr>
            <p:ph idx="1"/>
            <p:extLst>
              <p:ext uri="{D42A27DB-BD31-4B8C-83A1-F6EECF244321}">
                <p14:modId xmlns:p14="http://schemas.microsoft.com/office/powerpoint/2010/main" val="1043642145"/>
              </p:ext>
            </p:extLst>
          </p:nvPr>
        </p:nvGraphicFramePr>
        <p:xfrm>
          <a:off x="665018" y="1059435"/>
          <a:ext cx="10498974" cy="5798565"/>
        </p:xfrm>
        <a:graphic>
          <a:graphicData uri="http://schemas.openxmlformats.org/drawingml/2006/table">
            <a:tbl>
              <a:tblPr/>
              <a:tblGrid>
                <a:gridCol w="2086494">
                  <a:extLst>
                    <a:ext uri="{9D8B030D-6E8A-4147-A177-3AD203B41FA5}">
                      <a16:colId xmlns:a16="http://schemas.microsoft.com/office/drawing/2014/main" val="2407487239"/>
                    </a:ext>
                  </a:extLst>
                </a:gridCol>
                <a:gridCol w="2103120">
                  <a:extLst>
                    <a:ext uri="{9D8B030D-6E8A-4147-A177-3AD203B41FA5}">
                      <a16:colId xmlns:a16="http://schemas.microsoft.com/office/drawing/2014/main" val="38476165"/>
                    </a:ext>
                  </a:extLst>
                </a:gridCol>
                <a:gridCol w="2103120">
                  <a:extLst>
                    <a:ext uri="{9D8B030D-6E8A-4147-A177-3AD203B41FA5}">
                      <a16:colId xmlns:a16="http://schemas.microsoft.com/office/drawing/2014/main" val="3696697586"/>
                    </a:ext>
                  </a:extLst>
                </a:gridCol>
                <a:gridCol w="2103120">
                  <a:extLst>
                    <a:ext uri="{9D8B030D-6E8A-4147-A177-3AD203B41FA5}">
                      <a16:colId xmlns:a16="http://schemas.microsoft.com/office/drawing/2014/main" val="3799659712"/>
                    </a:ext>
                  </a:extLst>
                </a:gridCol>
                <a:gridCol w="2103120">
                  <a:extLst>
                    <a:ext uri="{9D8B030D-6E8A-4147-A177-3AD203B41FA5}">
                      <a16:colId xmlns:a16="http://schemas.microsoft.com/office/drawing/2014/main" val="2006698075"/>
                    </a:ext>
                  </a:extLst>
                </a:gridCol>
              </a:tblGrid>
              <a:tr h="252251">
                <a:tc>
                  <a:txBody>
                    <a:bodyPr/>
                    <a:lstStyle/>
                    <a:p>
                      <a:r>
                        <a:rPr lang="en-US" sz="1800" b="1" dirty="0"/>
                        <a:t>Shrub Crop</a:t>
                      </a:r>
                      <a:endParaRPr lang="en-US" sz="1800" dirty="0"/>
                    </a:p>
                  </a:txBody>
                  <a:tcPr marL="63063" marR="63063" marT="31531" marB="31531" anchor="ctr">
                    <a:lnL>
                      <a:noFill/>
                    </a:lnL>
                    <a:lnR>
                      <a:noFill/>
                    </a:lnR>
                    <a:lnT>
                      <a:noFill/>
                    </a:lnT>
                    <a:lnB>
                      <a:noFill/>
                    </a:lnB>
                  </a:tcPr>
                </a:tc>
                <a:tc>
                  <a:txBody>
                    <a:bodyPr/>
                    <a:lstStyle/>
                    <a:p>
                      <a:r>
                        <a:rPr lang="en-US" sz="1800" b="1"/>
                        <a:t>Botanical Name</a:t>
                      </a:r>
                      <a:endParaRPr lang="en-US" sz="1800"/>
                    </a:p>
                  </a:txBody>
                  <a:tcPr marL="63063" marR="63063" marT="31531" marB="31531" anchor="ctr">
                    <a:lnL>
                      <a:noFill/>
                    </a:lnL>
                    <a:lnR>
                      <a:noFill/>
                    </a:lnR>
                    <a:lnT>
                      <a:noFill/>
                    </a:lnT>
                    <a:lnB>
                      <a:noFill/>
                    </a:lnB>
                  </a:tcPr>
                </a:tc>
                <a:tc>
                  <a:txBody>
                    <a:bodyPr/>
                    <a:lstStyle/>
                    <a:p>
                      <a:r>
                        <a:rPr lang="en-US" sz="1800" b="1" dirty="0"/>
                        <a:t>Use</a:t>
                      </a:r>
                      <a:endParaRPr lang="en-US" sz="1800" dirty="0"/>
                    </a:p>
                  </a:txBody>
                  <a:tcPr marL="63063" marR="63063" marT="31531" marB="31531" anchor="ctr">
                    <a:lnL>
                      <a:noFill/>
                    </a:lnL>
                    <a:lnR>
                      <a:noFill/>
                    </a:lnR>
                    <a:lnT>
                      <a:noFill/>
                    </a:lnT>
                    <a:lnB>
                      <a:noFill/>
                    </a:lnB>
                  </a:tcPr>
                </a:tc>
                <a:tc>
                  <a:txBody>
                    <a:bodyPr/>
                    <a:lstStyle/>
                    <a:p>
                      <a:r>
                        <a:rPr lang="en-US" sz="1800" b="1"/>
                        <a:t>Region</a:t>
                      </a:r>
                      <a:endParaRPr lang="en-US" sz="1800"/>
                    </a:p>
                  </a:txBody>
                  <a:tcPr marL="63063" marR="63063" marT="31531" marB="31531" anchor="ctr">
                    <a:lnL>
                      <a:noFill/>
                    </a:lnL>
                    <a:lnR>
                      <a:noFill/>
                    </a:lnR>
                    <a:lnT>
                      <a:noFill/>
                    </a:lnT>
                    <a:lnB>
                      <a:noFill/>
                    </a:lnB>
                  </a:tcPr>
                </a:tc>
                <a:tc>
                  <a:txBody>
                    <a:bodyPr/>
                    <a:lstStyle/>
                    <a:p>
                      <a:r>
                        <a:rPr lang="en-US" sz="1800" b="1"/>
                        <a:t>Notes</a:t>
                      </a:r>
                      <a:endParaRPr lang="en-US" sz="1800"/>
                    </a:p>
                  </a:txBody>
                  <a:tcPr marL="63063" marR="63063" marT="31531" marB="31531" anchor="ctr">
                    <a:lnL>
                      <a:noFill/>
                    </a:lnL>
                    <a:lnR>
                      <a:noFill/>
                    </a:lnR>
                    <a:lnT>
                      <a:noFill/>
                    </a:lnT>
                    <a:lnB>
                      <a:noFill/>
                    </a:lnB>
                  </a:tcPr>
                </a:tc>
                <a:extLst>
                  <a:ext uri="{0D108BD9-81ED-4DB2-BD59-A6C34878D82A}">
                    <a16:rowId xmlns:a16="http://schemas.microsoft.com/office/drawing/2014/main" val="4007484544"/>
                  </a:ext>
                </a:extLst>
              </a:tr>
              <a:tr h="630629">
                <a:tc>
                  <a:txBody>
                    <a:bodyPr/>
                    <a:lstStyle/>
                    <a:p>
                      <a:r>
                        <a:rPr lang="en-US" sz="1800" b="1" dirty="0"/>
                        <a:t>Cassava</a:t>
                      </a:r>
                      <a:endParaRPr lang="en-US" sz="1800" dirty="0"/>
                    </a:p>
                  </a:txBody>
                  <a:tcPr marL="63063" marR="63063" marT="31531" marB="31531" anchor="ctr">
                    <a:lnL>
                      <a:noFill/>
                    </a:lnL>
                    <a:lnR>
                      <a:noFill/>
                    </a:lnR>
                    <a:lnT>
                      <a:noFill/>
                    </a:lnT>
                    <a:lnB>
                      <a:noFill/>
                    </a:lnB>
                  </a:tcPr>
                </a:tc>
                <a:tc>
                  <a:txBody>
                    <a:bodyPr/>
                    <a:lstStyle/>
                    <a:p>
                      <a:r>
                        <a:rPr lang="en-US" sz="1800" i="1"/>
                        <a:t>Manihot esculenta</a:t>
                      </a:r>
                      <a:endParaRPr lang="en-US" sz="1800"/>
                    </a:p>
                  </a:txBody>
                  <a:tcPr marL="63063" marR="63063" marT="31531" marB="31531" anchor="ctr">
                    <a:lnL>
                      <a:noFill/>
                    </a:lnL>
                    <a:lnR>
                      <a:noFill/>
                    </a:lnR>
                    <a:lnT>
                      <a:noFill/>
                    </a:lnT>
                    <a:lnB>
                      <a:noFill/>
                    </a:lnB>
                  </a:tcPr>
                </a:tc>
                <a:tc>
                  <a:txBody>
                    <a:bodyPr/>
                    <a:lstStyle/>
                    <a:p>
                      <a:r>
                        <a:rPr lang="en-US" sz="1800"/>
                        <a:t>Food (roots)</a:t>
                      </a:r>
                    </a:p>
                  </a:txBody>
                  <a:tcPr marL="63063" marR="63063" marT="31531" marB="31531" anchor="ctr">
                    <a:lnL>
                      <a:noFill/>
                    </a:lnL>
                    <a:lnR>
                      <a:noFill/>
                    </a:lnR>
                    <a:lnT>
                      <a:noFill/>
                    </a:lnT>
                    <a:lnB>
                      <a:noFill/>
                    </a:lnB>
                  </a:tcPr>
                </a:tc>
                <a:tc>
                  <a:txBody>
                    <a:bodyPr/>
                    <a:lstStyle/>
                    <a:p>
                      <a:r>
                        <a:rPr lang="en-US" sz="1800"/>
                        <a:t>Widespread (esp. Northern)</a:t>
                      </a:r>
                    </a:p>
                  </a:txBody>
                  <a:tcPr marL="63063" marR="63063" marT="31531" marB="31531" anchor="ctr">
                    <a:lnL>
                      <a:noFill/>
                    </a:lnL>
                    <a:lnR>
                      <a:noFill/>
                    </a:lnR>
                    <a:lnT>
                      <a:noFill/>
                    </a:lnT>
                    <a:lnB>
                      <a:noFill/>
                    </a:lnB>
                  </a:tcPr>
                </a:tc>
                <a:tc>
                  <a:txBody>
                    <a:bodyPr/>
                    <a:lstStyle/>
                    <a:p>
                      <a:r>
                        <a:rPr lang="en-US" sz="1800"/>
                        <a:t>Thick woody stems, used for propagation</a:t>
                      </a:r>
                    </a:p>
                  </a:txBody>
                  <a:tcPr marL="63063" marR="63063" marT="31531" marB="31531" anchor="ctr">
                    <a:lnL>
                      <a:noFill/>
                    </a:lnL>
                    <a:lnR>
                      <a:noFill/>
                    </a:lnR>
                    <a:lnT>
                      <a:noFill/>
                    </a:lnT>
                    <a:lnB>
                      <a:noFill/>
                    </a:lnB>
                  </a:tcPr>
                </a:tc>
                <a:extLst>
                  <a:ext uri="{0D108BD9-81ED-4DB2-BD59-A6C34878D82A}">
                    <a16:rowId xmlns:a16="http://schemas.microsoft.com/office/drawing/2014/main" val="2117830594"/>
                  </a:ext>
                </a:extLst>
              </a:tr>
              <a:tr h="630629">
                <a:tc>
                  <a:txBody>
                    <a:bodyPr/>
                    <a:lstStyle/>
                    <a:p>
                      <a:r>
                        <a:rPr lang="en-US" sz="1800" b="1" dirty="0"/>
                        <a:t>Coffee</a:t>
                      </a:r>
                      <a:endParaRPr lang="en-US" sz="1800" dirty="0"/>
                    </a:p>
                  </a:txBody>
                  <a:tcPr marL="63063" marR="63063" marT="31531" marB="31531" anchor="ctr">
                    <a:lnL>
                      <a:noFill/>
                    </a:lnL>
                    <a:lnR>
                      <a:noFill/>
                    </a:lnR>
                    <a:lnT>
                      <a:noFill/>
                    </a:lnT>
                    <a:lnB>
                      <a:noFill/>
                    </a:lnB>
                  </a:tcPr>
                </a:tc>
                <a:tc>
                  <a:txBody>
                    <a:bodyPr/>
                    <a:lstStyle/>
                    <a:p>
                      <a:r>
                        <a:rPr lang="en-US" sz="1800" i="1"/>
                        <a:t>Coffea arabica</a:t>
                      </a:r>
                      <a:r>
                        <a:rPr lang="en-US" sz="1800"/>
                        <a:t>, </a:t>
                      </a:r>
                      <a:r>
                        <a:rPr lang="en-US" sz="1800" i="1"/>
                        <a:t>C. robusta</a:t>
                      </a:r>
                      <a:endParaRPr lang="en-US" sz="1800"/>
                    </a:p>
                  </a:txBody>
                  <a:tcPr marL="63063" marR="63063" marT="31531" marB="31531" anchor="ctr">
                    <a:lnL>
                      <a:noFill/>
                    </a:lnL>
                    <a:lnR>
                      <a:noFill/>
                    </a:lnR>
                    <a:lnT>
                      <a:noFill/>
                    </a:lnT>
                    <a:lnB>
                      <a:noFill/>
                    </a:lnB>
                  </a:tcPr>
                </a:tc>
                <a:tc>
                  <a:txBody>
                    <a:bodyPr/>
                    <a:lstStyle/>
                    <a:p>
                      <a:r>
                        <a:rPr lang="en-US" sz="1800"/>
                        <a:t>Beverage</a:t>
                      </a:r>
                    </a:p>
                  </a:txBody>
                  <a:tcPr marL="63063" marR="63063" marT="31531" marB="31531" anchor="ctr">
                    <a:lnL>
                      <a:noFill/>
                    </a:lnL>
                    <a:lnR>
                      <a:noFill/>
                    </a:lnR>
                    <a:lnT>
                      <a:noFill/>
                    </a:lnT>
                    <a:lnB>
                      <a:noFill/>
                    </a:lnB>
                  </a:tcPr>
                </a:tc>
                <a:tc>
                  <a:txBody>
                    <a:bodyPr/>
                    <a:lstStyle/>
                    <a:p>
                      <a:r>
                        <a:rPr lang="en-US" sz="1800"/>
                        <a:t>Bugisu, Central, West</a:t>
                      </a:r>
                    </a:p>
                  </a:txBody>
                  <a:tcPr marL="63063" marR="63063" marT="31531" marB="31531" anchor="ctr">
                    <a:lnL>
                      <a:noFill/>
                    </a:lnL>
                    <a:lnR>
                      <a:noFill/>
                    </a:lnR>
                    <a:lnT>
                      <a:noFill/>
                    </a:lnT>
                    <a:lnB>
                      <a:noFill/>
                    </a:lnB>
                  </a:tcPr>
                </a:tc>
                <a:tc>
                  <a:txBody>
                    <a:bodyPr/>
                    <a:lstStyle/>
                    <a:p>
                      <a:r>
                        <a:rPr lang="en-US" sz="1800"/>
                        <a:t>Grows as a pruned shrub for easier harvesting</a:t>
                      </a:r>
                    </a:p>
                  </a:txBody>
                  <a:tcPr marL="63063" marR="63063" marT="31531" marB="31531" anchor="ctr">
                    <a:lnL>
                      <a:noFill/>
                    </a:lnL>
                    <a:lnR>
                      <a:noFill/>
                    </a:lnR>
                    <a:lnT>
                      <a:noFill/>
                    </a:lnT>
                    <a:lnB>
                      <a:noFill/>
                    </a:lnB>
                  </a:tcPr>
                </a:tc>
                <a:extLst>
                  <a:ext uri="{0D108BD9-81ED-4DB2-BD59-A6C34878D82A}">
                    <a16:rowId xmlns:a16="http://schemas.microsoft.com/office/drawing/2014/main" val="4052795573"/>
                  </a:ext>
                </a:extLst>
              </a:tr>
              <a:tr h="441440">
                <a:tc>
                  <a:txBody>
                    <a:bodyPr/>
                    <a:lstStyle/>
                    <a:p>
                      <a:r>
                        <a:rPr lang="en-US" sz="1800" b="1" dirty="0"/>
                        <a:t>Tea</a:t>
                      </a:r>
                      <a:endParaRPr lang="en-US" sz="1800" dirty="0"/>
                    </a:p>
                  </a:txBody>
                  <a:tcPr marL="63063" marR="63063" marT="31531" marB="31531" anchor="ctr">
                    <a:lnL>
                      <a:noFill/>
                    </a:lnL>
                    <a:lnR>
                      <a:noFill/>
                    </a:lnR>
                    <a:lnT>
                      <a:noFill/>
                    </a:lnT>
                    <a:lnB>
                      <a:noFill/>
                    </a:lnB>
                  </a:tcPr>
                </a:tc>
                <a:tc>
                  <a:txBody>
                    <a:bodyPr/>
                    <a:lstStyle/>
                    <a:p>
                      <a:r>
                        <a:rPr lang="en-US" sz="1800" i="1"/>
                        <a:t>Camellia sinensis</a:t>
                      </a:r>
                      <a:endParaRPr lang="en-US" sz="1800"/>
                    </a:p>
                  </a:txBody>
                  <a:tcPr marL="63063" marR="63063" marT="31531" marB="31531" anchor="ctr">
                    <a:lnL>
                      <a:noFill/>
                    </a:lnL>
                    <a:lnR>
                      <a:noFill/>
                    </a:lnR>
                    <a:lnT>
                      <a:noFill/>
                    </a:lnT>
                    <a:lnB>
                      <a:noFill/>
                    </a:lnB>
                  </a:tcPr>
                </a:tc>
                <a:tc>
                  <a:txBody>
                    <a:bodyPr/>
                    <a:lstStyle/>
                    <a:p>
                      <a:r>
                        <a:rPr lang="en-US" sz="1800"/>
                        <a:t>Beverage</a:t>
                      </a:r>
                    </a:p>
                  </a:txBody>
                  <a:tcPr marL="63063" marR="63063" marT="31531" marB="31531" anchor="ctr">
                    <a:lnL>
                      <a:noFill/>
                    </a:lnL>
                    <a:lnR>
                      <a:noFill/>
                    </a:lnR>
                    <a:lnT>
                      <a:noFill/>
                    </a:lnT>
                    <a:lnB>
                      <a:noFill/>
                    </a:lnB>
                  </a:tcPr>
                </a:tc>
                <a:tc>
                  <a:txBody>
                    <a:bodyPr/>
                    <a:lstStyle/>
                    <a:p>
                      <a:r>
                        <a:rPr lang="en-US" sz="1800"/>
                        <a:t>Fort Portal, Bushenyi</a:t>
                      </a:r>
                    </a:p>
                  </a:txBody>
                  <a:tcPr marL="63063" marR="63063" marT="31531" marB="31531" anchor="ctr">
                    <a:lnL>
                      <a:noFill/>
                    </a:lnL>
                    <a:lnR>
                      <a:noFill/>
                    </a:lnR>
                    <a:lnT>
                      <a:noFill/>
                    </a:lnT>
                    <a:lnB>
                      <a:noFill/>
                    </a:lnB>
                  </a:tcPr>
                </a:tc>
                <a:tc>
                  <a:txBody>
                    <a:bodyPr/>
                    <a:lstStyle/>
                    <a:p>
                      <a:r>
                        <a:rPr lang="en-US" sz="1800"/>
                        <a:t>Kept shrub-size by pruning</a:t>
                      </a:r>
                    </a:p>
                  </a:txBody>
                  <a:tcPr marL="63063" marR="63063" marT="31531" marB="31531" anchor="ctr">
                    <a:lnL>
                      <a:noFill/>
                    </a:lnL>
                    <a:lnR>
                      <a:noFill/>
                    </a:lnR>
                    <a:lnT>
                      <a:noFill/>
                    </a:lnT>
                    <a:lnB>
                      <a:noFill/>
                    </a:lnB>
                  </a:tcPr>
                </a:tc>
                <a:extLst>
                  <a:ext uri="{0D108BD9-81ED-4DB2-BD59-A6C34878D82A}">
                    <a16:rowId xmlns:a16="http://schemas.microsoft.com/office/drawing/2014/main" val="1292454779"/>
                  </a:ext>
                </a:extLst>
              </a:tr>
              <a:tr h="441440">
                <a:tc>
                  <a:txBody>
                    <a:bodyPr/>
                    <a:lstStyle/>
                    <a:p>
                      <a:r>
                        <a:rPr lang="en-US" sz="1800" b="1" dirty="0"/>
                        <a:t>Hibiscus</a:t>
                      </a:r>
                      <a:endParaRPr lang="en-US" sz="1800" dirty="0"/>
                    </a:p>
                  </a:txBody>
                  <a:tcPr marL="63063" marR="63063" marT="31531" marB="31531" anchor="ctr">
                    <a:lnL>
                      <a:noFill/>
                    </a:lnL>
                    <a:lnR>
                      <a:noFill/>
                    </a:lnR>
                    <a:lnT>
                      <a:noFill/>
                    </a:lnT>
                    <a:lnB>
                      <a:noFill/>
                    </a:lnB>
                  </a:tcPr>
                </a:tc>
                <a:tc>
                  <a:txBody>
                    <a:bodyPr/>
                    <a:lstStyle/>
                    <a:p>
                      <a:r>
                        <a:rPr lang="en-US" sz="1800" i="1" dirty="0"/>
                        <a:t>Hibiscus sabdariffa</a:t>
                      </a:r>
                      <a:endParaRPr lang="en-US" sz="1800" dirty="0"/>
                    </a:p>
                  </a:txBody>
                  <a:tcPr marL="63063" marR="63063" marT="31531" marB="31531" anchor="ctr">
                    <a:lnL>
                      <a:noFill/>
                    </a:lnL>
                    <a:lnR>
                      <a:noFill/>
                    </a:lnR>
                    <a:lnT>
                      <a:noFill/>
                    </a:lnT>
                    <a:lnB>
                      <a:noFill/>
                    </a:lnB>
                  </a:tcPr>
                </a:tc>
                <a:tc>
                  <a:txBody>
                    <a:bodyPr/>
                    <a:lstStyle/>
                    <a:p>
                      <a:r>
                        <a:rPr lang="en-US" sz="1800"/>
                        <a:t>Herbal tea, medicinal</a:t>
                      </a:r>
                    </a:p>
                  </a:txBody>
                  <a:tcPr marL="63063" marR="63063" marT="31531" marB="31531" anchor="ctr">
                    <a:lnL>
                      <a:noFill/>
                    </a:lnL>
                    <a:lnR>
                      <a:noFill/>
                    </a:lnR>
                    <a:lnT>
                      <a:noFill/>
                    </a:lnT>
                    <a:lnB>
                      <a:noFill/>
                    </a:lnB>
                  </a:tcPr>
                </a:tc>
                <a:tc>
                  <a:txBody>
                    <a:bodyPr/>
                    <a:lstStyle/>
                    <a:p>
                      <a:r>
                        <a:rPr lang="en-US" sz="1800"/>
                        <a:t>Scattered</a:t>
                      </a:r>
                    </a:p>
                  </a:txBody>
                  <a:tcPr marL="63063" marR="63063" marT="31531" marB="31531" anchor="ctr">
                    <a:lnL>
                      <a:noFill/>
                    </a:lnL>
                    <a:lnR>
                      <a:noFill/>
                    </a:lnR>
                    <a:lnT>
                      <a:noFill/>
                    </a:lnT>
                    <a:lnB>
                      <a:noFill/>
                    </a:lnB>
                  </a:tcPr>
                </a:tc>
                <a:tc>
                  <a:txBody>
                    <a:bodyPr/>
                    <a:lstStyle/>
                    <a:p>
                      <a:r>
                        <a:rPr lang="en-US" sz="1800"/>
                        <a:t>Red-stemmed shrub with edible calyces</a:t>
                      </a:r>
                    </a:p>
                  </a:txBody>
                  <a:tcPr marL="63063" marR="63063" marT="31531" marB="31531" anchor="ctr">
                    <a:lnL>
                      <a:noFill/>
                    </a:lnL>
                    <a:lnR>
                      <a:noFill/>
                    </a:lnR>
                    <a:lnT>
                      <a:noFill/>
                    </a:lnT>
                    <a:lnB>
                      <a:noFill/>
                    </a:lnB>
                  </a:tcPr>
                </a:tc>
                <a:extLst>
                  <a:ext uri="{0D108BD9-81ED-4DB2-BD59-A6C34878D82A}">
                    <a16:rowId xmlns:a16="http://schemas.microsoft.com/office/drawing/2014/main" val="1234316149"/>
                  </a:ext>
                </a:extLst>
              </a:tr>
              <a:tr h="630629">
                <a:tc>
                  <a:txBody>
                    <a:bodyPr/>
                    <a:lstStyle/>
                    <a:p>
                      <a:r>
                        <a:rPr lang="en-US" sz="1800" b="1"/>
                        <a:t>Pigeon pea</a:t>
                      </a:r>
                      <a:endParaRPr lang="en-US" sz="1800"/>
                    </a:p>
                  </a:txBody>
                  <a:tcPr marL="63063" marR="63063" marT="31531" marB="31531" anchor="ctr">
                    <a:lnL>
                      <a:noFill/>
                    </a:lnL>
                    <a:lnR>
                      <a:noFill/>
                    </a:lnR>
                    <a:lnT>
                      <a:noFill/>
                    </a:lnT>
                    <a:lnB>
                      <a:noFill/>
                    </a:lnB>
                  </a:tcPr>
                </a:tc>
                <a:tc>
                  <a:txBody>
                    <a:bodyPr/>
                    <a:lstStyle/>
                    <a:p>
                      <a:r>
                        <a:rPr lang="en-US" sz="1800" i="1" dirty="0" err="1"/>
                        <a:t>Cajanus</a:t>
                      </a:r>
                      <a:r>
                        <a:rPr lang="en-US" sz="1800" i="1" dirty="0"/>
                        <a:t> </a:t>
                      </a:r>
                      <a:r>
                        <a:rPr lang="en-US" sz="1800" i="1" dirty="0" err="1"/>
                        <a:t>cajan</a:t>
                      </a:r>
                      <a:endParaRPr lang="en-US" sz="1800" dirty="0"/>
                    </a:p>
                  </a:txBody>
                  <a:tcPr marL="63063" marR="63063" marT="31531" marB="31531" anchor="ctr">
                    <a:lnL>
                      <a:noFill/>
                    </a:lnL>
                    <a:lnR>
                      <a:noFill/>
                    </a:lnR>
                    <a:lnT>
                      <a:noFill/>
                    </a:lnT>
                    <a:lnB>
                      <a:noFill/>
                    </a:lnB>
                  </a:tcPr>
                </a:tc>
                <a:tc>
                  <a:txBody>
                    <a:bodyPr/>
                    <a:lstStyle/>
                    <a:p>
                      <a:r>
                        <a:rPr lang="en-US" sz="1800"/>
                        <a:t>Legume (protein source)</a:t>
                      </a:r>
                    </a:p>
                  </a:txBody>
                  <a:tcPr marL="63063" marR="63063" marT="31531" marB="31531" anchor="ctr">
                    <a:lnL>
                      <a:noFill/>
                    </a:lnL>
                    <a:lnR>
                      <a:noFill/>
                    </a:lnR>
                    <a:lnT>
                      <a:noFill/>
                    </a:lnT>
                    <a:lnB>
                      <a:noFill/>
                    </a:lnB>
                  </a:tcPr>
                </a:tc>
                <a:tc>
                  <a:txBody>
                    <a:bodyPr/>
                    <a:lstStyle/>
                    <a:p>
                      <a:r>
                        <a:rPr lang="en-US" sz="1800"/>
                        <a:t>Eastern, Northern Uganda</a:t>
                      </a:r>
                    </a:p>
                  </a:txBody>
                  <a:tcPr marL="63063" marR="63063" marT="31531" marB="31531" anchor="ctr">
                    <a:lnL>
                      <a:noFill/>
                    </a:lnL>
                    <a:lnR>
                      <a:noFill/>
                    </a:lnR>
                    <a:lnT>
                      <a:noFill/>
                    </a:lnT>
                    <a:lnB>
                      <a:noFill/>
                    </a:lnB>
                  </a:tcPr>
                </a:tc>
                <a:tc>
                  <a:txBody>
                    <a:bodyPr/>
                    <a:lstStyle/>
                    <a:p>
                      <a:r>
                        <a:rPr lang="en-US" sz="1800"/>
                        <a:t>Drought-resistant shrub, used in mixed farming</a:t>
                      </a:r>
                    </a:p>
                  </a:txBody>
                  <a:tcPr marL="63063" marR="63063" marT="31531" marB="31531" anchor="ctr">
                    <a:lnL>
                      <a:noFill/>
                    </a:lnL>
                    <a:lnR>
                      <a:noFill/>
                    </a:lnR>
                    <a:lnT>
                      <a:noFill/>
                    </a:lnT>
                    <a:lnB>
                      <a:noFill/>
                    </a:lnB>
                  </a:tcPr>
                </a:tc>
                <a:extLst>
                  <a:ext uri="{0D108BD9-81ED-4DB2-BD59-A6C34878D82A}">
                    <a16:rowId xmlns:a16="http://schemas.microsoft.com/office/drawing/2014/main" val="2044998762"/>
                  </a:ext>
                </a:extLst>
              </a:tr>
              <a:tr h="441440">
                <a:tc>
                  <a:txBody>
                    <a:bodyPr/>
                    <a:lstStyle/>
                    <a:p>
                      <a:r>
                        <a:rPr lang="en-US" sz="1800" b="1"/>
                        <a:t>Black nightshade (Nakatti)</a:t>
                      </a:r>
                      <a:endParaRPr lang="en-US" sz="1800"/>
                    </a:p>
                  </a:txBody>
                  <a:tcPr marL="63063" marR="63063" marT="31531" marB="31531" anchor="ctr">
                    <a:lnL>
                      <a:noFill/>
                    </a:lnL>
                    <a:lnR>
                      <a:noFill/>
                    </a:lnR>
                    <a:lnT>
                      <a:noFill/>
                    </a:lnT>
                    <a:lnB>
                      <a:noFill/>
                    </a:lnB>
                  </a:tcPr>
                </a:tc>
                <a:tc>
                  <a:txBody>
                    <a:bodyPr/>
                    <a:lstStyle/>
                    <a:p>
                      <a:r>
                        <a:rPr lang="en-US" sz="1800" i="1" dirty="0"/>
                        <a:t>Solanum nigrum</a:t>
                      </a:r>
                      <a:endParaRPr lang="en-US" sz="1800" dirty="0"/>
                    </a:p>
                  </a:txBody>
                  <a:tcPr marL="63063" marR="63063" marT="31531" marB="31531" anchor="ctr">
                    <a:lnL>
                      <a:noFill/>
                    </a:lnL>
                    <a:lnR>
                      <a:noFill/>
                    </a:lnR>
                    <a:lnT>
                      <a:noFill/>
                    </a:lnT>
                    <a:lnB>
                      <a:noFill/>
                    </a:lnB>
                  </a:tcPr>
                </a:tc>
                <a:tc>
                  <a:txBody>
                    <a:bodyPr/>
                    <a:lstStyle/>
                    <a:p>
                      <a:r>
                        <a:rPr lang="en-US" sz="1800" dirty="0"/>
                        <a:t>Leafy vegetable</a:t>
                      </a:r>
                    </a:p>
                  </a:txBody>
                  <a:tcPr marL="63063" marR="63063" marT="31531" marB="31531" anchor="ctr">
                    <a:lnL>
                      <a:noFill/>
                    </a:lnL>
                    <a:lnR>
                      <a:noFill/>
                    </a:lnR>
                    <a:lnT>
                      <a:noFill/>
                    </a:lnT>
                    <a:lnB>
                      <a:noFill/>
                    </a:lnB>
                  </a:tcPr>
                </a:tc>
                <a:tc>
                  <a:txBody>
                    <a:bodyPr/>
                    <a:lstStyle/>
                    <a:p>
                      <a:r>
                        <a:rPr lang="en-US" sz="1800"/>
                        <a:t>Central and East</a:t>
                      </a:r>
                    </a:p>
                  </a:txBody>
                  <a:tcPr marL="63063" marR="63063" marT="31531" marB="31531" anchor="ctr">
                    <a:lnL>
                      <a:noFill/>
                    </a:lnL>
                    <a:lnR>
                      <a:noFill/>
                    </a:lnR>
                    <a:lnT>
                      <a:noFill/>
                    </a:lnT>
                    <a:lnB>
                      <a:noFill/>
                    </a:lnB>
                  </a:tcPr>
                </a:tc>
                <a:tc>
                  <a:txBody>
                    <a:bodyPr/>
                    <a:lstStyle/>
                    <a:p>
                      <a:r>
                        <a:rPr lang="en-US" sz="1800"/>
                        <a:t>Becomes semi-woody as it matures</a:t>
                      </a:r>
                    </a:p>
                  </a:txBody>
                  <a:tcPr marL="63063" marR="63063" marT="31531" marB="31531" anchor="ctr">
                    <a:lnL>
                      <a:noFill/>
                    </a:lnL>
                    <a:lnR>
                      <a:noFill/>
                    </a:lnR>
                    <a:lnT>
                      <a:noFill/>
                    </a:lnT>
                    <a:lnB>
                      <a:noFill/>
                    </a:lnB>
                  </a:tcPr>
                </a:tc>
                <a:extLst>
                  <a:ext uri="{0D108BD9-81ED-4DB2-BD59-A6C34878D82A}">
                    <a16:rowId xmlns:a16="http://schemas.microsoft.com/office/drawing/2014/main" val="3106322641"/>
                  </a:ext>
                </a:extLst>
              </a:tr>
              <a:tr h="441440">
                <a:tc>
                  <a:txBody>
                    <a:bodyPr/>
                    <a:lstStyle/>
                    <a:p>
                      <a:r>
                        <a:rPr lang="en-US" sz="1800" b="1"/>
                        <a:t>Rosemary</a:t>
                      </a:r>
                      <a:endParaRPr lang="en-US" sz="1800"/>
                    </a:p>
                  </a:txBody>
                  <a:tcPr marL="63063" marR="63063" marT="31531" marB="31531" anchor="ctr">
                    <a:lnL>
                      <a:noFill/>
                    </a:lnL>
                    <a:lnR>
                      <a:noFill/>
                    </a:lnR>
                    <a:lnT>
                      <a:noFill/>
                    </a:lnT>
                    <a:lnB>
                      <a:noFill/>
                    </a:lnB>
                  </a:tcPr>
                </a:tc>
                <a:tc>
                  <a:txBody>
                    <a:bodyPr/>
                    <a:lstStyle/>
                    <a:p>
                      <a:r>
                        <a:rPr lang="en-US" sz="1800" i="1"/>
                        <a:t>Rosmarinus officinalis</a:t>
                      </a:r>
                      <a:endParaRPr lang="en-US" sz="1800"/>
                    </a:p>
                  </a:txBody>
                  <a:tcPr marL="63063" marR="63063" marT="31531" marB="31531" anchor="ctr">
                    <a:lnL>
                      <a:noFill/>
                    </a:lnL>
                    <a:lnR>
                      <a:noFill/>
                    </a:lnR>
                    <a:lnT>
                      <a:noFill/>
                    </a:lnT>
                    <a:lnB>
                      <a:noFill/>
                    </a:lnB>
                  </a:tcPr>
                </a:tc>
                <a:tc>
                  <a:txBody>
                    <a:bodyPr/>
                    <a:lstStyle/>
                    <a:p>
                      <a:r>
                        <a:rPr lang="en-US" sz="1800" dirty="0"/>
                        <a:t>Herb/spice</a:t>
                      </a:r>
                    </a:p>
                  </a:txBody>
                  <a:tcPr marL="63063" marR="63063" marT="31531" marB="31531" anchor="ctr">
                    <a:lnL>
                      <a:noFill/>
                    </a:lnL>
                    <a:lnR>
                      <a:noFill/>
                    </a:lnR>
                    <a:lnT>
                      <a:noFill/>
                    </a:lnT>
                    <a:lnB>
                      <a:noFill/>
                    </a:lnB>
                  </a:tcPr>
                </a:tc>
                <a:tc>
                  <a:txBody>
                    <a:bodyPr/>
                    <a:lstStyle/>
                    <a:p>
                      <a:r>
                        <a:rPr lang="en-US" sz="1800" dirty="0"/>
                        <a:t>Gardens, herbal farms</a:t>
                      </a:r>
                    </a:p>
                  </a:txBody>
                  <a:tcPr marL="63063" marR="63063" marT="31531" marB="31531" anchor="ctr">
                    <a:lnL>
                      <a:noFill/>
                    </a:lnL>
                    <a:lnR>
                      <a:noFill/>
                    </a:lnR>
                    <a:lnT>
                      <a:noFill/>
                    </a:lnT>
                    <a:lnB>
                      <a:noFill/>
                    </a:lnB>
                  </a:tcPr>
                </a:tc>
                <a:tc>
                  <a:txBody>
                    <a:bodyPr/>
                    <a:lstStyle/>
                    <a:p>
                      <a:r>
                        <a:rPr lang="en-US" sz="1800"/>
                        <a:t>Aromatic, woody shrub</a:t>
                      </a:r>
                    </a:p>
                  </a:txBody>
                  <a:tcPr marL="63063" marR="63063" marT="31531" marB="31531" anchor="ctr">
                    <a:lnL>
                      <a:noFill/>
                    </a:lnL>
                    <a:lnR>
                      <a:noFill/>
                    </a:lnR>
                    <a:lnT>
                      <a:noFill/>
                    </a:lnT>
                    <a:lnB>
                      <a:noFill/>
                    </a:lnB>
                  </a:tcPr>
                </a:tc>
                <a:extLst>
                  <a:ext uri="{0D108BD9-81ED-4DB2-BD59-A6C34878D82A}">
                    <a16:rowId xmlns:a16="http://schemas.microsoft.com/office/drawing/2014/main" val="2731126743"/>
                  </a:ext>
                </a:extLst>
              </a:tr>
              <a:tr h="441440">
                <a:tc>
                  <a:txBody>
                    <a:bodyPr/>
                    <a:lstStyle/>
                    <a:p>
                      <a:r>
                        <a:rPr lang="en-US" sz="1800" b="1"/>
                        <a:t>Roselle</a:t>
                      </a:r>
                      <a:endParaRPr lang="en-US" sz="1800"/>
                    </a:p>
                  </a:txBody>
                  <a:tcPr marL="63063" marR="63063" marT="31531" marB="31531" anchor="ctr">
                    <a:lnL>
                      <a:noFill/>
                    </a:lnL>
                    <a:lnR>
                      <a:noFill/>
                    </a:lnR>
                    <a:lnT>
                      <a:noFill/>
                    </a:lnT>
                    <a:lnB>
                      <a:noFill/>
                    </a:lnB>
                  </a:tcPr>
                </a:tc>
                <a:tc>
                  <a:txBody>
                    <a:bodyPr/>
                    <a:lstStyle/>
                    <a:p>
                      <a:r>
                        <a:rPr lang="en-US" sz="1800" i="1"/>
                        <a:t>Hibiscus sabdariffa</a:t>
                      </a:r>
                      <a:endParaRPr lang="en-US" sz="1800"/>
                    </a:p>
                  </a:txBody>
                  <a:tcPr marL="63063" marR="63063" marT="31531" marB="31531" anchor="ctr">
                    <a:lnL>
                      <a:noFill/>
                    </a:lnL>
                    <a:lnR>
                      <a:noFill/>
                    </a:lnR>
                    <a:lnT>
                      <a:noFill/>
                    </a:lnT>
                    <a:lnB>
                      <a:noFill/>
                    </a:lnB>
                  </a:tcPr>
                </a:tc>
                <a:tc>
                  <a:txBody>
                    <a:bodyPr/>
                    <a:lstStyle/>
                    <a:p>
                      <a:r>
                        <a:rPr lang="en-US" sz="1800"/>
                        <a:t>Herbal tea</a:t>
                      </a:r>
                    </a:p>
                  </a:txBody>
                  <a:tcPr marL="63063" marR="63063" marT="31531" marB="31531" anchor="ctr">
                    <a:lnL>
                      <a:noFill/>
                    </a:lnL>
                    <a:lnR>
                      <a:noFill/>
                    </a:lnR>
                    <a:lnT>
                      <a:noFill/>
                    </a:lnT>
                    <a:lnB>
                      <a:noFill/>
                    </a:lnB>
                  </a:tcPr>
                </a:tc>
                <a:tc>
                  <a:txBody>
                    <a:bodyPr/>
                    <a:lstStyle/>
                    <a:p>
                      <a:r>
                        <a:rPr lang="en-US" sz="1800" dirty="0"/>
                        <a:t>Similar to hibiscus</a:t>
                      </a:r>
                    </a:p>
                  </a:txBody>
                  <a:tcPr marL="63063" marR="63063" marT="31531" marB="31531" anchor="ctr">
                    <a:lnL>
                      <a:noFill/>
                    </a:lnL>
                    <a:lnR>
                      <a:noFill/>
                    </a:lnR>
                    <a:lnT>
                      <a:noFill/>
                    </a:lnT>
                    <a:lnB>
                      <a:noFill/>
                    </a:lnB>
                  </a:tcPr>
                </a:tc>
                <a:tc>
                  <a:txBody>
                    <a:bodyPr/>
                    <a:lstStyle/>
                    <a:p>
                      <a:r>
                        <a:rPr lang="en-US" sz="1800" dirty="0"/>
                        <a:t>Used in </a:t>
                      </a:r>
                      <a:r>
                        <a:rPr lang="en-US" sz="1800" dirty="0" err="1"/>
                        <a:t>Zobo</a:t>
                      </a:r>
                      <a:r>
                        <a:rPr lang="en-US" sz="1800" dirty="0"/>
                        <a:t> and local drinks</a:t>
                      </a:r>
                    </a:p>
                  </a:txBody>
                  <a:tcPr marL="63063" marR="63063" marT="31531" marB="31531" anchor="ctr">
                    <a:lnL>
                      <a:noFill/>
                    </a:lnL>
                    <a:lnR>
                      <a:noFill/>
                    </a:lnR>
                    <a:lnT>
                      <a:noFill/>
                    </a:lnT>
                    <a:lnB>
                      <a:noFill/>
                    </a:lnB>
                  </a:tcPr>
                </a:tc>
                <a:extLst>
                  <a:ext uri="{0D108BD9-81ED-4DB2-BD59-A6C34878D82A}">
                    <a16:rowId xmlns:a16="http://schemas.microsoft.com/office/drawing/2014/main" val="2512000154"/>
                  </a:ext>
                </a:extLst>
              </a:tr>
            </a:tbl>
          </a:graphicData>
        </a:graphic>
      </p:graphicFrame>
    </p:spTree>
    <p:extLst>
      <p:ext uri="{BB962C8B-B14F-4D97-AF65-F5344CB8AC3E}">
        <p14:creationId xmlns:p14="http://schemas.microsoft.com/office/powerpoint/2010/main" val="1875516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18322-8FFA-4656-8756-8AFA4E76CEC6}"/>
              </a:ext>
            </a:extLst>
          </p:cNvPr>
          <p:cNvSpPr>
            <a:spLocks noGrp="1"/>
          </p:cNvSpPr>
          <p:nvPr>
            <p:ph type="title"/>
          </p:nvPr>
        </p:nvSpPr>
        <p:spPr/>
        <p:txBody>
          <a:bodyPr/>
          <a:lstStyle/>
          <a:p>
            <a:r>
              <a:rPr lang="en-US" b="1" dirty="0"/>
              <a:t>B. Stem Functions</a:t>
            </a:r>
            <a:br>
              <a:rPr lang="en-US" b="1" dirty="0"/>
            </a:br>
            <a:endParaRPr lang="en-UG" dirty="0"/>
          </a:p>
        </p:txBody>
      </p:sp>
      <p:sp>
        <p:nvSpPr>
          <p:cNvPr id="3" name="Content Placeholder 2">
            <a:extLst>
              <a:ext uri="{FF2B5EF4-FFF2-40B4-BE49-F238E27FC236}">
                <a16:creationId xmlns:a16="http://schemas.microsoft.com/office/drawing/2014/main" id="{82F45E4E-5CBC-40C6-9620-944F99B6AFE9}"/>
              </a:ext>
            </a:extLst>
          </p:cNvPr>
          <p:cNvSpPr>
            <a:spLocks noGrp="1"/>
          </p:cNvSpPr>
          <p:nvPr>
            <p:ph idx="1"/>
          </p:nvPr>
        </p:nvSpPr>
        <p:spPr/>
        <p:txBody>
          <a:bodyPr/>
          <a:lstStyle/>
          <a:p>
            <a:r>
              <a:rPr lang="en-US" b="1" dirty="0"/>
              <a:t>Support</a:t>
            </a:r>
            <a:r>
              <a:rPr lang="en-US" dirty="0"/>
              <a:t> – Holds leaves, flowers, and fruits upright.</a:t>
            </a:r>
          </a:p>
          <a:p>
            <a:r>
              <a:rPr lang="en-US" b="1" dirty="0"/>
              <a:t>Transport</a:t>
            </a:r>
            <a:r>
              <a:rPr lang="en-US" dirty="0"/>
              <a:t> – Conducts water (via xylem) and food (via phloem).</a:t>
            </a:r>
          </a:p>
          <a:p>
            <a:r>
              <a:rPr lang="en-US" b="1" dirty="0"/>
              <a:t>Storage</a:t>
            </a:r>
            <a:r>
              <a:rPr lang="en-US" dirty="0"/>
              <a:t> – Stores nutrients or water.</a:t>
            </a:r>
          </a:p>
          <a:p>
            <a:pPr lvl="1"/>
            <a:r>
              <a:rPr lang="en-US" dirty="0"/>
              <a:t>Example: </a:t>
            </a:r>
            <a:r>
              <a:rPr lang="en-US" b="1" dirty="0"/>
              <a:t>Saccharum </a:t>
            </a:r>
            <a:r>
              <a:rPr lang="en-US" b="1" dirty="0" err="1"/>
              <a:t>officinarum</a:t>
            </a:r>
            <a:r>
              <a:rPr lang="en-US" b="1" dirty="0"/>
              <a:t> (Sugarcane)</a:t>
            </a:r>
            <a:r>
              <a:rPr lang="en-US" dirty="0"/>
              <a:t> stores sugar in the stem.</a:t>
            </a:r>
          </a:p>
          <a:p>
            <a:r>
              <a:rPr lang="en-US" b="1" dirty="0"/>
              <a:t>Photosynthesis</a:t>
            </a:r>
            <a:r>
              <a:rPr lang="en-US" dirty="0"/>
              <a:t> – In green stems.</a:t>
            </a:r>
          </a:p>
          <a:p>
            <a:pPr lvl="1"/>
            <a:r>
              <a:rPr lang="en-US" dirty="0"/>
              <a:t>Example: </a:t>
            </a:r>
            <a:r>
              <a:rPr lang="en-US" b="1" dirty="0"/>
              <a:t>Euphorbia spp.</a:t>
            </a:r>
            <a:r>
              <a:rPr lang="en-US" dirty="0"/>
              <a:t>, common in dry Ugandan areas.</a:t>
            </a:r>
          </a:p>
          <a:p>
            <a:endParaRPr lang="en-UG" dirty="0"/>
          </a:p>
        </p:txBody>
      </p:sp>
    </p:spTree>
    <p:extLst>
      <p:ext uri="{BB962C8B-B14F-4D97-AF65-F5344CB8AC3E}">
        <p14:creationId xmlns:p14="http://schemas.microsoft.com/office/powerpoint/2010/main" val="33814392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0B8B-2CC6-4FB9-956F-7E4D994D05B4}"/>
              </a:ext>
            </a:extLst>
          </p:cNvPr>
          <p:cNvSpPr>
            <a:spLocks noGrp="1"/>
          </p:cNvSpPr>
          <p:nvPr>
            <p:ph type="title"/>
          </p:nvPr>
        </p:nvSpPr>
        <p:spPr/>
        <p:txBody>
          <a:bodyPr/>
          <a:lstStyle/>
          <a:p>
            <a:r>
              <a:rPr lang="en-US" dirty="0"/>
              <a:t>C. Stem Modifications</a:t>
            </a:r>
            <a:endParaRPr lang="en-UG" dirty="0"/>
          </a:p>
        </p:txBody>
      </p:sp>
      <p:sp>
        <p:nvSpPr>
          <p:cNvPr id="4" name="Rectangle 1">
            <a:extLst>
              <a:ext uri="{FF2B5EF4-FFF2-40B4-BE49-F238E27FC236}">
                <a16:creationId xmlns:a16="http://schemas.microsoft.com/office/drawing/2014/main" id="{328E97B3-CF6F-48CC-A3A0-EDFBAC1644DD}"/>
              </a:ext>
            </a:extLst>
          </p:cNvPr>
          <p:cNvSpPr>
            <a:spLocks noGrp="1" noChangeArrowheads="1"/>
          </p:cNvSpPr>
          <p:nvPr>
            <p:ph idx="1"/>
          </p:nvPr>
        </p:nvSpPr>
        <p:spPr bwMode="auto">
          <a:xfrm>
            <a:off x="838200" y="2093079"/>
            <a:ext cx="11383244"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b="1" i="0" u="none" strike="noStrike" cap="none" normalizeH="0" baseline="0" dirty="0">
                <a:ln>
                  <a:noFill/>
                </a:ln>
                <a:solidFill>
                  <a:schemeClr val="tx1"/>
                </a:solidFill>
                <a:effectLst/>
                <a:latin typeface="Arial" panose="020B0604020202020204" pitchFamily="34" charset="0"/>
              </a:rPr>
              <a:t>Rhizomes</a:t>
            </a:r>
            <a:r>
              <a:rPr kumimoji="0" lang="en-UG" altLang="en-UG" b="0" i="0" u="none" strike="noStrike" cap="none" normalizeH="0" baseline="0" dirty="0">
                <a:ln>
                  <a:noFill/>
                </a:ln>
                <a:solidFill>
                  <a:schemeClr val="tx1"/>
                </a:solidFill>
                <a:effectLst/>
                <a:latin typeface="Arial" panose="020B0604020202020204" pitchFamily="34" charset="0"/>
              </a:rPr>
              <a:t> – Underground horizontal 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b="0" i="0" u="none" strike="noStrike" cap="none" normalizeH="0" baseline="0" dirty="0">
                <a:ln>
                  <a:noFill/>
                </a:ln>
                <a:solidFill>
                  <a:schemeClr val="tx1"/>
                </a:solidFill>
                <a:effectLst/>
                <a:latin typeface="Arial" panose="020B0604020202020204" pitchFamily="34" charset="0"/>
              </a:rPr>
              <a:t>Example: </a:t>
            </a:r>
            <a:r>
              <a:rPr kumimoji="0" lang="en-UG" altLang="en-UG" b="1" i="1" u="none" strike="noStrike" cap="none" normalizeH="0" baseline="0" dirty="0" err="1">
                <a:ln>
                  <a:noFill/>
                </a:ln>
                <a:solidFill>
                  <a:schemeClr val="tx1"/>
                </a:solidFill>
                <a:effectLst/>
                <a:latin typeface="Arial" panose="020B0604020202020204" pitchFamily="34" charset="0"/>
              </a:rPr>
              <a:t>Zingiber</a:t>
            </a:r>
            <a:r>
              <a:rPr kumimoji="0" lang="en-UG" altLang="en-UG" b="1" i="1" u="none" strike="noStrike" cap="none" normalizeH="0" baseline="0" dirty="0">
                <a:ln>
                  <a:noFill/>
                </a:ln>
                <a:solidFill>
                  <a:schemeClr val="tx1"/>
                </a:solidFill>
                <a:effectLst/>
                <a:latin typeface="Arial" panose="020B0604020202020204" pitchFamily="34" charset="0"/>
              </a:rPr>
              <a:t> </a:t>
            </a:r>
            <a:r>
              <a:rPr kumimoji="0" lang="en-UG" altLang="en-UG" b="1" i="1" u="none" strike="noStrike" cap="none" normalizeH="0" baseline="0" dirty="0" err="1">
                <a:ln>
                  <a:noFill/>
                </a:ln>
                <a:solidFill>
                  <a:schemeClr val="tx1"/>
                </a:solidFill>
                <a:effectLst/>
                <a:latin typeface="Arial" panose="020B0604020202020204" pitchFamily="34" charset="0"/>
              </a:rPr>
              <a:t>officinale</a:t>
            </a:r>
            <a:r>
              <a:rPr kumimoji="0" lang="en-UG" altLang="en-UG" b="1" i="1" u="none" strike="noStrike" cap="none" normalizeH="0" baseline="0" dirty="0">
                <a:ln>
                  <a:noFill/>
                </a:ln>
                <a:solidFill>
                  <a:schemeClr val="tx1"/>
                </a:solidFill>
                <a:effectLst/>
                <a:latin typeface="Arial" panose="020B0604020202020204" pitchFamily="34" charset="0"/>
              </a:rPr>
              <a:t> </a:t>
            </a:r>
            <a:r>
              <a:rPr kumimoji="0" lang="en-UG" altLang="en-UG" b="1" i="0" u="none" strike="noStrike" cap="none" normalizeH="0" baseline="0" dirty="0">
                <a:ln>
                  <a:noFill/>
                </a:ln>
                <a:solidFill>
                  <a:schemeClr val="tx1"/>
                </a:solidFill>
                <a:effectLst/>
                <a:latin typeface="Arial" panose="020B0604020202020204" pitchFamily="34" charset="0"/>
              </a:rPr>
              <a:t>(Ginger)</a:t>
            </a:r>
            <a:r>
              <a:rPr kumimoji="0" lang="en-UG" altLang="en-UG"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b="1" i="0" u="none" strike="noStrike" cap="none" normalizeH="0" baseline="0" dirty="0">
                <a:ln>
                  <a:noFill/>
                </a:ln>
                <a:solidFill>
                  <a:schemeClr val="tx1"/>
                </a:solidFill>
                <a:effectLst/>
                <a:latin typeface="Arial" panose="020B0604020202020204" pitchFamily="34" charset="0"/>
              </a:rPr>
              <a:t>Tubers</a:t>
            </a:r>
            <a:r>
              <a:rPr kumimoji="0" lang="en-UG" altLang="en-UG" b="0" i="0" u="none" strike="noStrike" cap="none" normalizeH="0" baseline="0" dirty="0">
                <a:ln>
                  <a:noFill/>
                </a:ln>
                <a:solidFill>
                  <a:schemeClr val="tx1"/>
                </a:solidFill>
                <a:effectLst/>
                <a:latin typeface="Arial" panose="020B0604020202020204" pitchFamily="34" charset="0"/>
              </a:rPr>
              <a:t> – Swollen underground stems storing food.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b="0" i="0" u="none" strike="noStrike" cap="none" normalizeH="0" baseline="0" dirty="0">
                <a:ln>
                  <a:noFill/>
                </a:ln>
                <a:solidFill>
                  <a:schemeClr val="tx1"/>
                </a:solidFill>
                <a:effectLst/>
                <a:latin typeface="Arial" panose="020B0604020202020204" pitchFamily="34" charset="0"/>
              </a:rPr>
              <a:t>Example: </a:t>
            </a:r>
            <a:r>
              <a:rPr kumimoji="0" lang="en-UG" altLang="en-UG" b="1" i="1" u="none" strike="noStrike" cap="none" normalizeH="0" baseline="0" dirty="0">
                <a:ln>
                  <a:noFill/>
                </a:ln>
                <a:solidFill>
                  <a:schemeClr val="tx1"/>
                </a:solidFill>
                <a:effectLst/>
                <a:latin typeface="Arial" panose="020B0604020202020204" pitchFamily="34" charset="0"/>
              </a:rPr>
              <a:t>Solanum tuberosum </a:t>
            </a:r>
            <a:r>
              <a:rPr kumimoji="0" lang="en-UG" altLang="en-UG" b="1" i="0" u="none" strike="noStrike" cap="none" normalizeH="0" baseline="0" dirty="0">
                <a:ln>
                  <a:noFill/>
                </a:ln>
                <a:solidFill>
                  <a:schemeClr val="tx1"/>
                </a:solidFill>
                <a:effectLst/>
                <a:latin typeface="Arial" panose="020B0604020202020204" pitchFamily="34" charset="0"/>
              </a:rPr>
              <a:t>(Irish potato)</a:t>
            </a:r>
            <a:r>
              <a:rPr kumimoji="0" lang="en-UG" altLang="en-UG"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b="1" i="0" u="none" strike="noStrike" cap="none" normalizeH="0" baseline="0" dirty="0">
                <a:ln>
                  <a:noFill/>
                </a:ln>
                <a:solidFill>
                  <a:schemeClr val="tx1"/>
                </a:solidFill>
                <a:effectLst/>
                <a:latin typeface="Arial" panose="020B0604020202020204" pitchFamily="34" charset="0"/>
              </a:rPr>
              <a:t>Stolons/Runners</a:t>
            </a:r>
            <a:r>
              <a:rPr kumimoji="0" lang="en-UG" altLang="en-UG" b="0" i="0" u="none" strike="noStrike" cap="none" normalizeH="0" baseline="0" dirty="0">
                <a:ln>
                  <a:noFill/>
                </a:ln>
                <a:solidFill>
                  <a:schemeClr val="tx1"/>
                </a:solidFill>
                <a:effectLst/>
                <a:latin typeface="Arial" panose="020B0604020202020204" pitchFamily="34" charset="0"/>
              </a:rPr>
              <a:t> – Horizontal stems above or just below the ground.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b="0" i="0" u="none" strike="noStrike" cap="none" normalizeH="0" baseline="0" dirty="0">
                <a:ln>
                  <a:noFill/>
                </a:ln>
                <a:solidFill>
                  <a:schemeClr val="tx1"/>
                </a:solidFill>
                <a:effectLst/>
                <a:latin typeface="Arial" panose="020B0604020202020204" pitchFamily="34" charset="0"/>
              </a:rPr>
              <a:t>Example: </a:t>
            </a:r>
            <a:r>
              <a:rPr kumimoji="0" lang="en-UG" altLang="en-UG" b="1" i="0" u="none" strike="noStrike" cap="none" normalizeH="0" baseline="0" dirty="0">
                <a:ln>
                  <a:noFill/>
                </a:ln>
                <a:solidFill>
                  <a:schemeClr val="tx1"/>
                </a:solidFill>
                <a:effectLst/>
                <a:latin typeface="Arial" panose="020B0604020202020204" pitchFamily="34" charset="0"/>
              </a:rPr>
              <a:t>Strawberry (Not native, but cultivated in Kabale)</a:t>
            </a:r>
            <a:r>
              <a:rPr kumimoji="0" lang="en-UG" altLang="en-UG"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b="1" i="0" u="none" strike="noStrike" cap="none" normalizeH="0" baseline="0" dirty="0">
                <a:ln>
                  <a:noFill/>
                </a:ln>
                <a:solidFill>
                  <a:schemeClr val="tx1"/>
                </a:solidFill>
                <a:effectLst/>
                <a:latin typeface="Arial" panose="020B0604020202020204" pitchFamily="34" charset="0"/>
              </a:rPr>
              <a:t>Thorns</a:t>
            </a:r>
            <a:r>
              <a:rPr kumimoji="0" lang="en-UG" altLang="en-UG" b="0" i="0" u="none" strike="noStrike" cap="none" normalizeH="0" baseline="0" dirty="0">
                <a:ln>
                  <a:noFill/>
                </a:ln>
                <a:solidFill>
                  <a:schemeClr val="tx1"/>
                </a:solidFill>
                <a:effectLst/>
                <a:latin typeface="Arial" panose="020B0604020202020204" pitchFamily="34" charset="0"/>
              </a:rPr>
              <a:t> – Modified stems for protection.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b="0" i="0" u="none" strike="noStrike" cap="none" normalizeH="0" baseline="0" dirty="0">
                <a:ln>
                  <a:noFill/>
                </a:ln>
                <a:solidFill>
                  <a:schemeClr val="tx1"/>
                </a:solidFill>
                <a:effectLst/>
                <a:latin typeface="Arial" panose="020B0604020202020204" pitchFamily="34" charset="0"/>
              </a:rPr>
              <a:t>Example: </a:t>
            </a:r>
            <a:r>
              <a:rPr kumimoji="0" lang="en-UG" altLang="en-UG" b="1" i="0" u="none" strike="noStrike" cap="none" normalizeH="0" baseline="0" dirty="0">
                <a:ln>
                  <a:noFill/>
                </a:ln>
                <a:solidFill>
                  <a:schemeClr val="tx1"/>
                </a:solidFill>
                <a:effectLst/>
                <a:latin typeface="Arial" panose="020B0604020202020204" pitchFamily="34" charset="0"/>
              </a:rPr>
              <a:t>Acacia spp.</a:t>
            </a:r>
            <a:r>
              <a:rPr kumimoji="0" lang="en-UG" altLang="en-UG" b="0" i="0" u="none" strike="noStrike" cap="none" normalizeH="0" baseline="0" dirty="0">
                <a:ln>
                  <a:noFill/>
                </a:ln>
                <a:solidFill>
                  <a:schemeClr val="tx1"/>
                </a:solidFill>
                <a:effectLst/>
                <a:latin typeface="Arial" panose="020B0604020202020204" pitchFamily="34" charset="0"/>
              </a:rPr>
              <a:t>, found in semi-arid areas like Karamoja.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G" altLang="en-UG"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38274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6E41-ACD2-40D6-A684-9650120E25F3}"/>
              </a:ext>
            </a:extLst>
          </p:cNvPr>
          <p:cNvSpPr>
            <a:spLocks noGrp="1"/>
          </p:cNvSpPr>
          <p:nvPr>
            <p:ph type="title"/>
          </p:nvPr>
        </p:nvSpPr>
        <p:spPr/>
        <p:txBody>
          <a:bodyPr/>
          <a:lstStyle/>
          <a:p>
            <a:r>
              <a:rPr lang="en-US" b="1" dirty="0"/>
              <a:t>3.2 Leaf Functions and Morphology</a:t>
            </a:r>
            <a:br>
              <a:rPr lang="en-US" b="1" dirty="0"/>
            </a:br>
            <a:endParaRPr lang="en-UG" dirty="0"/>
          </a:p>
        </p:txBody>
      </p:sp>
      <p:sp>
        <p:nvSpPr>
          <p:cNvPr id="3" name="Content Placeholder 2">
            <a:extLst>
              <a:ext uri="{FF2B5EF4-FFF2-40B4-BE49-F238E27FC236}">
                <a16:creationId xmlns:a16="http://schemas.microsoft.com/office/drawing/2014/main" id="{4C2C2160-24C6-4C15-AD29-E1A4D5121F83}"/>
              </a:ext>
            </a:extLst>
          </p:cNvPr>
          <p:cNvSpPr>
            <a:spLocks noGrp="1"/>
          </p:cNvSpPr>
          <p:nvPr>
            <p:ph idx="1"/>
          </p:nvPr>
        </p:nvSpPr>
        <p:spPr/>
        <p:txBody>
          <a:bodyPr/>
          <a:lstStyle/>
          <a:p>
            <a:r>
              <a:rPr lang="en-US" b="1" dirty="0"/>
              <a:t>A. Leaf Functions</a:t>
            </a:r>
          </a:p>
          <a:p>
            <a:r>
              <a:rPr lang="en-US" b="1" dirty="0"/>
              <a:t>Photosynthesis</a:t>
            </a:r>
            <a:r>
              <a:rPr lang="en-US" dirty="0"/>
              <a:t> – Main site for energy production.</a:t>
            </a:r>
          </a:p>
          <a:p>
            <a:r>
              <a:rPr lang="en-US" b="1" dirty="0"/>
              <a:t>Transpiration</a:t>
            </a:r>
            <a:r>
              <a:rPr lang="en-US" dirty="0"/>
              <a:t> – Loss of water vapor through stomata.</a:t>
            </a:r>
          </a:p>
          <a:p>
            <a:r>
              <a:rPr lang="en-US" b="1" dirty="0"/>
              <a:t>Gaseous exchange</a:t>
            </a:r>
            <a:r>
              <a:rPr lang="en-US" dirty="0"/>
              <a:t> – CO₂ in, O₂ out.</a:t>
            </a:r>
          </a:p>
          <a:p>
            <a:r>
              <a:rPr lang="en-US" b="1" dirty="0"/>
              <a:t>Storage</a:t>
            </a:r>
            <a:r>
              <a:rPr lang="en-US" dirty="0"/>
              <a:t> – Some leaves store water or nutrients.</a:t>
            </a:r>
          </a:p>
          <a:p>
            <a:pPr lvl="1"/>
            <a:r>
              <a:rPr lang="en-US" dirty="0"/>
              <a:t>Example: </a:t>
            </a:r>
            <a:r>
              <a:rPr lang="en-US" b="1" dirty="0"/>
              <a:t>Aloe </a:t>
            </a:r>
            <a:r>
              <a:rPr lang="en-US" b="1" dirty="0" err="1"/>
              <a:t>vera</a:t>
            </a:r>
            <a:r>
              <a:rPr lang="en-US" dirty="0"/>
              <a:t>, used traditionally in Uganda.</a:t>
            </a:r>
          </a:p>
          <a:p>
            <a:endParaRPr lang="en-UG" dirty="0"/>
          </a:p>
        </p:txBody>
      </p:sp>
    </p:spTree>
    <p:extLst>
      <p:ext uri="{BB962C8B-B14F-4D97-AF65-F5344CB8AC3E}">
        <p14:creationId xmlns:p14="http://schemas.microsoft.com/office/powerpoint/2010/main" val="42911884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6B393-3950-4165-8DAD-6B7794CFFD69}"/>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E9DC5C8F-D324-401D-8057-9C6D3A564B95}"/>
              </a:ext>
            </a:extLst>
          </p:cNvPr>
          <p:cNvSpPr>
            <a:spLocks noGrp="1"/>
          </p:cNvSpPr>
          <p:nvPr>
            <p:ph idx="1"/>
          </p:nvPr>
        </p:nvSpPr>
        <p:spPr/>
        <p:txBody>
          <a:bodyPr>
            <a:normAutofit fontScale="92500" lnSpcReduction="20000"/>
          </a:bodyPr>
          <a:lstStyle/>
          <a:p>
            <a:r>
              <a:rPr lang="en-US" b="1" dirty="0"/>
              <a:t>B. Leaf Morphology</a:t>
            </a:r>
          </a:p>
          <a:p>
            <a:r>
              <a:rPr lang="en-US" b="1" dirty="0"/>
              <a:t>Blade (Lamina)</a:t>
            </a:r>
            <a:r>
              <a:rPr lang="en-US" dirty="0"/>
              <a:t> – Broad, flat part.</a:t>
            </a:r>
          </a:p>
          <a:p>
            <a:r>
              <a:rPr lang="en-US" b="1" dirty="0"/>
              <a:t>Petiole</a:t>
            </a:r>
            <a:r>
              <a:rPr lang="en-US" dirty="0"/>
              <a:t> – Stalk attaching leaf to stem.</a:t>
            </a:r>
          </a:p>
          <a:p>
            <a:r>
              <a:rPr lang="en-US" b="1" dirty="0"/>
              <a:t>Stipules</a:t>
            </a:r>
            <a:r>
              <a:rPr lang="en-US" dirty="0"/>
              <a:t> – Leaf-like appendages at the base (not in all plants).</a:t>
            </a:r>
          </a:p>
          <a:p>
            <a:r>
              <a:rPr lang="en-US" b="1" dirty="0"/>
              <a:t>Venation</a:t>
            </a:r>
            <a:r>
              <a:rPr lang="en-US" dirty="0"/>
              <a:t>:</a:t>
            </a:r>
          </a:p>
          <a:p>
            <a:pPr lvl="1"/>
            <a:r>
              <a:rPr lang="en-US" b="1" dirty="0"/>
              <a:t>Parallel</a:t>
            </a:r>
            <a:r>
              <a:rPr lang="en-US" dirty="0"/>
              <a:t> – e.g., </a:t>
            </a:r>
            <a:r>
              <a:rPr lang="en-US" b="1" dirty="0" err="1"/>
              <a:t>Zea</a:t>
            </a:r>
            <a:r>
              <a:rPr lang="en-US" b="1" dirty="0"/>
              <a:t> mays (Maize)</a:t>
            </a:r>
            <a:r>
              <a:rPr lang="en-US" dirty="0"/>
              <a:t>.</a:t>
            </a:r>
          </a:p>
          <a:p>
            <a:pPr lvl="1"/>
            <a:r>
              <a:rPr lang="en-US" b="1" dirty="0"/>
              <a:t>Reticulate</a:t>
            </a:r>
            <a:r>
              <a:rPr lang="en-US" dirty="0"/>
              <a:t> – e.g., </a:t>
            </a:r>
            <a:r>
              <a:rPr lang="en-US" b="1" dirty="0"/>
              <a:t>Cassava</a:t>
            </a:r>
            <a:r>
              <a:rPr lang="en-US" dirty="0"/>
              <a:t>, </a:t>
            </a:r>
            <a:r>
              <a:rPr lang="en-US" b="1" dirty="0"/>
              <a:t>Beans</a:t>
            </a:r>
            <a:r>
              <a:rPr lang="en-US" dirty="0"/>
              <a:t>.</a:t>
            </a:r>
          </a:p>
          <a:p>
            <a:r>
              <a:rPr lang="en-US" b="1" dirty="0"/>
              <a:t>Leaf types</a:t>
            </a:r>
            <a:r>
              <a:rPr lang="en-US" dirty="0"/>
              <a:t>:</a:t>
            </a:r>
          </a:p>
          <a:p>
            <a:pPr lvl="1"/>
            <a:r>
              <a:rPr lang="en-US" b="1" dirty="0"/>
              <a:t>Simple leaves</a:t>
            </a:r>
            <a:r>
              <a:rPr lang="en-US" dirty="0"/>
              <a:t> – One blade (e.g., </a:t>
            </a:r>
            <a:r>
              <a:rPr lang="en-US" b="1" dirty="0"/>
              <a:t>Mango</a:t>
            </a:r>
            <a:r>
              <a:rPr lang="en-US" dirty="0"/>
              <a:t>).</a:t>
            </a:r>
          </a:p>
          <a:p>
            <a:pPr lvl="1"/>
            <a:r>
              <a:rPr lang="en-US" b="1" dirty="0"/>
              <a:t>Compound leaves</a:t>
            </a:r>
            <a:r>
              <a:rPr lang="en-US" dirty="0"/>
              <a:t> – Divided into leaflets (e.g., </a:t>
            </a:r>
            <a:r>
              <a:rPr lang="en-US" b="1" dirty="0"/>
              <a:t>Cassava</a:t>
            </a:r>
            <a:r>
              <a:rPr lang="en-US" dirty="0"/>
              <a:t>).</a:t>
            </a:r>
          </a:p>
          <a:p>
            <a:r>
              <a:rPr lang="en-US" b="1" dirty="0"/>
              <a:t>Leaf arrangement</a:t>
            </a:r>
            <a:r>
              <a:rPr lang="en-US" dirty="0"/>
              <a:t>:</a:t>
            </a:r>
          </a:p>
          <a:p>
            <a:pPr lvl="1"/>
            <a:r>
              <a:rPr lang="en-US" b="1" dirty="0"/>
              <a:t>Alternate</a:t>
            </a:r>
            <a:r>
              <a:rPr lang="en-US" dirty="0"/>
              <a:t>, </a:t>
            </a:r>
            <a:r>
              <a:rPr lang="en-US" b="1" dirty="0"/>
              <a:t>Opposite</a:t>
            </a:r>
            <a:r>
              <a:rPr lang="en-US" dirty="0"/>
              <a:t>, </a:t>
            </a:r>
            <a:r>
              <a:rPr lang="en-US" b="1" dirty="0"/>
              <a:t>Whorled</a:t>
            </a:r>
            <a:r>
              <a:rPr lang="en-US" dirty="0"/>
              <a:t> (related to phyllotaxy).</a:t>
            </a:r>
          </a:p>
          <a:p>
            <a:endParaRPr lang="en-UG" dirty="0"/>
          </a:p>
        </p:txBody>
      </p:sp>
    </p:spTree>
    <p:extLst>
      <p:ext uri="{BB962C8B-B14F-4D97-AF65-F5344CB8AC3E}">
        <p14:creationId xmlns:p14="http://schemas.microsoft.com/office/powerpoint/2010/main" val="12068734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12AAB-760B-47C4-8202-6A6C38D726B9}"/>
              </a:ext>
            </a:extLst>
          </p:cNvPr>
          <p:cNvSpPr>
            <a:spLocks noGrp="1"/>
          </p:cNvSpPr>
          <p:nvPr>
            <p:ph type="title"/>
          </p:nvPr>
        </p:nvSpPr>
        <p:spPr/>
        <p:txBody>
          <a:bodyPr>
            <a:normAutofit fontScale="90000"/>
          </a:bodyPr>
          <a:lstStyle/>
          <a:p>
            <a:r>
              <a:rPr lang="en-US" b="1" dirty="0"/>
              <a:t>3.3 Relationship Between Morphology and Environment</a:t>
            </a:r>
            <a:br>
              <a:rPr lang="en-US" b="1" dirty="0"/>
            </a:br>
            <a:endParaRPr lang="en-UG" dirty="0"/>
          </a:p>
        </p:txBody>
      </p:sp>
      <p:sp>
        <p:nvSpPr>
          <p:cNvPr id="3" name="Content Placeholder 2">
            <a:extLst>
              <a:ext uri="{FF2B5EF4-FFF2-40B4-BE49-F238E27FC236}">
                <a16:creationId xmlns:a16="http://schemas.microsoft.com/office/drawing/2014/main" id="{31A127EC-B643-4C1B-949C-F4990CD1B33A}"/>
              </a:ext>
            </a:extLst>
          </p:cNvPr>
          <p:cNvSpPr>
            <a:spLocks noGrp="1"/>
          </p:cNvSpPr>
          <p:nvPr>
            <p:ph idx="1"/>
          </p:nvPr>
        </p:nvSpPr>
        <p:spPr/>
        <p:txBody>
          <a:bodyPr>
            <a:normAutofit fontScale="92500"/>
          </a:bodyPr>
          <a:lstStyle/>
          <a:p>
            <a:r>
              <a:rPr lang="en-US" dirty="0"/>
              <a:t>Plants adapt their structures (morphology) to their </a:t>
            </a:r>
            <a:r>
              <a:rPr lang="en-US" b="1" dirty="0"/>
              <a:t>ecological conditions</a:t>
            </a:r>
            <a:r>
              <a:rPr lang="en-US" dirty="0"/>
              <a:t>:</a:t>
            </a:r>
          </a:p>
          <a:p>
            <a:r>
              <a:rPr lang="en-US" b="1" dirty="0"/>
              <a:t>Examples:</a:t>
            </a:r>
          </a:p>
          <a:p>
            <a:r>
              <a:rPr lang="en-US" b="1" dirty="0"/>
              <a:t>Drought-prone areas (e.g., Karamoja)</a:t>
            </a:r>
            <a:r>
              <a:rPr lang="en-US" dirty="0"/>
              <a:t>:</a:t>
            </a:r>
          </a:p>
          <a:p>
            <a:pPr lvl="1"/>
            <a:r>
              <a:rPr lang="en-US" dirty="0"/>
              <a:t>Plants like </a:t>
            </a:r>
            <a:r>
              <a:rPr lang="en-US" b="1" dirty="0"/>
              <a:t>Acacia</a:t>
            </a:r>
            <a:r>
              <a:rPr lang="en-US" dirty="0"/>
              <a:t> have small, thorny leaves to reduce water loss.</a:t>
            </a:r>
          </a:p>
          <a:p>
            <a:pPr lvl="1"/>
            <a:r>
              <a:rPr lang="en-US" b="1" dirty="0"/>
              <a:t>Cacti</a:t>
            </a:r>
            <a:r>
              <a:rPr lang="en-US" dirty="0"/>
              <a:t> (e.g., </a:t>
            </a:r>
            <a:r>
              <a:rPr lang="en-US" b="1" dirty="0"/>
              <a:t>Euphorbia spp.</a:t>
            </a:r>
            <a:r>
              <a:rPr lang="en-US" dirty="0"/>
              <a:t>) have succulent stems for water storage.</a:t>
            </a:r>
          </a:p>
          <a:p>
            <a:r>
              <a:rPr lang="en-US" b="1" dirty="0"/>
              <a:t>Wet/highland areas (e.g., Kabale)</a:t>
            </a:r>
            <a:r>
              <a:rPr lang="en-US" dirty="0"/>
              <a:t>:</a:t>
            </a:r>
          </a:p>
          <a:p>
            <a:pPr lvl="1"/>
            <a:r>
              <a:rPr lang="en-US" dirty="0"/>
              <a:t>Large broad leaves in </a:t>
            </a:r>
            <a:r>
              <a:rPr lang="en-US" b="1" dirty="0" err="1"/>
              <a:t>Colocasia</a:t>
            </a:r>
            <a:r>
              <a:rPr lang="en-US" b="1" dirty="0"/>
              <a:t> esculenta (Cocoyam)</a:t>
            </a:r>
            <a:r>
              <a:rPr lang="en-US" dirty="0"/>
              <a:t> to maximize photosynthesis.</a:t>
            </a:r>
          </a:p>
          <a:p>
            <a:r>
              <a:rPr lang="en-US" b="1" dirty="0"/>
              <a:t>Windy areas</a:t>
            </a:r>
            <a:r>
              <a:rPr lang="en-US" dirty="0"/>
              <a:t>:</a:t>
            </a:r>
          </a:p>
          <a:p>
            <a:pPr lvl="1"/>
            <a:r>
              <a:rPr lang="en-US" dirty="0"/>
              <a:t>Plants like </a:t>
            </a:r>
            <a:r>
              <a:rPr lang="en-US" b="1" dirty="0"/>
              <a:t>Sorghum</a:t>
            </a:r>
            <a:r>
              <a:rPr lang="en-US" dirty="0"/>
              <a:t> develop strong, fibrous stems for support.</a:t>
            </a:r>
          </a:p>
          <a:p>
            <a:endParaRPr lang="en-UG" dirty="0"/>
          </a:p>
        </p:txBody>
      </p:sp>
    </p:spTree>
    <p:extLst>
      <p:ext uri="{BB962C8B-B14F-4D97-AF65-F5344CB8AC3E}">
        <p14:creationId xmlns:p14="http://schemas.microsoft.com/office/powerpoint/2010/main" val="9073763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36B0A-694F-4160-9BAD-80C9104E739E}"/>
              </a:ext>
            </a:extLst>
          </p:cNvPr>
          <p:cNvSpPr>
            <a:spLocks noGrp="1"/>
          </p:cNvSpPr>
          <p:nvPr>
            <p:ph type="title"/>
          </p:nvPr>
        </p:nvSpPr>
        <p:spPr/>
        <p:txBody>
          <a:bodyPr/>
          <a:lstStyle/>
          <a:p>
            <a:r>
              <a:rPr lang="en-US" dirty="0"/>
              <a:t>3.4 The Concept of Phyllotaxy</a:t>
            </a:r>
            <a:endParaRPr lang="en-UG" dirty="0"/>
          </a:p>
        </p:txBody>
      </p:sp>
      <p:sp>
        <p:nvSpPr>
          <p:cNvPr id="3" name="Content Placeholder 2">
            <a:extLst>
              <a:ext uri="{FF2B5EF4-FFF2-40B4-BE49-F238E27FC236}">
                <a16:creationId xmlns:a16="http://schemas.microsoft.com/office/drawing/2014/main" id="{9E0A6956-43A7-4C03-B1AB-334A7B8D52E4}"/>
              </a:ext>
            </a:extLst>
          </p:cNvPr>
          <p:cNvSpPr>
            <a:spLocks noGrp="1"/>
          </p:cNvSpPr>
          <p:nvPr>
            <p:ph idx="1"/>
          </p:nvPr>
        </p:nvSpPr>
        <p:spPr/>
        <p:txBody>
          <a:bodyPr/>
          <a:lstStyle/>
          <a:p>
            <a:r>
              <a:rPr lang="en-US" b="1" dirty="0"/>
              <a:t>Phyllotaxy</a:t>
            </a:r>
            <a:r>
              <a:rPr lang="en-US" dirty="0"/>
              <a:t>: The arrangement of leaves on a stem or branch. It influences </a:t>
            </a:r>
            <a:r>
              <a:rPr lang="en-US" b="1" dirty="0"/>
              <a:t>light capture</a:t>
            </a:r>
            <a:r>
              <a:rPr lang="en-US" dirty="0"/>
              <a:t>, </a:t>
            </a:r>
            <a:r>
              <a:rPr lang="en-US" b="1" dirty="0"/>
              <a:t>air flow</a:t>
            </a:r>
            <a:r>
              <a:rPr lang="en-US" dirty="0"/>
              <a:t>, and </a:t>
            </a:r>
            <a:r>
              <a:rPr lang="en-US" b="1" dirty="0"/>
              <a:t>photosynthetic efficiency</a:t>
            </a:r>
            <a:r>
              <a:rPr lang="en-US" dirty="0"/>
              <a:t>.</a:t>
            </a:r>
          </a:p>
          <a:p>
            <a:r>
              <a:rPr lang="en-US" b="1" dirty="0"/>
              <a:t>Types of Phyllotaxy:</a:t>
            </a:r>
          </a:p>
          <a:p>
            <a:r>
              <a:rPr lang="en-US" b="1" dirty="0"/>
              <a:t>Alternate (spiral)</a:t>
            </a:r>
            <a:r>
              <a:rPr lang="en-US" dirty="0"/>
              <a:t> – One leaf per node, alternating sides.</a:t>
            </a:r>
          </a:p>
          <a:p>
            <a:pPr lvl="1"/>
            <a:r>
              <a:rPr lang="en-US" dirty="0"/>
              <a:t>Example: </a:t>
            </a:r>
            <a:r>
              <a:rPr lang="en-US" b="1" dirty="0"/>
              <a:t>Sunflower</a:t>
            </a:r>
            <a:r>
              <a:rPr lang="en-US" dirty="0"/>
              <a:t>, </a:t>
            </a:r>
            <a:r>
              <a:rPr lang="en-US" b="1" dirty="0"/>
              <a:t>Maize</a:t>
            </a:r>
            <a:r>
              <a:rPr lang="en-US" dirty="0"/>
              <a:t>.</a:t>
            </a:r>
          </a:p>
          <a:p>
            <a:r>
              <a:rPr lang="en-US" b="1" dirty="0"/>
              <a:t>Opposite</a:t>
            </a:r>
            <a:r>
              <a:rPr lang="en-US" dirty="0"/>
              <a:t> – Two leaves per node, opposite each other.</a:t>
            </a:r>
          </a:p>
          <a:p>
            <a:pPr lvl="1"/>
            <a:r>
              <a:rPr lang="en-US" dirty="0"/>
              <a:t>Example: </a:t>
            </a:r>
            <a:r>
              <a:rPr lang="en-US" b="1" dirty="0"/>
              <a:t>Guava (Psidium </a:t>
            </a:r>
            <a:r>
              <a:rPr lang="en-US" b="1" dirty="0" err="1"/>
              <a:t>guajava</a:t>
            </a:r>
            <a:r>
              <a:rPr lang="en-US" b="1" dirty="0"/>
              <a:t>)</a:t>
            </a:r>
            <a:r>
              <a:rPr lang="en-US" dirty="0"/>
              <a:t>.</a:t>
            </a:r>
          </a:p>
          <a:p>
            <a:r>
              <a:rPr lang="en-US" b="1" dirty="0"/>
              <a:t>Whorled</a:t>
            </a:r>
            <a:r>
              <a:rPr lang="en-US" dirty="0"/>
              <a:t> – More than two leaves per node.</a:t>
            </a:r>
          </a:p>
          <a:p>
            <a:pPr lvl="1"/>
            <a:r>
              <a:rPr lang="en-US" dirty="0"/>
              <a:t>Example: </a:t>
            </a:r>
            <a:r>
              <a:rPr lang="en-US" b="1" dirty="0"/>
              <a:t>Nerium (not native but cultivated)</a:t>
            </a:r>
            <a:r>
              <a:rPr lang="en-US" dirty="0"/>
              <a:t>.</a:t>
            </a:r>
          </a:p>
          <a:p>
            <a:endParaRPr lang="en-UG" dirty="0"/>
          </a:p>
        </p:txBody>
      </p:sp>
    </p:spTree>
    <p:extLst>
      <p:ext uri="{BB962C8B-B14F-4D97-AF65-F5344CB8AC3E}">
        <p14:creationId xmlns:p14="http://schemas.microsoft.com/office/powerpoint/2010/main" val="23941881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65909-253B-4676-A544-F4556801B13C}"/>
              </a:ext>
            </a:extLst>
          </p:cNvPr>
          <p:cNvSpPr>
            <a:spLocks noGrp="1"/>
          </p:cNvSpPr>
          <p:nvPr>
            <p:ph type="title"/>
          </p:nvPr>
        </p:nvSpPr>
        <p:spPr/>
        <p:txBody>
          <a:bodyPr/>
          <a:lstStyle/>
          <a:p>
            <a:endParaRPr lang="en-UG"/>
          </a:p>
        </p:txBody>
      </p:sp>
      <p:pic>
        <p:nvPicPr>
          <p:cNvPr id="4" name="Content Placeholder 3">
            <a:extLst>
              <a:ext uri="{FF2B5EF4-FFF2-40B4-BE49-F238E27FC236}">
                <a16:creationId xmlns:a16="http://schemas.microsoft.com/office/drawing/2014/main" id="{6925E1A8-1041-420D-9002-4A120E8667F6}"/>
              </a:ext>
            </a:extLst>
          </p:cNvPr>
          <p:cNvPicPr>
            <a:picLocks noGrp="1" noChangeAspect="1"/>
          </p:cNvPicPr>
          <p:nvPr>
            <p:ph idx="1"/>
          </p:nvPr>
        </p:nvPicPr>
        <p:blipFill>
          <a:blip r:embed="rId2"/>
          <a:stretch>
            <a:fillRect/>
          </a:stretch>
        </p:blipFill>
        <p:spPr>
          <a:xfrm>
            <a:off x="2228144" y="1825625"/>
            <a:ext cx="7735712" cy="4351338"/>
          </a:xfrm>
          <a:prstGeom prst="rect">
            <a:avLst/>
          </a:prstGeom>
        </p:spPr>
      </p:pic>
    </p:spTree>
    <p:extLst>
      <p:ext uri="{BB962C8B-B14F-4D97-AF65-F5344CB8AC3E}">
        <p14:creationId xmlns:p14="http://schemas.microsoft.com/office/powerpoint/2010/main" val="39516312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3AC4-E9EB-4227-BCB4-007F5985EB3B}"/>
              </a:ext>
            </a:extLst>
          </p:cNvPr>
          <p:cNvSpPr>
            <a:spLocks noGrp="1"/>
          </p:cNvSpPr>
          <p:nvPr>
            <p:ph type="title"/>
          </p:nvPr>
        </p:nvSpPr>
        <p:spPr/>
        <p:txBody>
          <a:bodyPr/>
          <a:lstStyle/>
          <a:p>
            <a:r>
              <a:rPr lang="en-US" b="1" dirty="0"/>
              <a:t>Significance of Phyllotaxy:</a:t>
            </a:r>
            <a:br>
              <a:rPr lang="en-US" b="1" dirty="0"/>
            </a:br>
            <a:endParaRPr lang="en-UG" dirty="0"/>
          </a:p>
        </p:txBody>
      </p:sp>
      <p:sp>
        <p:nvSpPr>
          <p:cNvPr id="3" name="Content Placeholder 2">
            <a:extLst>
              <a:ext uri="{FF2B5EF4-FFF2-40B4-BE49-F238E27FC236}">
                <a16:creationId xmlns:a16="http://schemas.microsoft.com/office/drawing/2014/main" id="{B8B39D9C-C136-4C8B-9A77-D44A82AC1AED}"/>
              </a:ext>
            </a:extLst>
          </p:cNvPr>
          <p:cNvSpPr>
            <a:spLocks noGrp="1"/>
          </p:cNvSpPr>
          <p:nvPr>
            <p:ph idx="1"/>
          </p:nvPr>
        </p:nvSpPr>
        <p:spPr/>
        <p:txBody>
          <a:bodyPr/>
          <a:lstStyle/>
          <a:p>
            <a:r>
              <a:rPr lang="en-US" dirty="0"/>
              <a:t>Maximizes </a:t>
            </a:r>
            <a:r>
              <a:rPr lang="en-US" b="1" dirty="0"/>
              <a:t>sunlight interception</a:t>
            </a:r>
            <a:r>
              <a:rPr lang="en-US" dirty="0"/>
              <a:t>.</a:t>
            </a:r>
          </a:p>
          <a:p>
            <a:r>
              <a:rPr lang="en-US" dirty="0"/>
              <a:t>Reduces </a:t>
            </a:r>
            <a:r>
              <a:rPr lang="en-US" b="1" dirty="0"/>
              <a:t>self-shading</a:t>
            </a:r>
            <a:r>
              <a:rPr lang="en-US" dirty="0"/>
              <a:t>.</a:t>
            </a:r>
          </a:p>
          <a:p>
            <a:r>
              <a:rPr lang="en-US" dirty="0"/>
              <a:t>Facilitates </a:t>
            </a:r>
            <a:r>
              <a:rPr lang="en-US" b="1" dirty="0"/>
              <a:t>photosynthesis</a:t>
            </a:r>
            <a:r>
              <a:rPr lang="en-US" dirty="0"/>
              <a:t> and </a:t>
            </a:r>
            <a:r>
              <a:rPr lang="en-US" b="1" dirty="0"/>
              <a:t>growth</a:t>
            </a:r>
            <a:r>
              <a:rPr lang="en-US" dirty="0"/>
              <a:t> in crowded environments.</a:t>
            </a:r>
          </a:p>
          <a:p>
            <a:endParaRPr lang="en-UG" dirty="0"/>
          </a:p>
        </p:txBody>
      </p:sp>
    </p:spTree>
    <p:extLst>
      <p:ext uri="{BB962C8B-B14F-4D97-AF65-F5344CB8AC3E}">
        <p14:creationId xmlns:p14="http://schemas.microsoft.com/office/powerpoint/2010/main" val="37277557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52EAC-6366-4A03-A589-E9541C2FBAF7}"/>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7BE5BD95-C3BB-4334-B5FD-C886F69A8C90}"/>
              </a:ext>
            </a:extLst>
          </p:cNvPr>
          <p:cNvSpPr>
            <a:spLocks noGrp="1"/>
          </p:cNvSpPr>
          <p:nvPr>
            <p:ph idx="1"/>
          </p:nvPr>
        </p:nvSpPr>
        <p:spPr/>
        <p:txBody>
          <a:bodyPr/>
          <a:lstStyle/>
          <a:p>
            <a:endParaRPr lang="en-UG" dirty="0"/>
          </a:p>
        </p:txBody>
      </p:sp>
    </p:spTree>
    <p:extLst>
      <p:ext uri="{BB962C8B-B14F-4D97-AF65-F5344CB8AC3E}">
        <p14:creationId xmlns:p14="http://schemas.microsoft.com/office/powerpoint/2010/main" val="17934835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1947</Words>
  <Application>Microsoft Office PowerPoint</Application>
  <PresentationFormat>Widescreen</PresentationFormat>
  <Paragraphs>286</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Calibri Light</vt:lpstr>
      <vt:lpstr>Office Theme</vt:lpstr>
      <vt:lpstr>Botany and Plant Physiology  Lecture two</vt:lpstr>
      <vt:lpstr>Vegetative morphology of flowering plants-roots</vt:lpstr>
      <vt:lpstr>PowerPoint Presentation</vt:lpstr>
      <vt:lpstr>2.1 THE ROOT STRUCTURE External structure of the root</vt:lpstr>
      <vt:lpstr>2.1 THE ROOT STRUCTURE</vt:lpstr>
      <vt:lpstr>PowerPoint Presentation</vt:lpstr>
      <vt:lpstr>Internal Structure (Anatomy of a Dicot Root) </vt:lpstr>
      <vt:lpstr>PowerPoint Presentation</vt:lpstr>
      <vt:lpstr>Internal structure of  Dicot root</vt:lpstr>
      <vt:lpstr>PowerPoint Presentation</vt:lpstr>
      <vt:lpstr>2.2 ROOT FUNCTIONS</vt:lpstr>
      <vt:lpstr>PowerPoint Presentation</vt:lpstr>
      <vt:lpstr>2.3 ROOT SYSTEM</vt:lpstr>
      <vt:lpstr>2. Fibrous Root System</vt:lpstr>
      <vt:lpstr>PowerPoint Presentation</vt:lpstr>
      <vt:lpstr>Summary Table</vt:lpstr>
      <vt:lpstr>3.0 Plant Morphology – Stem and Leaf</vt:lpstr>
      <vt:lpstr>3.1 Stem Types, Stem Functions, and Modifications</vt:lpstr>
      <vt:lpstr>Other examples of Herbaceous crops</vt:lpstr>
      <vt:lpstr>PowerPoint Presentation</vt:lpstr>
      <vt:lpstr>Woody plants/crops</vt:lpstr>
      <vt:lpstr>Why Is Banana Sometimes Classified Under Woody Plants?</vt:lpstr>
      <vt:lpstr>Botanical Structure </vt:lpstr>
      <vt:lpstr>Tree-like Appearance </vt:lpstr>
      <vt:lpstr>PowerPoint Presentation</vt:lpstr>
      <vt:lpstr>Summary </vt:lpstr>
      <vt:lpstr>PowerPoint Presentation</vt:lpstr>
      <vt:lpstr>Shrubs </vt:lpstr>
      <vt:lpstr>Examples of shrub crops</vt:lpstr>
      <vt:lpstr>B. Stem Functions </vt:lpstr>
      <vt:lpstr>C. Stem Modifications</vt:lpstr>
      <vt:lpstr>3.2 Leaf Functions and Morphology </vt:lpstr>
      <vt:lpstr>PowerPoint Presentation</vt:lpstr>
      <vt:lpstr>3.3 Relationship Between Morphology and Environment </vt:lpstr>
      <vt:lpstr>3.4 The Concept of Phyllotaxy</vt:lpstr>
      <vt:lpstr>PowerPoint Presentation</vt:lpstr>
      <vt:lpstr>Significance of Phyllotaxy: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Botany and Plant Physiology  Lecture two</dc:title>
  <dc:creator>KABALE UNIVERSITY</dc:creator>
  <cp:lastModifiedBy>KABALE UNIVERSITY</cp:lastModifiedBy>
  <cp:revision>19</cp:revision>
  <dcterms:created xsi:type="dcterms:W3CDTF">2025-09-08T04:15:43Z</dcterms:created>
  <dcterms:modified xsi:type="dcterms:W3CDTF">2025-09-08T06:13:46Z</dcterms:modified>
</cp:coreProperties>
</file>